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73A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C22299"/>
          </a:solidFill>
          <a:ln w="12700">
            <a:solidFill>
              <a:srgbClr val="C222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448495" y="137160"/>
            <a:ext cx="2377440" cy="347472"/>
          </a:xfrm>
          <a:prstGeom prst="rect">
            <a:avLst/>
          </a:prstGeom>
          <a:solidFill>
            <a:srgbClr val="C22299"/>
          </a:solidFill>
          <a:ln w="12700">
            <a:solidFill>
              <a:srgbClr val="C222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48495" y="1371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SCOPE 2026 Site Innovation Award</a:t>
            </a:r>
            <a:endParaRPr lang="en-US" sz="800" dirty="0"/>
          </a:p>
        </p:txBody>
      </p:sp>
      <p:pic>
        <p:nvPicPr>
          <p:cNvPr id="6" name="Image 0" descr="/home/user/workspace/brand/logo-primary-white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505" y="1097280"/>
            <a:ext cx="36576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331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Layer for Patient Recruitment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371600" y="2971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Twilio of clinical trials. One layer instead of one thousand campaigns.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actively recruiting clinical trial in the world, routed to the patients who can join them."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4069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71600" y="6035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Hugo Stephenson  ·  Elisa Cascade  ·  Melissa Easy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[SCOPE 2026]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Founders Have Sat on Every Side of This Market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DrugDev → IQVIA. Advarra. Science 37. ACRP Board Chair. Quintiles.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078992"/>
            <a:ext cx="3383280" cy="32004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16152"/>
            <a:ext cx="914400" cy="914400"/>
          </a:xfrm>
          <a:prstGeom prst="rect">
            <a:avLst/>
          </a:prstGeom>
          <a:solidFill>
            <a:srgbClr val="E6E0EE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2161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8640" y="2221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Hugo Stephenson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25237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816352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Former Executive Chairman of DrugDev (acquired by IQVIA). 20+ years across sponsor, site, and CRO. Ex-Quintiles/IQVIA.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60520" y="1078992"/>
            <a:ext cx="3383280" cy="32004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97680" y="1216152"/>
            <a:ext cx="914400" cy="914400"/>
          </a:xfrm>
          <a:prstGeom prst="rect">
            <a:avLst/>
          </a:prstGeom>
          <a:solidFill>
            <a:srgbClr val="E6E0EE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12161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251960" y="2221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Elisa Cascade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251960" y="25237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CGO / Head of Americas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51960" y="2816352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Chief Product Officer, Advarra. Past Chair, ACRP Board of Trustees. Senior roles at Science 37, IQVIA/DrugDev, Clario.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63840" y="1078992"/>
            <a:ext cx="3383280" cy="32004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01000" y="1216152"/>
            <a:ext cx="914400" cy="914400"/>
          </a:xfrm>
          <a:prstGeom prst="rect">
            <a:avLst/>
          </a:prstGeom>
          <a:solidFill>
            <a:srgbClr val="E6E0EE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0" y="12161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955280" y="2221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Easy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955280" y="25237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955280" y="2816352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leadership across platform, integrations, and scale delivery.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4165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organisations: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920240" y="441655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DrugDev  ·  IQVIA  ·  Advarra  ·  Science 37  ·  Clario  ·  ACRP  ·  Quintiles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§1]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Systemic, Not Process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of campaign spending. No improvement.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338328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463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80–86%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94360" y="2743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trials miss enrolment timelines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[Laaksonen 2022; Brøgger-Mikkelsen 2020]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33088" y="1143000"/>
            <a:ext cx="338328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70248" y="1463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4270248" y="2743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sites enrol zero patients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270248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[Applied Clinical Trials]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808976" y="1143000"/>
            <a:ext cx="338328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46136" y="1463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$600K–$8M/day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946136" y="2743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Phase III delay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46136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[Smith, DiMasi &amp; Getz 2024]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389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 of terminated trials are terminated due to low accrual. Only ~5% of eligible patients proactively search.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690872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[ClinicalTrials.gov meta-analyses; Applied Clinical Trials]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§3]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Hasn't Been Fixed: Four Postures, Four Gaps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own the patient-facing discovery surface. None are vendor-agnostic. None compound.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11277295" cy="41148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396209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Named players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they miss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Data consolidators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Tempus ($8B mcap) · TriNetX/Norstella · IQVIA ($15.4B rev) · Veeva · Medidata · Advarra ($5B)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No patient-facing discovery. No community trust layer.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Site networks / DCT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Velocity · CenExel · Care Access/Reify ($4.8B) · Javara · Paradigm ($281M) · Science 37 ($1B→$38M)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Operate trials, not cross-trial discovery. Not vendor-agnostic.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Recruitment agencies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Acurian (ICON) · WCG · AutoCruitment · Trialbee (acquired VHP Jan 2026) · CTM · Imperial CRS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Campaigns end when budget ends. No compounding. Losing share.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Patient matchers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Antidote ($52M) · Power ($30M) · Leal ($29M) · Clara (acquired)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No infrastructure economics. Struggle with standalone monetisation.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053328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sits at the layer that connects all four — not inside any of them.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§7]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Infrastructure: One Layer, Five Registries, Five Surfaces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actively recruiting trial, in — every patient, out.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6004" y="1115568"/>
            <a:ext cx="1965960" cy="32004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40384" y="1298448"/>
            <a:ext cx="457200" cy="457200"/>
          </a:xfrm>
          <a:prstGeom prst="ellipse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40384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7444" y="1865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5732" y="2258568"/>
            <a:ext cx="1746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global registries: ClinicalTrials.gov · EU CTR · ISRCTN UK · ANZ · Chinese registry. AI-processed into multilingual, multi-voice content + eligibility questions.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99436" y="1115568"/>
            <a:ext cx="1965960" cy="32004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53816" y="1298448"/>
            <a:ext cx="457200" cy="457200"/>
          </a:xfrm>
          <a:prstGeom prst="ellipse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53816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890876" y="1865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09164" y="2258568"/>
            <a:ext cx="1746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surfaces: TrialScreen.org · MedicalHeroes · Institutions · Research Friends (advocacy) · SubGroup.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112868" y="1115568"/>
            <a:ext cx="1965960" cy="32004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67248" y="1298448"/>
            <a:ext cx="457200" cy="457200"/>
          </a:xfrm>
          <a:prstGeom prst="ellipse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67248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04308" y="1865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222596" y="2258568"/>
            <a:ext cx="1746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business rules engine. Automated capture.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26300" y="1115568"/>
            <a:ext cx="1965960" cy="32004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80680" y="1298448"/>
            <a:ext cx="457200" cy="457200"/>
          </a:xfrm>
          <a:prstGeom prst="ellipse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068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517740" y="1865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536028" y="2258568"/>
            <a:ext cx="1746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Email · TS.app · CTMS integration · API.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739732" y="1115568"/>
            <a:ext cx="1965960" cy="32004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494112" y="1298448"/>
            <a:ext cx="457200" cy="457200"/>
          </a:xfrm>
          <a:prstGeom prst="ellipse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494112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831172" y="1865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Invoice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849460" y="2258568"/>
            <a:ext cx="1746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analytics and invoicing built into platform.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461108" y="2715768"/>
            <a:ext cx="329184" cy="0"/>
          </a:xfrm>
          <a:prstGeom prst="line">
            <a:avLst/>
          </a:prstGeom>
          <a:noFill/>
          <a:ln w="25400">
            <a:solidFill>
              <a:srgbClr val="C2229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61692" y="2551176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774540" y="2715768"/>
            <a:ext cx="329184" cy="0"/>
          </a:xfrm>
          <a:prstGeom prst="line">
            <a:avLst/>
          </a:prstGeom>
          <a:noFill/>
          <a:ln w="25400">
            <a:solidFill>
              <a:srgbClr val="C2229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75124" y="2551176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087972" y="2715768"/>
            <a:ext cx="329184" cy="0"/>
          </a:xfrm>
          <a:prstGeom prst="line">
            <a:avLst/>
          </a:prstGeom>
          <a:noFill/>
          <a:ln w="25400">
            <a:solidFill>
              <a:srgbClr val="C2229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88556" y="2551176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401404" y="2715768"/>
            <a:ext cx="329184" cy="0"/>
          </a:xfrm>
          <a:prstGeom prst="line">
            <a:avLst/>
          </a:prstGeom>
          <a:noFill/>
          <a:ln w="25400">
            <a:solidFill>
              <a:srgbClr val="C2229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501988" y="2551176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57200" y="4480560"/>
            <a:ext cx="11277295" cy="347472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7200" y="4480560"/>
            <a:ext cx="112772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upsell layers: pre-screening add-ons  ·  demand creation  ·  Custom TrialFinders  ·  Patient Community Management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§5]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That Compounds (Not a Campaign)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without a traditional sales force. Runs on SEO, LLM-search, and advocacy.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38048" y="1097280"/>
            <a:ext cx="10515600" cy="512064"/>
          </a:xfrm>
          <a:prstGeom prst="rect">
            <a:avLst/>
          </a:prstGeom>
          <a:solidFill>
            <a:srgbClr val="4A2466"/>
          </a:solidFill>
          <a:ln w="12700">
            <a:solidFill>
              <a:srgbClr val="4A24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0928" y="1097280"/>
            <a:ext cx="10149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80,000–100,000   monthly unique searches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752448" y="1682496"/>
            <a:ext cx="8686800" cy="512064"/>
          </a:xfrm>
          <a:prstGeom prst="rect">
            <a:avLst/>
          </a:prstGeom>
          <a:solidFill>
            <a:srgbClr val="612E84"/>
          </a:solidFill>
          <a:ln w="12700">
            <a:solidFill>
              <a:srgbClr val="612E8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35328" y="1682496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   monthly eligibility assessments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66848" y="2267712"/>
            <a:ext cx="6858000" cy="512064"/>
          </a:xfrm>
          <a:prstGeom prst="rect">
            <a:avLst/>
          </a:prstGeom>
          <a:solidFill>
            <a:srgbClr val="8B3BAF"/>
          </a:solidFill>
          <a:ln w="12700">
            <a:solidFill>
              <a:srgbClr val="8B3BA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49728" y="2267712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&gt;1,500   monthly qualified leads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581248" y="2852928"/>
            <a:ext cx="5029200" cy="512064"/>
          </a:xfrm>
          <a:prstGeom prst="rect">
            <a:avLst/>
          </a:prstGeom>
          <a:solidFill>
            <a:srgbClr val="C22299"/>
          </a:solidFill>
          <a:ln w="12700">
            <a:solidFill>
              <a:srgbClr val="C222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64128" y="285292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~20/day   paid leads delivered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95648" y="3438144"/>
            <a:ext cx="3200400" cy="51206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78528" y="3438144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&lt;24 hours   site engagement SLA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133088"/>
            <a:ext cx="11277295" cy="10515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206240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(addressing VC objection #1):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" y="4453128"/>
            <a:ext cx="1100297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 = completed eligibility + consent to contact.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lead = contracted delivery to sponsor/CRO/site. Conversion from paid lead to screen/randomisation by sponsor is reported in each study-level quarterly review [EG §2].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§2]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The Math Behind $138 Per Paid Lead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economics, not services. With the numbers.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078992"/>
            <a:ext cx="11277295" cy="65836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078992"/>
            <a:ext cx="8046720" cy="6583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paid leads/day × ~30 days = ~600 paid leads/month  →  ~$1M ARR / ~$83K MRR / ~600 leads = 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03920" y="107899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~$138 per paid lead (blended)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7295" cy="310896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743200"/>
                <a:gridCol w="304769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Today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End-2027 target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Series B threshold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Paid lead volume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~600/month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2,000–2,500/month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2,400+/month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Blended price per lead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2299"/>
                          </a:solidFill>
                        </a:rPr>
                        <a:t>~$138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~$138 (flat) + SaaS fees on top-10 sponsors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≥$150 blended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Implied gross margin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Targeting 70%+ at organic-dominant CAC; 42% lower bound if paid-media mix rises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70%+ (infrastructure)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≥70%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CAC per paid lead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880"/>
                          </a:solidFill>
                        </a:rPr>
                        <a:t>[EG §3 — to be disclosed at close]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Organic-dominant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CAC payback &lt;18 months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NRR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880"/>
                          </a:solidFill>
                        </a:rPr>
                        <a:t>[EG §4 — cohort read-out pre-close]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≥110%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≥110%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0350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$4M ARR at flat $138/lead: ~2,400 paid leads/month. Path = volume ×2.5 + SaaS platform fees on top-10 sponsors.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§2; Operator POV §3]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and Expand: From $50K Pilot to $500K Enterprise ACV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mechanical path from rescue-vendor to default-infrastructure.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78028" y="3218688"/>
            <a:ext cx="2468880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9468" y="33284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$25–50K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9468" y="3749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Rescue Pilot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9468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Single-trial recruitment rescue.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9468" y="4773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TTFP beat internal benchmark.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146908" y="44988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66948" y="2743200"/>
            <a:ext cx="2468880" cy="2487168"/>
          </a:xfrm>
          <a:prstGeom prst="rect">
            <a:avLst/>
          </a:prstGeom>
          <a:solidFill>
            <a:srgbClr val="F6F2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58388" y="28529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$75–200K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558388" y="32735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Study Portfolio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58388" y="36393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trials in one therapeutic area.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58388" y="4773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CTMS or API integration signed.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35828" y="44988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55868" y="2267712"/>
            <a:ext cx="2468880" cy="2962656"/>
          </a:xfrm>
          <a:prstGeom prst="rect">
            <a:avLst/>
          </a:prstGeom>
          <a:solidFill>
            <a:srgbClr val="EDE9F8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47308" y="2377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$200–400K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347308" y="2798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Preferred-vendor MSA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47308" y="316382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MSA, multi-TA, volume discount tier.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47308" y="4773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Medical Affairs sign-off + SOC 2 Type II.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724748" y="44988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044788" y="1792224"/>
            <a:ext cx="2468880" cy="3438144"/>
          </a:xfrm>
          <a:prstGeom prst="rect">
            <a:avLst/>
          </a:prstGeom>
          <a:solidFill>
            <a:srgbClr val="E6E0EE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36228" y="19019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$400–750K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136228" y="23225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Enterprise Platform Licence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136228" y="26883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subscription + consumption lead fees + Research Friends community layer.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136228" y="4773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2 successful trials + NRR ≥110%.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5532120"/>
            <a:ext cx="112772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revenue base: Stage 1–2. Series A funds the infrastructure, integrations, and compliance that gate Stage 3. Target: 3–5 top-20 pharma accounts in Stage 3 by end-2027.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§2, §11; Operator POV §10]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Moat: Research Friends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cannot be bought with a cheque.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5303520" cy="438912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188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Scleroderma @ Research Friends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5361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22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Scleroderma Australia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Co-branded condition community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virtual patient education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Two-way patient-researcher dialogue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Trial opportunities surfaced as needed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voice validated by advocacy partner (never synthetic)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977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lift vs. generic discovery: [EG §5 — Scleroderma cohort read-out targeted Q3 2026]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4480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quote: [EG §6]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1097280"/>
            <a:ext cx="5608015" cy="438912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1188720"/>
            <a:ext cx="5333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moat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63640" y="1664208"/>
            <a:ext cx="533369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Data platforms (Tempus/TriNetX) win on EHR scale — no community layer, cannot buy trust.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2377440"/>
            <a:ext cx="533369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Site networks operate trials, not cross-trial communities.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63640" y="3090672"/>
            <a:ext cx="533369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Recruitment agencies end when the campaign ends.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63640" y="3803904"/>
            <a:ext cx="533369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Community trust is years of relationship-by-relationship work. Un-buyable.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623560"/>
            <a:ext cx="11277295" cy="411480"/>
          </a:xfrm>
          <a:prstGeom prst="rect">
            <a:avLst/>
          </a:prstGeom>
          <a:solidFill>
            <a:srgbClr val="F6F2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562356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One community today is a proof point, not a moat. Moat is demonstrated by replication. See next slide.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§6]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Friends Pipeline: Named Partners, Dated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in motion. Three communities by end-2027.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560320"/>
                <a:gridCol w="237744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Community #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Indication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Partner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 launch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Scleroderma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Scleroderma Australia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Launched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880"/>
                          </a:solidFill>
                        </a:rPr>
                        <a:t>[EG §7 — named partner under MoU]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880"/>
                          </a:solidFill>
                        </a:rPr>
                        <a:t>[EG §7]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MoU signed / co-design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Q4 2026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880"/>
                          </a:solidFill>
                        </a:rPr>
                        <a:t>[EG §7]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880"/>
                          </a:solidFill>
                        </a:rPr>
                        <a:t>[EG §7]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Advocacy board engagement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H1 2027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880"/>
                          </a:solidFill>
                        </a:rPr>
                        <a:t>4 (stretch)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880"/>
                          </a:solidFill>
                        </a:rPr>
                        <a:t>[EG §7]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880"/>
                          </a:solidFill>
                        </a:rPr>
                        <a:t>[EG §7]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880"/>
                          </a:solidFill>
                        </a:rPr>
                        <a:t>Scoping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880"/>
                          </a:solidFill>
                        </a:rPr>
                        <a:t>H2 2027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005072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end-2027: 3–4 condition-specific communities with named advocacy partners. (Revised from earlier 5–10 target. Three high-engagement communities is the defensible threshold; 10 is a distraction at this round size.)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" y="4590288"/>
            <a:ext cx="11277295" cy="4572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590288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Per-community upfront build: $50–75K soft cost. Maintenance: ~$5K/month. Productisation roadmap funded in Use of Proceeds §platform.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§6, §11; Operator POV §5]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Tempus, TriNetX, or IQVIA?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one roadmap cycle away — and here is why that still doesn't close the gap.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1277295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097280"/>
            <a:ext cx="110029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upstream data-first consolidators. No patient-facing discovery. No community trust layer.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18 months, if they launch discovery — the gap they still cannot close in one roadmap cycle: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3637178" cy="12344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2139696"/>
            <a:ext cx="329184" cy="329184"/>
          </a:xfrm>
          <a:prstGeom prst="ellipse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2139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9264" y="2139696"/>
            <a:ext cx="30428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distribution.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" y="2505456"/>
            <a:ext cx="341772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Friends partnerships have exclusivity and preferred-access terms [EG §8]. Advocacy trust is a years-long asset. IQVIA has 15,000+ employees and $15B revenue and has not built one.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77258" y="2029968"/>
            <a:ext cx="3637178" cy="12344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86986" y="2139696"/>
            <a:ext cx="329184" cy="329184"/>
          </a:xfrm>
          <a:prstGeom prst="ellipse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6986" y="2139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89322" y="2139696"/>
            <a:ext cx="30428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ubiquity.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6986" y="2505456"/>
            <a:ext cx="341772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Vendor-agnostic integrations with every site CTMS, sponsor procurement path, and CRO bid defense. Scaled incumbents bundle discovery into their own platforms — buyers with multi-vendor site estates prefer the layer that routes across all of them.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97317" y="2029968"/>
            <a:ext cx="3637178" cy="12344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07045" y="2139696"/>
            <a:ext cx="329184" cy="329184"/>
          </a:xfrm>
          <a:prstGeom prst="ellipse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07045" y="2139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609381" y="2139696"/>
            <a:ext cx="30428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quality economics.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07045" y="2505456"/>
            <a:ext cx="341772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Advocacy-led channels demonstrate lift [EG §5]. A bundled discovery feature inside a large platform does not carry the same conversion economics.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3401568"/>
            <a:ext cx="11277295" cy="411480"/>
          </a:xfrm>
          <a:prstGeom prst="rect">
            <a:avLst/>
          </a:prstGeom>
          <a:solidFill>
            <a:srgbClr val="F6F2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401568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If none of these three holds, the moat compresses to a niche feature company. That is the bet this round underwrites.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§7, §12; VC POV §5]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Four Tailwinds, One Window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months before the larger players recognise the gap and move.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115568"/>
            <a:ext cx="5432908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80160"/>
            <a:ext cx="402336" cy="402336"/>
          </a:xfrm>
          <a:prstGeom prst="ellipse">
            <a:avLst/>
          </a:prstGeom>
          <a:solidFill>
            <a:srgbClr val="C22299"/>
          </a:solidFill>
          <a:ln w="12700">
            <a:solidFill>
              <a:srgbClr val="C222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78992" y="1280160"/>
            <a:ext cx="47196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drug discovery expands the pipeline.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1773936"/>
            <a:ext cx="51585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Insilico rentosertib positive Phase 2a (Nature Medicine, June 2025). Recursion, Isomorphic Labs active. Base case: +15–35% trial volume over 5 years.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64428" y="1115568"/>
            <a:ext cx="5432908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1588" y="1280160"/>
            <a:ext cx="402336" cy="402336"/>
          </a:xfrm>
          <a:prstGeom prst="ellipse">
            <a:avLst/>
          </a:prstGeom>
          <a:solidFill>
            <a:srgbClr val="C22299"/>
          </a:solidFill>
          <a:ln w="12700">
            <a:solidFill>
              <a:srgbClr val="C222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1588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86220" y="1280160"/>
            <a:ext cx="47196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are searching online.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01588" y="1773936"/>
            <a:ext cx="51585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discovery is accelerating the behaviour shift past the 5% historic self-identification rate.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355848"/>
            <a:ext cx="5432908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3520440"/>
            <a:ext cx="402336" cy="402336"/>
          </a:xfrm>
          <a:prstGeom prst="ellipse">
            <a:avLst/>
          </a:prstGeom>
          <a:solidFill>
            <a:srgbClr val="C22299"/>
          </a:solidFill>
          <a:ln w="12700">
            <a:solidFill>
              <a:srgbClr val="C222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3520440"/>
            <a:ext cx="47196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cost is compounding.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4014216"/>
            <a:ext cx="51585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$600K–$8M/day Phase III. Sponsors pay for velocity.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64428" y="3355848"/>
            <a:ext cx="5432908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1588" y="3520440"/>
            <a:ext cx="402336" cy="402336"/>
          </a:xfrm>
          <a:prstGeom prst="ellipse">
            <a:avLst/>
          </a:prstGeom>
          <a:solidFill>
            <a:srgbClr val="C22299"/>
          </a:solidFill>
          <a:ln w="12700">
            <a:solidFill>
              <a:srgbClr val="C222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1588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786220" y="3520440"/>
            <a:ext cx="47196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consolidation widens catchment pressure.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301588" y="4014216"/>
            <a:ext cx="51585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need discovery that spans sites, not sits inside them.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§8]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TAM, SAM, SOM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$12–14B today. $20–26B by 2030. Our corner of 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38048" y="1143000"/>
            <a:ext cx="10515600" cy="1005840"/>
          </a:xfrm>
          <a:prstGeom prst="rect">
            <a:avLst/>
          </a:prstGeom>
          <a:solidFill>
            <a:srgbClr val="4A2466"/>
          </a:solidFill>
          <a:ln w="12700">
            <a:solidFill>
              <a:srgbClr val="4A24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0928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26768" y="1188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$12–14B today  ·  $20–26B by 2030 at 8–9% CAGR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09648" y="2258568"/>
            <a:ext cx="7772400" cy="100584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92528" y="23042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398368" y="230428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$3.5–5B today  ·  $6–9B by 2030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581248" y="3374136"/>
            <a:ext cx="5029200" cy="1005840"/>
          </a:xfrm>
          <a:prstGeom prst="rect">
            <a:avLst/>
          </a:prstGeom>
          <a:solidFill>
            <a:srgbClr val="C22299"/>
          </a:solidFill>
          <a:ln w="12700">
            <a:solidFill>
              <a:srgbClr val="C222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64128" y="34198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769968" y="341985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$25–45M ARR · Aggressive: $60–100M ARR (2030)  ·  80–250 sponsor/CRO relationships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672584"/>
            <a:ext cx="11277295" cy="822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47183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Adjacencies: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920240" y="4718304"/>
            <a:ext cx="97228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market $8.6B → $19.4–29.7B (2030–32)  ·  Orphan drug market $217B → $687B (2035) at ~12.2% CAGR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" y="5111496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anchor on SOM, not TAM.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§4; GVR]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Plan: Series B Readiness Milestones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Specific. Bottoms-up. Not "scale."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11277295" cy="493776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515081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Today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End-2027 target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Paid lead volume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~600/month (20/day)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2,000–2,500/month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ARR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2299"/>
                          </a:solidFill>
                        </a:rPr>
                        <a:t>~$1M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2299"/>
                          </a:solidFill>
                        </a:rPr>
                        <a:t>$4–6M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Sponsor/CRO relationships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Revenue-generating across sponsors, CROs, sites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30–50, incl. 3–5 top-20 pharma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Research Friends communities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1 (Scleroderma)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3–4 named advocacy partners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NRR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6880"/>
                          </a:solidFill>
                        </a:rPr>
                        <a:t>[EG §4]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≥110%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CAC payback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6880"/>
                          </a:solidFill>
                        </a:rPr>
                        <a:t>[EG §9]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&lt;18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Compliance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In progress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SOC 2 Type I done; Type II in progress; HIPAA; GDPR; EU AI Act programme active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Recognition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SCOPE Site Innovation 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Analyst coverage + speaker slots at ACRP, DPHARM, SCRS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Case studies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Scleroderma pilot + SCOPE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3 quantified sponsor case studies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Series B posture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8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$15–30M Series B at $60–120M post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0350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volume revised to ~2,000–2,500 paid/month to match paid-lead denominator used in Slide 7. Bottoms-up hiring and sponsor plan in board PDF §7 and §8.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§11; Operator POV §3, §4]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Proceeds: $5M Over 18 Months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allocation. Named hires. Honest about reserves.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11277295" cy="41148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752825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Allocation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US commercial build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35–40%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$1.75–2M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Head of Sponsor Partnerships ($200K + $150K variable) · Head of CRO Partnerships · 3–4 AEs · US Medical Affairs ($250K)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Platform &amp; integrations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20–25%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~$1.1M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API, CTMS integrations, lead delivery, invoicing, analytics, business rules engine scale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Data intelligence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15–20%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~$0.9M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Pre-screening add-ons, premium sponsor modules, Custom TrialFinders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Community &amp; advocacy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10–12%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~$0.55M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Research Friends: 3–4 communities by end-2027 · Head of Community Programs ($150K)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Regulatory &amp; compliance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5–8%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~$0.35M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SOC 2 Type I→II, HIPAA, GDPR, ISO 27001 prep, EU AI Act readiness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Reserves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5–10%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~$0.35M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Contingency for hiring slippage or opportunistic partnerships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solidFill>
            <a:srgbClr val="F6F2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475488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is tight for this scope. Trigger points for pulling back spend if Q4 2026 lead volume lags plan are documented in the board pack. Convertible bridge available if growth outperforms and a Series B push is warranted.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§10; Operator POV §4]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Math: Base and Aggressive Ranges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lead. At $20M post-money.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219456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645920"/>
                <a:gridCol w="2286000"/>
                <a:gridCol w="368777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2030 ARR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Multiple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Exit range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Base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$25–45M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4–6×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$100–270M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C22299"/>
                          </a:solidFill>
                        </a:rPr>
                        <a:t>5–13×</a:t>
                      </a:r>
                      <a:endParaRPr lang="en-US" sz="2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Aggressive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$60–100M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6–8×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$360–800M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C22299"/>
                          </a:solidFill>
                        </a:rPr>
                        <a:t>18–40×</a:t>
                      </a:r>
                      <a:endParaRPr lang="en-US" sz="2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474720"/>
            <a:ext cx="11277295" cy="50292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47472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acquirer range: $80–250M base; non-linear premium for community/advocacy moat.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41148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conservative anchor. Investors underwrite the base case; aggressive is optionality.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§14, §17; Nelson Jan 2026]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Round: Terms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on $15M pre-money. $20M post. Close 30 May 2026.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115568"/>
            <a:ext cx="11277295" cy="62179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1521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17520" y="1152144"/>
            <a:ext cx="8579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Series A at $15M pre-money / $20M post-money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847088"/>
            <a:ext cx="11277295" cy="62179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8836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Over-allotment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017520" y="1883664"/>
            <a:ext cx="8579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$7M at $17.5M pre-money (deployed on demand)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578608"/>
            <a:ext cx="11277295" cy="62179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6151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Convertible bridge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017520" y="2615184"/>
            <a:ext cx="8579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now, 20% discount to Series A price, 8% interest, same economic terms on conversion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310128"/>
            <a:ext cx="11277295" cy="62179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34670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target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17520" y="3346704"/>
            <a:ext cx="8579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May 2026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133088"/>
            <a:ext cx="11277295" cy="6400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133088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multiple: ~15× current ~$1M ARR; 3–5× forward 2027 ARR at plan. Inside Nelson Advisors 6–8× band for AI-enabled healthtech with data moat.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4882896"/>
            <a:ext cx="11277295" cy="438912"/>
          </a:xfrm>
          <a:prstGeom prst="rect">
            <a:avLst/>
          </a:prstGeom>
          <a:solidFill>
            <a:srgbClr val="F6F2FF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4882896"/>
            <a:ext cx="110029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 multiple, not the trailing one, is the right denominator. See board PDF §Valuation Defence for the full bridge.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§9, §17; Nelson Jan 2026]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73A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C22299"/>
          </a:solidFill>
          <a:ln w="12700">
            <a:solidFill>
              <a:srgbClr val="C222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448495" y="137160"/>
            <a:ext cx="2377440" cy="347472"/>
          </a:xfrm>
          <a:prstGeom prst="rect">
            <a:avLst/>
          </a:prstGeom>
          <a:solidFill>
            <a:srgbClr val="C22299"/>
          </a:solidFill>
          <a:ln w="12700">
            <a:solidFill>
              <a:srgbClr val="C222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48495" y="1371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SCOPE 2026 Site Innovation Award</a:t>
            </a:r>
            <a:endParaRPr lang="en-US" sz="800" dirty="0"/>
          </a:p>
        </p:txBody>
      </p:sp>
      <p:pic>
        <p:nvPicPr>
          <p:cNvPr id="6" name="Image 0" descr="/home/user/workspace/brand/logo-primary-white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505" y="914400"/>
            <a:ext cx="36576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920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Infrastructure Together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Twilio of patient recruitment. One layer. Every trial. Every patient.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34290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raising $5M to build the default layer between every trial and every patient. Join us."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4069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Stephenson  ·  [insert contact email before sending]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71600" y="6035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Hugo Stephenson  ·  Elisa Cascade  ·  Melissa Easy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§1]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 — Risk Register (Honest)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watching. What we would do.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11277295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643097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$5M is tight for 18-month scope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Med × 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Convertible bridge; acquirer conversations in parallel with Series B prep (month 9–12); trigger points for spend pullback if Q4 2026 lead volume lags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Tempus/TriNetX/IQVIA respond at discovery layer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Med × 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Accelerate Research Friends moat; protect 24-hour SLA; strategic conversations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Lead volume growth stalls before Series 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Med × 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Concentrate commercial spend; SEO + GEO/LLM-search discipline; 3–5 marquee sponsor wins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Team scale gap (US commercial, Medical Affairs, RA)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High without hires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Search firms engaged pre-close; three named hires in first 6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EU AI Act high-risk classification (Aug 2027)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High probability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Readiness programme funded in this round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Sponsor concentration at current scale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Diversify mix; contract duration discipline; NRR tracking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§12; Operator POV §4, §8]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 — Comparable Rounds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TrialScreen sits in the set.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11277295" cy="438912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1828800"/>
                <a:gridCol w="1828800"/>
                <a:gridCol w="469361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Round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Post-money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Positioning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Power (WithPower)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$12M Series 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Undisclosed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Patient matching marketplace, AI-enhanced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Leal Health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~$20M Series 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Undisclosed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Oncology AI matching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Paradigm Health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$203M Series 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Not public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Clinical research network (network-effect comp)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Paradigm Health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$78M Series 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Not public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Continuation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Clara Health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Pre-acq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$10.6M total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Acquired by Mahmee 2022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Trial navigation + DCT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Trialbee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Pre-acq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$37.6M total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Acquired by VHP Jan 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EU recruitment platform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Reify Health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$220M Series 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$4.8B post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Site network platformisation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73A96"/>
                          </a:solidFill>
                        </a:rPr>
                        <a:t>TrialScreen (this round)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2299"/>
                          </a:solidFill>
                        </a:rPr>
                        <a:t>$5M on $15M pre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$20M post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Infrastructure layer; capital-efficient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02920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included as a positioning comp for infrastructure/network economics — not as a valuation crutch. Our forward multiple (3–5× on end-2027 ARR) is the defensible anchor.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§15; VC POV §6]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 — Registry Detail and Technical Moat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registries, one common layer, multilingual.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115568"/>
            <a:ext cx="5455768" cy="10972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188720"/>
            <a:ext cx="518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registries (5)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481328"/>
            <a:ext cx="51814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 (US)  ·  EU CTR  ·  ISRCTN (UK)  ·  ANZCTR (Australia/NZ)  ·  ChiCTR (China)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78728" y="1115568"/>
            <a:ext cx="5455768" cy="10972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5888" y="1188720"/>
            <a:ext cx="518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15888" y="1481328"/>
            <a:ext cx="51814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normalisation into multilingual, multi-voice patient-facing content + structured eligibility questions.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377440"/>
            <a:ext cx="5455768" cy="10972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450592"/>
            <a:ext cx="518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surfaces (5)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2743200"/>
            <a:ext cx="51814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TrialScreen.org  ·  MedicalHeroes  ·  Institutions  ·  Research Friends  ·  SubGroup.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78728" y="2377440"/>
            <a:ext cx="5455768" cy="10972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5888" y="2450592"/>
            <a:ext cx="518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channels (4)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15888" y="2743200"/>
            <a:ext cx="51814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email  ·  TS.app  ·  CTMS integration  ·  API.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639312"/>
            <a:ext cx="5455768" cy="10972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712464"/>
            <a:ext cx="518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4005072"/>
            <a:ext cx="51814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 in progress → Type II plan · HIPAA · GDPR · ISO 27001 prep · EU AI Act readiness programme.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78728" y="3639312"/>
            <a:ext cx="5455768" cy="10972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15888" y="3712464"/>
            <a:ext cx="518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15888" y="4005072"/>
            <a:ext cx="51814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on patient-facing content; external regulatory counsel; per-sponsor tenancy with external audit and red-team testing.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§5, §10, §12]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73A96"/>
          </a:solidFill>
          <a:ln w="12700">
            <a:solidFill>
              <a:srgbClr val="773A96"/>
            </a:solidFill>
            <a:prstDash val="solid"/>
          </a:ln>
        </p:spPr>
      </p:sp>
      <p:pic>
        <p:nvPicPr>
          <p:cNvPr id="3" name="Image 0" descr="/home/user/workspace/brand/logo-icon-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" y="73152"/>
            <a:ext cx="100062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 — Plausible Acquirers (3–5 Year Horizon)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28655" y="548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optionality alongside Series B path.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11277295" cy="448056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1371600"/>
                <a:gridCol w="304769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Acquirer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3A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73A96"/>
                          </a:solidFill>
                        </a:rPr>
                        <a:t>Tempus AI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Patient-side community on top of Deep 6 EHR scale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22299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$80–250M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73A96"/>
                          </a:solidFill>
                        </a:rPr>
                        <a:t>TriNetX/Norstella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Patient-voice front door for federated EHR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22299"/>
                          </a:solidFill>
                        </a:rPr>
                        <a:t>Med-High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$70–200M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73A96"/>
                          </a:solidFill>
                        </a:rPr>
                        <a:t>IQVIA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Modernise recruitment services with community-native infra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22299"/>
                          </a:solidFill>
                        </a:rPr>
                        <a:t>Med-High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$60–180M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73A96"/>
                          </a:solidFill>
                        </a:rPr>
                        <a:t>Reify/Care Access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Patient-facing front door for site-network ops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8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$60–180M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73A96"/>
                          </a:solidFill>
                        </a:rPr>
                        <a:t>Paradigm Health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Community-native tuck-in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8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$50–150M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73A96"/>
                          </a:solidFill>
                        </a:rPr>
                        <a:t>Advarra (Blackstone)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Extend from IRB/workflow into recruitment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8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$50–130M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73A96"/>
                          </a:solidFill>
                        </a:rPr>
                        <a:t>Parexel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CRO modernisation, pair with Palantir AI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8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$50–150M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73A96"/>
                          </a:solidFill>
                        </a:rPr>
                        <a:t>VHP/Trialbee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US expansion on top of EU strength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8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$40–100M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66928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Acquirer conversations run in parallel with Series B prep from month 9. Optionality, not dependency.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· Series A · May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92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 §13]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TrialScreen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TrialScreen — Series A</dc:title>
  <dc:subject>PptxGenJS Presentation</dc:subject>
  <dc:creator>Perplexity Computer</dc:creator>
  <cp:lastModifiedBy>Perplexity Computer</cp:lastModifiedBy>
  <cp:revision>1</cp:revision>
  <dcterms:created xsi:type="dcterms:W3CDTF">2026-04-23T21:02:01Z</dcterms:created>
  <dcterms:modified xsi:type="dcterms:W3CDTF">2026-04-23T21:02:01Z</dcterms:modified>
</cp:coreProperties>
</file>