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241"/>
        </a:solidFill>
      </p:bgPr>
    </p:bg>
    <p:spTree>
      <p:nvGrpSpPr>
        <p:cNvPr id="1" name=""/>
        <p:cNvGrpSpPr/>
        <p:nvPr/>
      </p:nvGrpSpPr>
      <p:grpSpPr>
        <a:xfrm>
          <a:off x="0" y="0"/>
          <a:ext cx="0" cy="0"/>
          <a:chOff x="0" y="0"/>
          <a:chExt cx="0" cy="0"/>
        </a:xfrm>
      </p:grpSpPr>
      <p:sp>
        <p:nvSpPr>
          <p:cNvPr id="2" name="Text 0"/>
          <p:cNvSpPr/>
          <p:nvPr/>
        </p:nvSpPr>
        <p:spPr>
          <a:xfrm>
            <a:off x="640080" y="548640"/>
            <a:ext cx="6400800" cy="731520"/>
          </a:xfrm>
          <a:prstGeom prst="rect">
            <a:avLst/>
          </a:prstGeom>
          <a:noFill/>
          <a:ln/>
        </p:spPr>
        <p:txBody>
          <a:bodyPr wrap="square" rtlCol="0" anchor="ctr"/>
          <a:lstStyle/>
          <a:p>
            <a:pPr algn="l" indent="0" marL="0">
              <a:buNone/>
            </a:pPr>
            <a:r>
              <a:rPr lang="en-US" sz="3200" b="1" spc="-100" kern="0" dirty="0">
                <a:solidFill>
                  <a:srgbClr val="FFFFFF"/>
                </a:solidFill>
                <a:latin typeface="Trebuchet MS" pitchFamily="34" charset="0"/>
                <a:ea typeface="Trebuchet MS" pitchFamily="34" charset="-122"/>
                <a:cs typeface="Trebuchet MS" pitchFamily="34" charset="-120"/>
              </a:rPr>
              <a:t>TrialScreen</a:t>
            </a:r>
            <a:endParaRPr lang="en-US" sz="3200" dirty="0"/>
          </a:p>
        </p:txBody>
      </p:sp>
      <p:sp>
        <p:nvSpPr>
          <p:cNvPr id="3" name="Text 1"/>
          <p:cNvSpPr/>
          <p:nvPr/>
        </p:nvSpPr>
        <p:spPr>
          <a:xfrm>
            <a:off x="7436815" y="640080"/>
            <a:ext cx="4297680" cy="365760"/>
          </a:xfrm>
          <a:prstGeom prst="rect">
            <a:avLst/>
          </a:prstGeom>
          <a:noFill/>
          <a:ln/>
        </p:spPr>
        <p:txBody>
          <a:bodyPr wrap="square" rtlCol="0" anchor="ctr"/>
          <a:lstStyle/>
          <a:p>
            <a:pPr algn="r" indent="0" marL="0">
              <a:buNone/>
            </a:pPr>
            <a:r>
              <a:rPr lang="en-US" sz="1000" dirty="0">
                <a:solidFill>
                  <a:srgbClr val="B9B5C8"/>
                </a:solidFill>
                <a:latin typeface="Calibri" pitchFamily="34" charset="0"/>
                <a:ea typeface="Calibri" pitchFamily="34" charset="-122"/>
                <a:cs typeface="Calibri" pitchFamily="34" charset="-120"/>
              </a:rPr>
              <a:t>SCOPE 2026  ·  Site Innovation Award</a:t>
            </a:r>
            <a:endParaRPr lang="en-US" sz="1000" dirty="0"/>
          </a:p>
        </p:txBody>
      </p:sp>
      <p:sp>
        <p:nvSpPr>
          <p:cNvPr id="4" name="Text 2"/>
          <p:cNvSpPr/>
          <p:nvPr/>
        </p:nvSpPr>
        <p:spPr>
          <a:xfrm>
            <a:off x="914400" y="2377440"/>
            <a:ext cx="10360152" cy="2194560"/>
          </a:xfrm>
          <a:prstGeom prst="rect">
            <a:avLst/>
          </a:prstGeom>
          <a:noFill/>
          <a:ln/>
        </p:spPr>
        <p:txBody>
          <a:bodyPr wrap="square" rtlCol="0" anchor="ctr"/>
          <a:lstStyle/>
          <a:p>
            <a:pPr algn="ctr" indent="0" marL="0">
              <a:lnSpc>
                <a:spcPct val="105000"/>
              </a:lnSpc>
              <a:buNone/>
            </a:pPr>
            <a:r>
              <a:rPr lang="en-US" sz="6000" b="1" spc="-200" kern="0" dirty="0">
                <a:solidFill>
                  <a:srgbClr val="FFFFFF"/>
                </a:solidFill>
                <a:latin typeface="Trebuchet MS" pitchFamily="34" charset="0"/>
                <a:ea typeface="Trebuchet MS" pitchFamily="34" charset="-122"/>
                <a:cs typeface="Trebuchet MS" pitchFamily="34" charset="-120"/>
              </a:rPr>
              <a:t>The infrastructure layer for</a:t>
            </a:r>
            <a:endParaRPr lang="en-US" sz="6000" dirty="0"/>
          </a:p>
          <a:p>
            <a:pPr algn="ctr" indent="0" marL="0">
              <a:lnSpc>
                <a:spcPct val="105000"/>
              </a:lnSpc>
              <a:buNone/>
            </a:pPr>
            <a:r>
              <a:rPr lang="en-US" sz="6000" b="1" spc="-200" kern="0" dirty="0">
                <a:solidFill>
                  <a:srgbClr val="FFFFFF"/>
                </a:solidFill>
                <a:latin typeface="Trebuchet MS" pitchFamily="34" charset="0"/>
                <a:ea typeface="Trebuchet MS" pitchFamily="34" charset="-122"/>
                <a:cs typeface="Trebuchet MS" pitchFamily="34" charset="-120"/>
              </a:rPr>
              <a:t>patient recruitment.</a:t>
            </a:r>
            <a:endParaRPr lang="en-US" sz="6000" dirty="0"/>
          </a:p>
        </p:txBody>
      </p:sp>
      <p:sp>
        <p:nvSpPr>
          <p:cNvPr id="5" name="Text 3"/>
          <p:cNvSpPr/>
          <p:nvPr/>
        </p:nvSpPr>
        <p:spPr>
          <a:xfrm>
            <a:off x="914400" y="4663440"/>
            <a:ext cx="10360152" cy="457200"/>
          </a:xfrm>
          <a:prstGeom prst="rect">
            <a:avLst/>
          </a:prstGeom>
          <a:noFill/>
          <a:ln/>
        </p:spPr>
        <p:txBody>
          <a:bodyPr wrap="square" rtlCol="0" anchor="ctr"/>
          <a:lstStyle/>
          <a:p>
            <a:pPr algn="ctr" indent="0" marL="0">
              <a:buNone/>
            </a:pPr>
            <a:r>
              <a:rPr lang="en-US" sz="1500" i="1" dirty="0">
                <a:solidFill>
                  <a:srgbClr val="D5C4E2"/>
                </a:solidFill>
                <a:latin typeface="Calibri" pitchFamily="34" charset="0"/>
                <a:ea typeface="Calibri" pitchFamily="34" charset="-122"/>
                <a:cs typeface="Calibri" pitchFamily="34" charset="-120"/>
              </a:rPr>
              <a:t>Every actively recruiting clinical trial, routed to the patients who can join it.</a:t>
            </a:r>
            <a:endParaRPr lang="en-US" sz="1500" dirty="0"/>
          </a:p>
        </p:txBody>
      </p:sp>
      <p:sp>
        <p:nvSpPr>
          <p:cNvPr id="6" name="Text 4"/>
          <p:cNvSpPr/>
          <p:nvPr/>
        </p:nvSpPr>
        <p:spPr>
          <a:xfrm>
            <a:off x="640080" y="5989320"/>
            <a:ext cx="3200400" cy="274320"/>
          </a:xfrm>
          <a:prstGeom prst="rect">
            <a:avLst/>
          </a:prstGeom>
          <a:noFill/>
          <a:ln/>
        </p:spPr>
        <p:txBody>
          <a:bodyPr wrap="square" rtlCol="0" anchor="ctr"/>
          <a:lstStyle/>
          <a:p>
            <a:pPr algn="l" indent="0" marL="0">
              <a:buNone/>
            </a:pPr>
            <a:r>
              <a:rPr lang="en-US" sz="1100" dirty="0">
                <a:solidFill>
                  <a:srgbClr val="9A95B0"/>
                </a:solidFill>
                <a:latin typeface="Calibri" pitchFamily="34" charset="0"/>
                <a:ea typeface="Calibri" pitchFamily="34" charset="-122"/>
                <a:cs typeface="Calibri" pitchFamily="34" charset="-120"/>
              </a:rPr>
              <a:t>May 2026</a:t>
            </a:r>
            <a:endParaRPr lang="en-US" sz="1100" dirty="0"/>
          </a:p>
        </p:txBody>
      </p:sp>
      <p:sp>
        <p:nvSpPr>
          <p:cNvPr id="7" name="Text 5"/>
          <p:cNvSpPr/>
          <p:nvPr/>
        </p:nvSpPr>
        <p:spPr>
          <a:xfrm>
            <a:off x="5608015" y="5989320"/>
            <a:ext cx="5943600" cy="274320"/>
          </a:xfrm>
          <a:prstGeom prst="rect">
            <a:avLst/>
          </a:prstGeom>
          <a:noFill/>
          <a:ln/>
        </p:spPr>
        <p:txBody>
          <a:bodyPr wrap="square" rtlCol="0" anchor="ctr"/>
          <a:lstStyle/>
          <a:p>
            <a:pPr algn="r" indent="0" marL="0">
              <a:buNone/>
            </a:pPr>
            <a:r>
              <a:rPr lang="en-US" sz="1100" dirty="0">
                <a:solidFill>
                  <a:srgbClr val="9A95B0"/>
                </a:solidFill>
                <a:latin typeface="Calibri" pitchFamily="34" charset="0"/>
                <a:ea typeface="Calibri" pitchFamily="34" charset="-122"/>
                <a:cs typeface="Calibri" pitchFamily="34" charset="-120"/>
              </a:rPr>
              <a:t>Dr Hugo Stephenson  ·  Elisa Cascade  ·  Melissa Easy</a:t>
            </a:r>
            <a:endParaRPr lang="en-US" sz="1100" dirty="0"/>
          </a:p>
        </p:txBody>
      </p:sp>
      <p:sp>
        <p:nvSpPr>
          <p:cNvPr id="8" name="Text 6"/>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666680"/>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9" name="Text 7"/>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666680"/>
                </a:solidFill>
                <a:latin typeface="Calibri" pitchFamily="34" charset="0"/>
                <a:ea typeface="Calibri" pitchFamily="34" charset="-122"/>
                <a:cs typeface="Calibri" pitchFamily="34" charset="-120"/>
              </a:rPr>
              <a:t>1 / 25</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45720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THE TEAM</a:t>
            </a:r>
            <a:endParaRPr lang="en-US" sz="1000" dirty="0"/>
          </a:p>
        </p:txBody>
      </p:sp>
      <p:sp>
        <p:nvSpPr>
          <p:cNvPr id="3" name="Text 1"/>
          <p:cNvSpPr/>
          <p:nvPr/>
        </p:nvSpPr>
        <p:spPr>
          <a:xfrm>
            <a:off x="640080" y="960120"/>
            <a:ext cx="4846320" cy="1554480"/>
          </a:xfrm>
          <a:prstGeom prst="rect">
            <a:avLst/>
          </a:prstGeom>
          <a:noFill/>
          <a:ln/>
        </p:spPr>
        <p:txBody>
          <a:bodyPr wrap="square" rtlCol="0" anchor="t"/>
          <a:lstStyle/>
          <a:p>
            <a:pPr algn="l" indent="0" marL="0">
              <a:lnSpc>
                <a:spcPct val="110000"/>
              </a:lnSpc>
              <a:buNone/>
            </a:pPr>
            <a:r>
              <a:rPr lang="en-US" sz="2600" b="1" spc="-50" kern="0" dirty="0">
                <a:solidFill>
                  <a:srgbClr val="2F3241"/>
                </a:solidFill>
                <a:latin typeface="Trebuchet MS" pitchFamily="34" charset="0"/>
                <a:ea typeface="Trebuchet MS" pitchFamily="34" charset="-122"/>
                <a:cs typeface="Trebuchet MS" pitchFamily="34" charset="-120"/>
              </a:rPr>
              <a:t>The founders have sat</a:t>
            </a:r>
            <a:endParaRPr lang="en-US" sz="2600" dirty="0"/>
          </a:p>
          <a:p>
            <a:pPr algn="l" indent="0" marL="0">
              <a:lnSpc>
                <a:spcPct val="110000"/>
              </a:lnSpc>
              <a:buNone/>
            </a:pPr>
            <a:r>
              <a:rPr lang="en-US" sz="2600" b="1" spc="-50" kern="0" dirty="0">
                <a:solidFill>
                  <a:srgbClr val="2F3241"/>
                </a:solidFill>
                <a:latin typeface="Trebuchet MS" pitchFamily="34" charset="0"/>
                <a:ea typeface="Trebuchet MS" pitchFamily="34" charset="-122"/>
                <a:cs typeface="Trebuchet MS" pitchFamily="34" charset="-120"/>
              </a:rPr>
              <a:t>on every side of this market.</a:t>
            </a:r>
            <a:endParaRPr lang="en-US" sz="2600" dirty="0"/>
          </a:p>
        </p:txBody>
      </p:sp>
      <p:sp>
        <p:nvSpPr>
          <p:cNvPr id="4" name="Text 2"/>
          <p:cNvSpPr/>
          <p:nvPr/>
        </p:nvSpPr>
        <p:spPr>
          <a:xfrm>
            <a:off x="640080" y="2743200"/>
            <a:ext cx="4846320" cy="3291840"/>
          </a:xfrm>
          <a:prstGeom prst="rect">
            <a:avLst/>
          </a:prstGeom>
          <a:noFill/>
          <a:ln/>
        </p:spPr>
        <p:txBody>
          <a:bodyPr wrap="square" rtlCol="0" anchor="t"/>
          <a:lstStyle/>
          <a:p>
            <a:pPr algn="l" indent="0" marL="0">
              <a:lnSpc>
                <a:spcPct val="145000"/>
              </a:lnSpc>
              <a:spcAft>
                <a:spcPts val="600"/>
              </a:spcAft>
              <a:buNone/>
            </a:pPr>
            <a:r>
              <a:rPr lang="en-US" sz="1400" b="1" dirty="0">
                <a:solidFill>
                  <a:srgbClr val="2F3241"/>
                </a:solidFill>
                <a:latin typeface="Calibri" pitchFamily="34" charset="0"/>
                <a:ea typeface="Calibri" pitchFamily="34" charset="-122"/>
                <a:cs typeface="Calibri" pitchFamily="34" charset="-120"/>
              </a:rPr>
              <a:t>Dr Hugo Stephenson </a:t>
            </a:r>
            <a:pPr algn="l" indent="0" marL="0">
              <a:lnSpc>
                <a:spcPct val="145000"/>
              </a:lnSpc>
              <a:spcAft>
                <a:spcPts val="600"/>
              </a:spcAft>
              <a:buNone/>
            </a:pPr>
            <a:r>
              <a:rPr lang="en-US" sz="1400" dirty="0">
                <a:solidFill>
                  <a:srgbClr val="2F3241"/>
                </a:solidFill>
                <a:latin typeface="Calibri" pitchFamily="34" charset="0"/>
                <a:ea typeface="Calibri" pitchFamily="34" charset="-122"/>
                <a:cs typeface="Calibri" pitchFamily="34" charset="-120"/>
              </a:rPr>
              <a:t>(CEO, MD, former Executive Chairman of DrugDev — sold to IQVIA). </a:t>
            </a:r>
            <a:pPr algn="l" indent="0" marL="0">
              <a:lnSpc>
                <a:spcPct val="145000"/>
              </a:lnSpc>
              <a:spcAft>
                <a:spcPts val="600"/>
              </a:spcAft>
              <a:buNone/>
            </a:pPr>
            <a:r>
              <a:rPr lang="en-US" sz="1400" b="1" dirty="0">
                <a:solidFill>
                  <a:srgbClr val="2F3241"/>
                </a:solidFill>
                <a:latin typeface="Calibri" pitchFamily="34" charset="0"/>
                <a:ea typeface="Calibri" pitchFamily="34" charset="-122"/>
                <a:cs typeface="Calibri" pitchFamily="34" charset="-120"/>
              </a:rPr>
              <a:t>Elisa Cascade </a:t>
            </a:r>
            <a:pPr algn="l" indent="0" marL="0">
              <a:lnSpc>
                <a:spcPct val="145000"/>
              </a:lnSpc>
              <a:spcAft>
                <a:spcPts val="600"/>
              </a:spcAft>
              <a:buNone/>
            </a:pPr>
            <a:r>
              <a:rPr lang="en-US" sz="1400" dirty="0">
                <a:solidFill>
                  <a:srgbClr val="2F3241"/>
                </a:solidFill>
                <a:latin typeface="Calibri" pitchFamily="34" charset="0"/>
                <a:ea typeface="Calibri" pitchFamily="34" charset="-122"/>
                <a:cs typeface="Calibri" pitchFamily="34" charset="-120"/>
              </a:rPr>
              <a:t>(CGO, ex-Chief Product Officer at Advarra; past Chair, ACRP Board of Trustees). </a:t>
            </a:r>
            <a:pPr algn="l" indent="0" marL="0">
              <a:lnSpc>
                <a:spcPct val="145000"/>
              </a:lnSpc>
              <a:spcAft>
                <a:spcPts val="600"/>
              </a:spcAft>
              <a:buNone/>
            </a:pPr>
            <a:r>
              <a:rPr lang="en-US" sz="1400" b="1" dirty="0">
                <a:solidFill>
                  <a:srgbClr val="2F3241"/>
                </a:solidFill>
                <a:latin typeface="Calibri" pitchFamily="34" charset="0"/>
                <a:ea typeface="Calibri" pitchFamily="34" charset="-122"/>
                <a:cs typeface="Calibri" pitchFamily="34" charset="-120"/>
              </a:rPr>
              <a:t>Melissa Easy </a:t>
            </a:r>
            <a:pPr algn="l" indent="0" marL="0">
              <a:lnSpc>
                <a:spcPct val="145000"/>
              </a:lnSpc>
              <a:spcAft>
                <a:spcPts val="600"/>
              </a:spcAft>
              <a:buNone/>
            </a:pPr>
            <a:r>
              <a:rPr lang="en-US" sz="1400" dirty="0">
                <a:solidFill>
                  <a:srgbClr val="2F3241"/>
                </a:solidFill>
                <a:latin typeface="Calibri" pitchFamily="34" charset="0"/>
                <a:ea typeface="Calibri" pitchFamily="34" charset="-122"/>
                <a:cs typeface="Calibri" pitchFamily="34" charset="-120"/>
              </a:rPr>
              <a:t>(COO, platform, integrations, and scale delivery).</a:t>
            </a:r>
            <a:endParaRPr lang="en-US" sz="1400" dirty="0"/>
          </a:p>
        </p:txBody>
      </p:sp>
      <p:sp>
        <p:nvSpPr>
          <p:cNvPr id="5" name="Text 3"/>
          <p:cNvSpPr/>
          <p:nvPr/>
        </p:nvSpPr>
        <p:spPr>
          <a:xfrm>
            <a:off x="6035040" y="2377440"/>
            <a:ext cx="5486400" cy="2194560"/>
          </a:xfrm>
          <a:prstGeom prst="rect">
            <a:avLst/>
          </a:prstGeom>
          <a:noFill/>
          <a:ln/>
        </p:spPr>
        <p:txBody>
          <a:bodyPr wrap="square" rtlCol="0" anchor="ctr"/>
          <a:lstStyle/>
          <a:p>
            <a:pPr algn="l" indent="0" marL="0">
              <a:lnSpc>
                <a:spcPct val="115000"/>
              </a:lnSpc>
              <a:buNone/>
            </a:pPr>
            <a:r>
              <a:rPr lang="en-US" sz="3400" b="1" spc="-50" kern="0" dirty="0">
                <a:solidFill>
                  <a:srgbClr val="773A96"/>
                </a:solidFill>
                <a:latin typeface="Trebuchet MS" pitchFamily="34" charset="0"/>
                <a:ea typeface="Trebuchet MS" pitchFamily="34" charset="-122"/>
                <a:cs typeface="Trebuchet MS" pitchFamily="34" charset="-120"/>
              </a:rPr>
              <a:t>“DrugDev → IQVIA. Advarra. Science 37.</a:t>
            </a:r>
            <a:endParaRPr lang="en-US" sz="3400" dirty="0"/>
          </a:p>
          <a:p>
            <a:pPr algn="l" indent="0" marL="0">
              <a:lnSpc>
                <a:spcPct val="115000"/>
              </a:lnSpc>
              <a:buNone/>
            </a:pPr>
            <a:r>
              <a:rPr lang="en-US" sz="3400" b="1" spc="-50" kern="0" dirty="0">
                <a:solidFill>
                  <a:srgbClr val="773A96"/>
                </a:solidFill>
                <a:latin typeface="Trebuchet MS" pitchFamily="34" charset="0"/>
                <a:ea typeface="Trebuchet MS" pitchFamily="34" charset="-122"/>
                <a:cs typeface="Trebuchet MS" pitchFamily="34" charset="-120"/>
              </a:rPr>
              <a:t>ACRP Board Chair. Quintiles.”</a:t>
            </a:r>
            <a:endParaRPr lang="en-US" sz="3400" dirty="0"/>
          </a:p>
        </p:txBody>
      </p:sp>
      <p:sp>
        <p:nvSpPr>
          <p:cNvPr id="6" name="Text 4"/>
          <p:cNvSpPr/>
          <p:nvPr/>
        </p:nvSpPr>
        <p:spPr>
          <a:xfrm>
            <a:off x="6035040" y="4663440"/>
            <a:ext cx="5486400" cy="548640"/>
          </a:xfrm>
          <a:prstGeom prst="rect">
            <a:avLst/>
          </a:prstGeom>
          <a:noFill/>
          <a:ln/>
        </p:spPr>
        <p:txBody>
          <a:bodyPr wrap="square" rtlCol="0" anchor="t"/>
          <a:lstStyle/>
          <a:p>
            <a:pPr algn="l" indent="0" marL="0">
              <a:buNone/>
            </a:pPr>
            <a:r>
              <a:rPr lang="en-US" sz="1200" i="1" dirty="0">
                <a:solidFill>
                  <a:srgbClr val="6B6880"/>
                </a:solidFill>
                <a:latin typeface="Calibri" pitchFamily="34" charset="0"/>
                <a:ea typeface="Calibri" pitchFamily="34" charset="-122"/>
                <a:cs typeface="Calibri" pitchFamily="34" charset="-120"/>
              </a:rPr>
              <a:t>Prior organisations on the bench: DrugDev, IQVIA, Advarra, Science 37, Clario, ACRP, Quintiles.</a:t>
            </a:r>
            <a:endParaRPr lang="en-US" sz="1200" dirty="0"/>
          </a:p>
        </p:txBody>
      </p:sp>
      <p:sp>
        <p:nvSpPr>
          <p:cNvPr id="7" name="Text 5"/>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8" name="Text 6"/>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2 / 25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45720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THE BOTTLENECK</a:t>
            </a:r>
            <a:endParaRPr lang="en-US" sz="1000" dirty="0"/>
          </a:p>
        </p:txBody>
      </p:sp>
      <p:sp>
        <p:nvSpPr>
          <p:cNvPr id="3" name="Text 1"/>
          <p:cNvSpPr/>
          <p:nvPr/>
        </p:nvSpPr>
        <p:spPr>
          <a:xfrm>
            <a:off x="457200" y="1188720"/>
            <a:ext cx="8686800" cy="3108960"/>
          </a:xfrm>
          <a:prstGeom prst="rect">
            <a:avLst/>
          </a:prstGeom>
          <a:noFill/>
          <a:ln/>
        </p:spPr>
        <p:txBody>
          <a:bodyPr wrap="square" rtlCol="0" anchor="ctr"/>
          <a:lstStyle/>
          <a:p>
            <a:pPr algn="l" indent="0" marL="0">
              <a:buNone/>
            </a:pPr>
            <a:r>
              <a:rPr lang="en-US" sz="22000" b="1" spc="-800" kern="0" dirty="0">
                <a:solidFill>
                  <a:srgbClr val="2F3241"/>
                </a:solidFill>
                <a:latin typeface="Trebuchet MS" pitchFamily="34" charset="0"/>
                <a:ea typeface="Trebuchet MS" pitchFamily="34" charset="-122"/>
                <a:cs typeface="Trebuchet MS" pitchFamily="34" charset="-120"/>
              </a:rPr>
              <a:t>&gt;80%</a:t>
            </a:r>
            <a:endParaRPr lang="en-US" sz="22000" dirty="0"/>
          </a:p>
        </p:txBody>
      </p:sp>
      <p:sp>
        <p:nvSpPr>
          <p:cNvPr id="4" name="Text 2"/>
          <p:cNvSpPr/>
          <p:nvPr/>
        </p:nvSpPr>
        <p:spPr>
          <a:xfrm>
            <a:off x="640080" y="4434840"/>
            <a:ext cx="9144000" cy="640080"/>
          </a:xfrm>
          <a:prstGeom prst="rect">
            <a:avLst/>
          </a:prstGeom>
          <a:noFill/>
          <a:ln/>
        </p:spPr>
        <p:txBody>
          <a:bodyPr wrap="square" rtlCol="0" anchor="t"/>
          <a:lstStyle/>
          <a:p>
            <a:pPr algn="l" indent="0" marL="0">
              <a:buNone/>
            </a:pPr>
            <a:r>
              <a:rPr lang="en-US" sz="2600" spc="-50" kern="0" dirty="0">
                <a:solidFill>
                  <a:srgbClr val="2F3241"/>
                </a:solidFill>
                <a:latin typeface="Trebuchet MS" pitchFamily="34" charset="0"/>
                <a:ea typeface="Trebuchet MS" pitchFamily="34" charset="-122"/>
                <a:cs typeface="Trebuchet MS" pitchFamily="34" charset="-120"/>
              </a:rPr>
              <a:t>of clinical trials miss their enrolment timelines.</a:t>
            </a:r>
            <a:endParaRPr lang="en-US" sz="2600" dirty="0"/>
          </a:p>
        </p:txBody>
      </p:sp>
      <p:sp>
        <p:nvSpPr>
          <p:cNvPr id="5" name="Text 3"/>
          <p:cNvSpPr/>
          <p:nvPr/>
        </p:nvSpPr>
        <p:spPr>
          <a:xfrm>
            <a:off x="640080" y="5212080"/>
            <a:ext cx="10972800" cy="914400"/>
          </a:xfrm>
          <a:prstGeom prst="rect">
            <a:avLst/>
          </a:prstGeom>
          <a:noFill/>
          <a:ln/>
        </p:spPr>
        <p:txBody>
          <a:bodyPr wrap="square" rtlCol="0" anchor="t"/>
          <a:lstStyle/>
          <a:p>
            <a:pPr algn="l" indent="0" marL="0">
              <a:lnSpc>
                <a:spcPct val="150000"/>
              </a:lnSpc>
              <a:buNone/>
            </a:pPr>
            <a:r>
              <a:rPr lang="en-US" sz="1500" dirty="0">
                <a:solidFill>
                  <a:srgbClr val="6B6880"/>
                </a:solidFill>
                <a:latin typeface="Calibri" pitchFamily="34" charset="0"/>
                <a:ea typeface="Calibri" pitchFamily="34" charset="-122"/>
                <a:cs typeface="Calibri" pitchFamily="34" charset="-120"/>
              </a:rPr>
              <a:t>Behind it: </a:t>
            </a:r>
            <a:pPr algn="l" indent="0" marL="0">
              <a:lnSpc>
                <a:spcPct val="150000"/>
              </a:lnSpc>
              <a:buNone/>
            </a:pPr>
            <a:r>
              <a:rPr lang="en-US" sz="1500" b="1" dirty="0">
                <a:solidFill>
                  <a:srgbClr val="2F3241"/>
                </a:solidFill>
                <a:latin typeface="Calibri" pitchFamily="34" charset="0"/>
                <a:ea typeface="Calibri" pitchFamily="34" charset="-122"/>
                <a:cs typeface="Calibri" pitchFamily="34" charset="-120"/>
              </a:rPr>
              <a:t>$600K–$8M</a:t>
            </a:r>
            <a:pPr algn="l" indent="0" marL="0">
              <a:lnSpc>
                <a:spcPct val="150000"/>
              </a:lnSpc>
              <a:buNone/>
            </a:pPr>
            <a:r>
              <a:rPr lang="en-US" sz="1500" dirty="0">
                <a:solidFill>
                  <a:srgbClr val="6B6880"/>
                </a:solidFill>
                <a:latin typeface="Calibri" pitchFamily="34" charset="0"/>
                <a:ea typeface="Calibri" pitchFamily="34" charset="-122"/>
                <a:cs typeface="Calibri" pitchFamily="34" charset="-120"/>
              </a:rPr>
              <a:t> of delay cost per day, </a:t>
            </a:r>
            <a:pPr algn="l" indent="0" marL="0">
              <a:lnSpc>
                <a:spcPct val="150000"/>
              </a:lnSpc>
              <a:buNone/>
            </a:pPr>
            <a:r>
              <a:rPr lang="en-US" sz="1500" b="1" dirty="0">
                <a:solidFill>
                  <a:srgbClr val="2F3241"/>
                </a:solidFill>
                <a:latin typeface="Calibri" pitchFamily="34" charset="0"/>
                <a:ea typeface="Calibri" pitchFamily="34" charset="-122"/>
                <a:cs typeface="Calibri" pitchFamily="34" charset="-120"/>
              </a:rPr>
              <a:t>~30%</a:t>
            </a:r>
            <a:pPr algn="l" indent="0" marL="0">
              <a:lnSpc>
                <a:spcPct val="150000"/>
              </a:lnSpc>
              <a:buNone/>
            </a:pPr>
            <a:r>
              <a:rPr lang="en-US" sz="1500" dirty="0">
                <a:solidFill>
                  <a:srgbClr val="6B6880"/>
                </a:solidFill>
                <a:latin typeface="Calibri" pitchFamily="34" charset="0"/>
                <a:ea typeface="Calibri" pitchFamily="34" charset="-122"/>
                <a:cs typeface="Calibri" pitchFamily="34" charset="-120"/>
              </a:rPr>
              <a:t> of sites enrol zero patients, and only </a:t>
            </a:r>
            <a:pPr algn="l" indent="0" marL="0">
              <a:lnSpc>
                <a:spcPct val="150000"/>
              </a:lnSpc>
              <a:buNone/>
            </a:pPr>
            <a:r>
              <a:rPr lang="en-US" sz="1500" b="1" dirty="0">
                <a:solidFill>
                  <a:srgbClr val="2F3241"/>
                </a:solidFill>
                <a:latin typeface="Calibri" pitchFamily="34" charset="0"/>
                <a:ea typeface="Calibri" pitchFamily="34" charset="-122"/>
                <a:cs typeface="Calibri" pitchFamily="34" charset="-120"/>
              </a:rPr>
              <a:t>~5%</a:t>
            </a:r>
            <a:pPr algn="l" indent="0" marL="0">
              <a:lnSpc>
                <a:spcPct val="150000"/>
              </a:lnSpc>
              <a:buNone/>
            </a:pPr>
            <a:r>
              <a:rPr lang="en-US" sz="1500" dirty="0">
                <a:solidFill>
                  <a:srgbClr val="6B6880"/>
                </a:solidFill>
                <a:latin typeface="Calibri" pitchFamily="34" charset="0"/>
                <a:ea typeface="Calibri" pitchFamily="34" charset="-122"/>
                <a:cs typeface="Calibri" pitchFamily="34" charset="-120"/>
              </a:rPr>
              <a:t> of eligible patients ever actively search.</a:t>
            </a:r>
            <a:endParaRPr lang="en-US" sz="1500" dirty="0"/>
          </a:p>
        </p:txBody>
      </p:sp>
      <p:sp>
        <p:nvSpPr>
          <p:cNvPr id="6" name="Text 4"/>
          <p:cNvSpPr/>
          <p:nvPr/>
        </p:nvSpPr>
        <p:spPr>
          <a:xfrm>
            <a:off x="640080" y="6172200"/>
            <a:ext cx="10972800" cy="274320"/>
          </a:xfrm>
          <a:prstGeom prst="rect">
            <a:avLst/>
          </a:prstGeom>
          <a:noFill/>
          <a:ln/>
        </p:spPr>
        <p:txBody>
          <a:bodyPr wrap="square" rtlCol="0" anchor="t"/>
          <a:lstStyle/>
          <a:p>
            <a:pPr algn="l" indent="0" marL="0">
              <a:buNone/>
            </a:pPr>
            <a:r>
              <a:rPr lang="en-US" sz="900" i="1" dirty="0">
                <a:solidFill>
                  <a:srgbClr val="9A98A8"/>
                </a:solidFill>
                <a:latin typeface="Calibri" pitchFamily="34" charset="0"/>
                <a:ea typeface="Calibri" pitchFamily="34" charset="-122"/>
                <a:cs typeface="Calibri" pitchFamily="34" charset="-120"/>
              </a:rPr>
              <a:t>Sources: Laaksonen 2022; Brøgger-Mikkelsen 2020; Smith, DiMasi &amp; Getz 2024; Applied Clinical Trials.</a:t>
            </a:r>
            <a:endParaRPr lang="en-US" sz="900" dirty="0"/>
          </a:p>
        </p:txBody>
      </p:sp>
      <p:sp>
        <p:nvSpPr>
          <p:cNvPr id="7" name="Text 5"/>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8" name="Text 6"/>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3 / 25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9144000" cy="731520"/>
          </a:xfrm>
          <a:prstGeom prst="rect">
            <a:avLst/>
          </a:prstGeom>
          <a:noFill/>
          <a:ln/>
        </p:spPr>
        <p:txBody>
          <a:bodyPr wrap="square" rtlCol="0" anchor="ctr"/>
          <a:lstStyle/>
          <a:p>
            <a:pPr algn="l" indent="0" marL="0">
              <a:buNone/>
            </a:pPr>
            <a:r>
              <a:rPr lang="en-US" sz="3600" b="1" spc="-50" kern="0" dirty="0">
                <a:solidFill>
                  <a:srgbClr val="2F3241"/>
                </a:solidFill>
                <a:latin typeface="Trebuchet MS" pitchFamily="34" charset="0"/>
                <a:ea typeface="Trebuchet MS" pitchFamily="34" charset="-122"/>
                <a:cs typeface="Trebuchet MS" pitchFamily="34" charset="-120"/>
              </a:rPr>
              <a:t>Where enrolment breaks.</a:t>
            </a:r>
            <a:endParaRPr lang="en-US" sz="3600" dirty="0"/>
          </a:p>
        </p:txBody>
      </p:sp>
      <p:sp>
        <p:nvSpPr>
          <p:cNvPr id="3" name="Text 1"/>
          <p:cNvSpPr/>
          <p:nvPr/>
        </p:nvSpPr>
        <p:spPr>
          <a:xfrm>
            <a:off x="640080" y="1600200"/>
            <a:ext cx="2926080" cy="548640"/>
          </a:xfrm>
          <a:prstGeom prst="rect">
            <a:avLst/>
          </a:prstGeom>
          <a:noFill/>
          <a:ln/>
        </p:spPr>
        <p:txBody>
          <a:bodyPr wrap="square" rtlCol="0" anchor="ctr"/>
          <a:lstStyle/>
          <a:p>
            <a:pPr algn="l" indent="0" marL="0">
              <a:buNone/>
            </a:pPr>
            <a:r>
              <a:rPr lang="en-US" sz="2800" b="1" spc="-50" kern="0" dirty="0">
                <a:solidFill>
                  <a:srgbClr val="773A96"/>
                </a:solidFill>
                <a:latin typeface="Trebuchet MS" pitchFamily="34" charset="0"/>
                <a:ea typeface="Trebuchet MS" pitchFamily="34" charset="-122"/>
                <a:cs typeface="Trebuchet MS" pitchFamily="34" charset="-120"/>
              </a:rPr>
              <a:t>Awareness</a:t>
            </a:r>
            <a:endParaRPr lang="en-US" sz="2800" dirty="0"/>
          </a:p>
        </p:txBody>
      </p:sp>
      <p:sp>
        <p:nvSpPr>
          <p:cNvPr id="4" name="Text 2"/>
          <p:cNvSpPr/>
          <p:nvPr/>
        </p:nvSpPr>
        <p:spPr>
          <a:xfrm>
            <a:off x="3657600" y="1627632"/>
            <a:ext cx="7955280" cy="1051560"/>
          </a:xfrm>
          <a:prstGeom prst="rect">
            <a:avLst/>
          </a:prstGeom>
          <a:noFill/>
          <a:ln/>
        </p:spPr>
        <p:txBody>
          <a:bodyPr wrap="square" rtlCol="0" anchor="ctr"/>
          <a:lstStyle/>
          <a:p>
            <a:pPr algn="l" indent="0" marL="0">
              <a:lnSpc>
                <a:spcPct val="140000"/>
              </a:lnSpc>
              <a:buNone/>
            </a:pPr>
            <a:r>
              <a:rPr lang="en-US" sz="1600" dirty="0">
                <a:solidFill>
                  <a:srgbClr val="2F3241"/>
                </a:solidFill>
                <a:latin typeface="Calibri" pitchFamily="34" charset="0"/>
                <a:ea typeface="Calibri" pitchFamily="34" charset="-122"/>
                <a:cs typeface="Calibri" pitchFamily="34" charset="-120"/>
              </a:rPr>
              <a:t>Only ~5% of eligible patients proactively search for a trial. The other 95% never know they are a candidate.</a:t>
            </a:r>
            <a:endParaRPr lang="en-US" sz="1600" dirty="0"/>
          </a:p>
        </p:txBody>
      </p:sp>
      <p:sp>
        <p:nvSpPr>
          <p:cNvPr id="5" name="Text 3"/>
          <p:cNvSpPr/>
          <p:nvPr/>
        </p:nvSpPr>
        <p:spPr>
          <a:xfrm>
            <a:off x="640080" y="2715768"/>
            <a:ext cx="2926080" cy="548640"/>
          </a:xfrm>
          <a:prstGeom prst="rect">
            <a:avLst/>
          </a:prstGeom>
          <a:noFill/>
          <a:ln/>
        </p:spPr>
        <p:txBody>
          <a:bodyPr wrap="square" rtlCol="0" anchor="ctr"/>
          <a:lstStyle/>
          <a:p>
            <a:pPr algn="l" indent="0" marL="0">
              <a:buNone/>
            </a:pPr>
            <a:r>
              <a:rPr lang="en-US" sz="2600" b="1" spc="-50" kern="0" dirty="0">
                <a:solidFill>
                  <a:srgbClr val="773A96"/>
                </a:solidFill>
                <a:latin typeface="Trebuchet MS" pitchFamily="34" charset="0"/>
                <a:ea typeface="Trebuchet MS" pitchFamily="34" charset="-122"/>
                <a:cs typeface="Trebuchet MS" pitchFamily="34" charset="-120"/>
              </a:rPr>
              <a:t>Discovery</a:t>
            </a:r>
            <a:endParaRPr lang="en-US" sz="2600" dirty="0"/>
          </a:p>
        </p:txBody>
      </p:sp>
      <p:sp>
        <p:nvSpPr>
          <p:cNvPr id="6" name="Text 4"/>
          <p:cNvSpPr/>
          <p:nvPr/>
        </p:nvSpPr>
        <p:spPr>
          <a:xfrm>
            <a:off x="3657600" y="2743200"/>
            <a:ext cx="7955280" cy="1051560"/>
          </a:xfrm>
          <a:prstGeom prst="rect">
            <a:avLst/>
          </a:prstGeom>
          <a:noFill/>
          <a:ln/>
        </p:spPr>
        <p:txBody>
          <a:bodyPr wrap="square" rtlCol="0" anchor="ctr"/>
          <a:lstStyle/>
          <a:p>
            <a:pPr algn="l" indent="0" marL="0">
              <a:lnSpc>
                <a:spcPct val="140000"/>
              </a:lnSpc>
              <a:buNone/>
            </a:pPr>
            <a:r>
              <a:rPr lang="en-US" sz="1500" dirty="0">
                <a:solidFill>
                  <a:srgbClr val="2F3241"/>
                </a:solidFill>
                <a:latin typeface="Calibri" pitchFamily="34" charset="0"/>
                <a:ea typeface="Calibri" pitchFamily="34" charset="-122"/>
                <a:cs typeface="Calibri" pitchFamily="34" charset="-120"/>
              </a:rPr>
              <a:t>Registries exist, but they are not patient-facing. Fragmented across five geographies, five languages, zero common surface.</a:t>
            </a:r>
            <a:endParaRPr lang="en-US" sz="1500" dirty="0"/>
          </a:p>
        </p:txBody>
      </p:sp>
      <p:sp>
        <p:nvSpPr>
          <p:cNvPr id="7" name="Text 5"/>
          <p:cNvSpPr/>
          <p:nvPr/>
        </p:nvSpPr>
        <p:spPr>
          <a:xfrm>
            <a:off x="640080" y="3831336"/>
            <a:ext cx="2926080" cy="548640"/>
          </a:xfrm>
          <a:prstGeom prst="rect">
            <a:avLst/>
          </a:prstGeom>
          <a:noFill/>
          <a:ln/>
        </p:spPr>
        <p:txBody>
          <a:bodyPr wrap="square" rtlCol="0" anchor="ctr"/>
          <a:lstStyle/>
          <a:p>
            <a:pPr algn="l" indent="0" marL="0">
              <a:buNone/>
            </a:pPr>
            <a:r>
              <a:rPr lang="en-US" sz="2400" b="1" spc="-50" kern="0" dirty="0">
                <a:solidFill>
                  <a:srgbClr val="773A96"/>
                </a:solidFill>
                <a:latin typeface="Trebuchet MS" pitchFamily="34" charset="0"/>
                <a:ea typeface="Trebuchet MS" pitchFamily="34" charset="-122"/>
                <a:cs typeface="Trebuchet MS" pitchFamily="34" charset="-120"/>
              </a:rPr>
              <a:t>Eligibility</a:t>
            </a:r>
            <a:endParaRPr lang="en-US" sz="2400" dirty="0"/>
          </a:p>
        </p:txBody>
      </p:sp>
      <p:sp>
        <p:nvSpPr>
          <p:cNvPr id="8" name="Text 6"/>
          <p:cNvSpPr/>
          <p:nvPr/>
        </p:nvSpPr>
        <p:spPr>
          <a:xfrm>
            <a:off x="3657600" y="3858768"/>
            <a:ext cx="7955280" cy="1051560"/>
          </a:xfrm>
          <a:prstGeom prst="rect">
            <a:avLst/>
          </a:prstGeom>
          <a:noFill/>
          <a:ln/>
        </p:spPr>
        <p:txBody>
          <a:bodyPr wrap="square" rtlCol="0" anchor="ctr"/>
          <a:lstStyle/>
          <a:p>
            <a:pPr algn="l" indent="0" marL="0">
              <a:lnSpc>
                <a:spcPct val="140000"/>
              </a:lnSpc>
              <a:buNone/>
            </a:pPr>
            <a:r>
              <a:rPr lang="en-US" sz="1500" dirty="0">
                <a:solidFill>
                  <a:srgbClr val="2F3241"/>
                </a:solidFill>
                <a:latin typeface="Calibri" pitchFamily="34" charset="0"/>
                <a:ea typeface="Calibri" pitchFamily="34" charset="-122"/>
                <a:cs typeface="Calibri" pitchFamily="34" charset="-120"/>
              </a:rPr>
              <a:t>Protocol criteria sit inside PDFs. Self-screening tools are trial-by-trial, campaign-by-campaign — rebuilt every time.</a:t>
            </a:r>
            <a:endParaRPr lang="en-US" sz="1500" dirty="0"/>
          </a:p>
        </p:txBody>
      </p:sp>
      <p:sp>
        <p:nvSpPr>
          <p:cNvPr id="9" name="Text 7"/>
          <p:cNvSpPr/>
          <p:nvPr/>
        </p:nvSpPr>
        <p:spPr>
          <a:xfrm>
            <a:off x="640080" y="4946904"/>
            <a:ext cx="2926080" cy="548640"/>
          </a:xfrm>
          <a:prstGeom prst="rect">
            <a:avLst/>
          </a:prstGeom>
          <a:noFill/>
          <a:ln/>
        </p:spPr>
        <p:txBody>
          <a:bodyPr wrap="square" rtlCol="0" anchor="ctr"/>
          <a:lstStyle/>
          <a:p>
            <a:pPr algn="l" indent="0" marL="0">
              <a:buNone/>
            </a:pPr>
            <a:r>
              <a:rPr lang="en-US" sz="2200" b="1" spc="-50" kern="0" dirty="0">
                <a:solidFill>
                  <a:srgbClr val="773A96"/>
                </a:solidFill>
                <a:latin typeface="Trebuchet MS" pitchFamily="34" charset="0"/>
                <a:ea typeface="Trebuchet MS" pitchFamily="34" charset="-122"/>
                <a:cs typeface="Trebuchet MS" pitchFamily="34" charset="-120"/>
              </a:rPr>
              <a:t>Delivery</a:t>
            </a:r>
            <a:endParaRPr lang="en-US" sz="2200" dirty="0"/>
          </a:p>
        </p:txBody>
      </p:sp>
      <p:sp>
        <p:nvSpPr>
          <p:cNvPr id="10" name="Text 8"/>
          <p:cNvSpPr/>
          <p:nvPr/>
        </p:nvSpPr>
        <p:spPr>
          <a:xfrm>
            <a:off x="3657600" y="4974336"/>
            <a:ext cx="7955280" cy="1051560"/>
          </a:xfrm>
          <a:prstGeom prst="rect">
            <a:avLst/>
          </a:prstGeom>
          <a:noFill/>
          <a:ln/>
        </p:spPr>
        <p:txBody>
          <a:bodyPr wrap="square" rtlCol="0" anchor="ctr"/>
          <a:lstStyle/>
          <a:p>
            <a:pPr algn="l" indent="0" marL="0">
              <a:lnSpc>
                <a:spcPct val="140000"/>
              </a:lnSpc>
              <a:buNone/>
            </a:pPr>
            <a:r>
              <a:rPr lang="en-US" sz="1400" dirty="0">
                <a:solidFill>
                  <a:srgbClr val="2F3241"/>
                </a:solidFill>
                <a:latin typeface="Calibri" pitchFamily="34" charset="0"/>
                <a:ea typeface="Calibri" pitchFamily="34" charset="-122"/>
                <a:cs typeface="Calibri" pitchFamily="34" charset="-120"/>
              </a:rPr>
              <a:t>Leads land in inboxes, sites fail to respond in time, sponsors cannot see the funnel. ~30% of sites enrol zero patients.</a:t>
            </a:r>
            <a:endParaRPr lang="en-US" sz="1400" dirty="0"/>
          </a:p>
        </p:txBody>
      </p:sp>
      <p:sp>
        <p:nvSpPr>
          <p:cNvPr id="11" name="Text 9"/>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2" name="Text 10"/>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4 / 25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914400"/>
            <a:ext cx="4572000" cy="4572000"/>
          </a:xfrm>
          <a:prstGeom prst="rect">
            <a:avLst/>
          </a:prstGeom>
          <a:noFill/>
          <a:ln/>
        </p:spPr>
        <p:txBody>
          <a:bodyPr wrap="square" rtlCol="0" anchor="t"/>
          <a:lstStyle/>
          <a:p>
            <a:pPr algn="l" indent="0" marL="0">
              <a:lnSpc>
                <a:spcPct val="110000"/>
              </a:lnSpc>
              <a:buNone/>
            </a:pPr>
            <a:r>
              <a:rPr lang="en-US" sz="4000" b="1" spc="-80" kern="0" dirty="0">
                <a:solidFill>
                  <a:srgbClr val="2F3241"/>
                </a:solidFill>
                <a:latin typeface="Trebuchet MS" pitchFamily="34" charset="0"/>
                <a:ea typeface="Trebuchet MS" pitchFamily="34" charset="-122"/>
                <a:cs typeface="Trebuchet MS" pitchFamily="34" charset="-120"/>
              </a:rPr>
              <a:t>Twenty years</a:t>
            </a:r>
            <a:endParaRPr lang="en-US" sz="4000" dirty="0"/>
          </a:p>
          <a:p>
            <a:pPr algn="l" indent="0" marL="0">
              <a:lnSpc>
                <a:spcPct val="110000"/>
              </a:lnSpc>
              <a:buNone/>
            </a:pPr>
            <a:r>
              <a:rPr lang="en-US" sz="4000" b="1" spc="-80" kern="0" dirty="0">
                <a:solidFill>
                  <a:srgbClr val="2F3241"/>
                </a:solidFill>
                <a:latin typeface="Trebuchet MS" pitchFamily="34" charset="0"/>
                <a:ea typeface="Trebuchet MS" pitchFamily="34" charset="-122"/>
                <a:cs typeface="Trebuchet MS" pitchFamily="34" charset="-120"/>
              </a:rPr>
              <a:t>of campaign</a:t>
            </a:r>
            <a:endParaRPr lang="en-US" sz="4000" dirty="0"/>
          </a:p>
          <a:p>
            <a:pPr algn="l" indent="0" marL="0">
              <a:lnSpc>
                <a:spcPct val="110000"/>
              </a:lnSpc>
              <a:buNone/>
            </a:pPr>
            <a:r>
              <a:rPr lang="en-US" sz="4000" b="1" spc="-80" kern="0" dirty="0">
                <a:solidFill>
                  <a:srgbClr val="2F3241"/>
                </a:solidFill>
                <a:latin typeface="Trebuchet MS" pitchFamily="34" charset="0"/>
                <a:ea typeface="Trebuchet MS" pitchFamily="34" charset="-122"/>
                <a:cs typeface="Trebuchet MS" pitchFamily="34" charset="-120"/>
              </a:rPr>
              <a:t>spending.</a:t>
            </a:r>
            <a:endParaRPr lang="en-US" sz="4000" dirty="0"/>
          </a:p>
          <a:p>
            <a:pPr algn="l" indent="0" marL="0">
              <a:lnSpc>
                <a:spcPct val="110000"/>
              </a:lnSpc>
              <a:buNone/>
            </a:pPr>
            <a:r>
              <a:rPr lang="en-US" sz="4000" b="1" spc="-80" kern="0" dirty="0">
                <a:solidFill>
                  <a:srgbClr val="2F3241"/>
                </a:solidFill>
                <a:latin typeface="Trebuchet MS" pitchFamily="34" charset="0"/>
                <a:ea typeface="Trebuchet MS" pitchFamily="34" charset="-122"/>
                <a:cs typeface="Trebuchet MS" pitchFamily="34" charset="-120"/>
              </a:rPr>
              <a:t>No improvement.</a:t>
            </a:r>
            <a:endParaRPr lang="en-US" sz="4000" dirty="0"/>
          </a:p>
        </p:txBody>
      </p:sp>
      <p:sp>
        <p:nvSpPr>
          <p:cNvPr id="3" name="Shape 1"/>
          <p:cNvSpPr/>
          <p:nvPr/>
        </p:nvSpPr>
        <p:spPr>
          <a:xfrm>
            <a:off x="5669280" y="1097280"/>
            <a:ext cx="0" cy="4389120"/>
          </a:xfrm>
          <a:prstGeom prst="line">
            <a:avLst/>
          </a:prstGeom>
          <a:noFill/>
          <a:ln w="15875">
            <a:solidFill>
              <a:srgbClr val="773A96"/>
            </a:solidFill>
            <a:prstDash val="solid"/>
          </a:ln>
        </p:spPr>
      </p:sp>
      <p:sp>
        <p:nvSpPr>
          <p:cNvPr id="4" name="Text 2"/>
          <p:cNvSpPr/>
          <p:nvPr/>
        </p:nvSpPr>
        <p:spPr>
          <a:xfrm>
            <a:off x="6035040" y="1005840"/>
            <a:ext cx="5943600" cy="365760"/>
          </a:xfrm>
          <a:prstGeom prst="rect">
            <a:avLst/>
          </a:prstGeom>
          <a:noFill/>
          <a:ln/>
        </p:spPr>
        <p:txBody>
          <a:bodyPr wrap="square" rtlCol="0" anchor="ctr"/>
          <a:lstStyle/>
          <a:p>
            <a:pPr indent="0" marL="0">
              <a:buNone/>
            </a:pPr>
            <a:r>
              <a:rPr lang="en-US" sz="1300" b="1" spc="200" kern="0" dirty="0">
                <a:solidFill>
                  <a:srgbClr val="773A96"/>
                </a:solidFill>
                <a:latin typeface="Calibri" pitchFamily="34" charset="0"/>
                <a:ea typeface="Calibri" pitchFamily="34" charset="-122"/>
                <a:cs typeface="Calibri" pitchFamily="34" charset="-120"/>
              </a:rPr>
              <a:t>The status quo.</a:t>
            </a:r>
            <a:endParaRPr lang="en-US" sz="1300" dirty="0"/>
          </a:p>
        </p:txBody>
      </p:sp>
      <p:sp>
        <p:nvSpPr>
          <p:cNvPr id="5" name="Text 3"/>
          <p:cNvSpPr/>
          <p:nvPr/>
        </p:nvSpPr>
        <p:spPr>
          <a:xfrm>
            <a:off x="6035040" y="1417320"/>
            <a:ext cx="5760720" cy="2011680"/>
          </a:xfrm>
          <a:prstGeom prst="rect">
            <a:avLst/>
          </a:prstGeom>
          <a:noFill/>
          <a:ln/>
        </p:spPr>
        <p:txBody>
          <a:bodyPr wrap="square" rtlCol="0" anchor="t"/>
          <a:lstStyle/>
          <a:p>
            <a:pPr algn="l" indent="0" marL="0">
              <a:lnSpc>
                <a:spcPct val="145000"/>
              </a:lnSpc>
              <a:buNone/>
            </a:pPr>
            <a:r>
              <a:rPr lang="en-US" sz="1500" dirty="0">
                <a:solidFill>
                  <a:srgbClr val="2F3241"/>
                </a:solidFill>
                <a:latin typeface="Calibri" pitchFamily="34" charset="0"/>
                <a:ea typeface="Calibri" pitchFamily="34" charset="-122"/>
                <a:cs typeface="Calibri" pitchFamily="34" charset="-120"/>
              </a:rPr>
              <a:t>Sponsors still run one-off campaigns, trial by trial. Recruitment agencies bill for activity and end when the budget ends. Data consolidators sit upstream of the patient. Site networks operate trials but do not run cross-trial discovery.</a:t>
            </a:r>
            <a:endParaRPr lang="en-US" sz="1500" dirty="0"/>
          </a:p>
        </p:txBody>
      </p:sp>
      <p:sp>
        <p:nvSpPr>
          <p:cNvPr id="6" name="Text 4"/>
          <p:cNvSpPr/>
          <p:nvPr/>
        </p:nvSpPr>
        <p:spPr>
          <a:xfrm>
            <a:off x="6035040" y="3657600"/>
            <a:ext cx="5943600" cy="365760"/>
          </a:xfrm>
          <a:prstGeom prst="rect">
            <a:avLst/>
          </a:prstGeom>
          <a:noFill/>
          <a:ln/>
        </p:spPr>
        <p:txBody>
          <a:bodyPr wrap="square" rtlCol="0" anchor="ctr"/>
          <a:lstStyle/>
          <a:p>
            <a:pPr indent="0" marL="0">
              <a:buNone/>
            </a:pPr>
            <a:r>
              <a:rPr lang="en-US" sz="1300" b="1" spc="200" kern="0" dirty="0">
                <a:solidFill>
                  <a:srgbClr val="773A96"/>
                </a:solidFill>
                <a:latin typeface="Calibri" pitchFamily="34" charset="0"/>
                <a:ea typeface="Calibri" pitchFamily="34" charset="-122"/>
                <a:cs typeface="Calibri" pitchFamily="34" charset="-120"/>
              </a:rPr>
              <a:t>What’s missing.</a:t>
            </a:r>
            <a:endParaRPr lang="en-US" sz="1300" dirty="0"/>
          </a:p>
        </p:txBody>
      </p:sp>
      <p:sp>
        <p:nvSpPr>
          <p:cNvPr id="7" name="Text 5"/>
          <p:cNvSpPr/>
          <p:nvPr/>
        </p:nvSpPr>
        <p:spPr>
          <a:xfrm>
            <a:off x="6035040" y="4069080"/>
            <a:ext cx="5760720" cy="2011680"/>
          </a:xfrm>
          <a:prstGeom prst="rect">
            <a:avLst/>
          </a:prstGeom>
          <a:noFill/>
          <a:ln/>
        </p:spPr>
        <p:txBody>
          <a:bodyPr wrap="square" rtlCol="0" anchor="t"/>
          <a:lstStyle/>
          <a:p>
            <a:pPr algn="l" indent="0" marL="0">
              <a:lnSpc>
                <a:spcPct val="145000"/>
              </a:lnSpc>
              <a:buNone/>
            </a:pPr>
            <a:r>
              <a:rPr lang="en-US" sz="1500" dirty="0">
                <a:solidFill>
                  <a:srgbClr val="2F3241"/>
                </a:solidFill>
                <a:latin typeface="Calibri" pitchFamily="34" charset="0"/>
                <a:ea typeface="Calibri" pitchFamily="34" charset="-122"/>
                <a:cs typeface="Calibri" pitchFamily="34" charset="-120"/>
              </a:rPr>
              <a:t>One layer between every trial and every patient. Vendor-agnostic. Compounding. Always on. That layer does not exist — and none of the four postures incumbent in this market can build it from where they sit.</a:t>
            </a:r>
            <a:endParaRPr lang="en-US" sz="1500" dirty="0"/>
          </a:p>
        </p:txBody>
      </p:sp>
      <p:sp>
        <p:nvSpPr>
          <p:cNvPr id="8" name="Text 6"/>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9" name="Text 7"/>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5 / 25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45720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THE THESIS</a:t>
            </a:r>
            <a:endParaRPr lang="en-US" sz="1000" dirty="0"/>
          </a:p>
        </p:txBody>
      </p:sp>
      <p:sp>
        <p:nvSpPr>
          <p:cNvPr id="3" name="Text 1"/>
          <p:cNvSpPr/>
          <p:nvPr/>
        </p:nvSpPr>
        <p:spPr>
          <a:xfrm>
            <a:off x="1097280" y="1645920"/>
            <a:ext cx="9966960" cy="4206240"/>
          </a:xfrm>
          <a:prstGeom prst="rect">
            <a:avLst/>
          </a:prstGeom>
          <a:noFill/>
          <a:ln/>
        </p:spPr>
        <p:txBody>
          <a:bodyPr wrap="square" rtlCol="0" anchor="ctr"/>
          <a:lstStyle/>
          <a:p>
            <a:pPr algn="l" indent="0" marL="0">
              <a:lnSpc>
                <a:spcPct val="125000"/>
              </a:lnSpc>
              <a:buNone/>
            </a:pPr>
            <a:r>
              <a:rPr lang="en-US" sz="3400" spc="-50" kern="0" dirty="0">
                <a:solidFill>
                  <a:srgbClr val="2F3241"/>
                </a:solidFill>
                <a:latin typeface="Trebuchet MS" pitchFamily="34" charset="0"/>
                <a:ea typeface="Trebuchet MS" pitchFamily="34" charset="-122"/>
                <a:cs typeface="Trebuchet MS" pitchFamily="34" charset="-120"/>
              </a:rPr>
              <a:t>TrialScreen is the </a:t>
            </a:r>
            <a:pPr algn="l" indent="0" marL="0">
              <a:lnSpc>
                <a:spcPct val="125000"/>
              </a:lnSpc>
              <a:buNone/>
            </a:pPr>
            <a:r>
              <a:rPr lang="en-US" sz="3400" b="1" spc="-50" kern="0" dirty="0">
                <a:solidFill>
                  <a:srgbClr val="C43C96"/>
                </a:solidFill>
                <a:latin typeface="Trebuchet MS" pitchFamily="34" charset="0"/>
                <a:ea typeface="Trebuchet MS" pitchFamily="34" charset="-122"/>
                <a:cs typeface="Trebuchet MS" pitchFamily="34" charset="-120"/>
              </a:rPr>
              <a:t>infrastructure layer</a:t>
            </a:r>
            <a:pPr algn="l" indent="0" marL="0">
              <a:lnSpc>
                <a:spcPct val="125000"/>
              </a:lnSpc>
              <a:buNone/>
            </a:pPr>
            <a:r>
              <a:rPr lang="en-US" sz="3400" spc="-50" kern="0" dirty="0">
                <a:solidFill>
                  <a:srgbClr val="2F3241"/>
                </a:solidFill>
                <a:latin typeface="Trebuchet MS" pitchFamily="34" charset="0"/>
                <a:ea typeface="Trebuchet MS" pitchFamily="34" charset="-122"/>
                <a:cs typeface="Trebuchet MS" pitchFamily="34" charset="-120"/>
              </a:rPr>
              <a:t>. Every actively recruiting clinical trial in the world, routed through one common system: </a:t>
            </a:r>
            <a:pPr algn="l" indent="0" marL="0">
              <a:lnSpc>
                <a:spcPct val="125000"/>
              </a:lnSpc>
              <a:buNone/>
            </a:pPr>
            <a:r>
              <a:rPr lang="en-US" sz="3400" b="1" spc="-50" kern="0" dirty="0">
                <a:solidFill>
                  <a:srgbClr val="773A96"/>
                </a:solidFill>
                <a:latin typeface="Trebuchet MS" pitchFamily="34" charset="0"/>
                <a:ea typeface="Trebuchet MS" pitchFamily="34" charset="-122"/>
                <a:cs typeface="Trebuchet MS" pitchFamily="34" charset="-120"/>
              </a:rPr>
              <a:t>registry ingestion</a:t>
            </a:r>
            <a:pPr algn="l" indent="0" marL="0">
              <a:lnSpc>
                <a:spcPct val="125000"/>
              </a:lnSpc>
              <a:buNone/>
            </a:pPr>
            <a:r>
              <a:rPr lang="en-US" sz="3400" spc="-50" kern="0" dirty="0">
                <a:solidFill>
                  <a:srgbClr val="2F3241"/>
                </a:solidFill>
                <a:latin typeface="Trebuchet MS" pitchFamily="34" charset="0"/>
                <a:ea typeface="Trebuchet MS" pitchFamily="34" charset="-122"/>
                <a:cs typeface="Trebuchet MS" pitchFamily="34" charset="-120"/>
              </a:rPr>
              <a:t>, </a:t>
            </a:r>
            <a:pPr algn="l" indent="0" marL="0">
              <a:lnSpc>
                <a:spcPct val="125000"/>
              </a:lnSpc>
              <a:buNone/>
            </a:pPr>
            <a:r>
              <a:rPr lang="en-US" sz="3400" b="1" spc="-50" kern="0" dirty="0">
                <a:solidFill>
                  <a:srgbClr val="773A96"/>
                </a:solidFill>
                <a:latin typeface="Trebuchet MS" pitchFamily="34" charset="0"/>
                <a:ea typeface="Trebuchet MS" pitchFamily="34" charset="-122"/>
                <a:cs typeface="Trebuchet MS" pitchFamily="34" charset="-120"/>
              </a:rPr>
              <a:t>discovery surfaces</a:t>
            </a:r>
            <a:pPr algn="l" indent="0" marL="0">
              <a:lnSpc>
                <a:spcPct val="125000"/>
              </a:lnSpc>
              <a:buNone/>
            </a:pPr>
            <a:r>
              <a:rPr lang="en-US" sz="3400" spc="-50" kern="0" dirty="0">
                <a:solidFill>
                  <a:srgbClr val="2F3241"/>
                </a:solidFill>
                <a:latin typeface="Trebuchet MS" pitchFamily="34" charset="0"/>
                <a:ea typeface="Trebuchet MS" pitchFamily="34" charset="-122"/>
                <a:cs typeface="Trebuchet MS" pitchFamily="34" charset="-120"/>
              </a:rPr>
              <a:t>, </a:t>
            </a:r>
            <a:pPr algn="l" indent="0" marL="0">
              <a:lnSpc>
                <a:spcPct val="125000"/>
              </a:lnSpc>
              <a:buNone/>
            </a:pPr>
            <a:r>
              <a:rPr lang="en-US" sz="3400" b="1" spc="-50" kern="0" dirty="0">
                <a:solidFill>
                  <a:srgbClr val="773A96"/>
                </a:solidFill>
                <a:latin typeface="Trebuchet MS" pitchFamily="34" charset="0"/>
                <a:ea typeface="Trebuchet MS" pitchFamily="34" charset="-122"/>
                <a:cs typeface="Trebuchet MS" pitchFamily="34" charset="-120"/>
              </a:rPr>
              <a:t>capture &amp; routing</a:t>
            </a:r>
            <a:pPr algn="l" indent="0" marL="0">
              <a:lnSpc>
                <a:spcPct val="125000"/>
              </a:lnSpc>
              <a:buNone/>
            </a:pPr>
            <a:r>
              <a:rPr lang="en-US" sz="3400" spc="-50" kern="0" dirty="0">
                <a:solidFill>
                  <a:srgbClr val="2F3241"/>
                </a:solidFill>
                <a:latin typeface="Trebuchet MS" pitchFamily="34" charset="0"/>
                <a:ea typeface="Trebuchet MS" pitchFamily="34" charset="-122"/>
                <a:cs typeface="Trebuchet MS" pitchFamily="34" charset="-120"/>
              </a:rPr>
              <a:t>, and </a:t>
            </a:r>
            <a:pPr algn="l" indent="0" marL="0">
              <a:lnSpc>
                <a:spcPct val="125000"/>
              </a:lnSpc>
              <a:buNone/>
            </a:pPr>
            <a:r>
              <a:rPr lang="en-US" sz="3400" b="1" spc="-50" kern="0" dirty="0">
                <a:solidFill>
                  <a:srgbClr val="773A96"/>
                </a:solidFill>
                <a:latin typeface="Trebuchet MS" pitchFamily="34" charset="0"/>
                <a:ea typeface="Trebuchet MS" pitchFamily="34" charset="-122"/>
                <a:cs typeface="Trebuchet MS" pitchFamily="34" charset="-120"/>
              </a:rPr>
              <a:t>analytics &amp; invoicing</a:t>
            </a:r>
            <a:pPr algn="l" indent="0" marL="0">
              <a:lnSpc>
                <a:spcPct val="125000"/>
              </a:lnSpc>
              <a:buNone/>
            </a:pPr>
            <a:r>
              <a:rPr lang="en-US" sz="3400" spc="-50" kern="0" dirty="0">
                <a:solidFill>
                  <a:srgbClr val="2F3241"/>
                </a:solidFill>
                <a:latin typeface="Trebuchet MS" pitchFamily="34" charset="0"/>
                <a:ea typeface="Trebuchet MS" pitchFamily="34" charset="-122"/>
                <a:cs typeface="Trebuchet MS" pitchFamily="34" charset="-120"/>
              </a:rPr>
              <a:t> — in one layer, instead of one thousand campaigns.</a:t>
            </a:r>
            <a:endParaRPr lang="en-US" sz="3400" dirty="0"/>
          </a:p>
        </p:txBody>
      </p:sp>
      <p:sp>
        <p:nvSpPr>
          <p:cNvPr id="4" name="Text 2"/>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5" name="Text 3"/>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6 / 25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0"/>
            <a:ext cx="5486400" cy="548640"/>
          </a:xfrm>
          <a:prstGeom prst="rect">
            <a:avLst/>
          </a:prstGeom>
          <a:noFill/>
          <a:ln/>
        </p:spPr>
        <p:txBody>
          <a:bodyPr wrap="square" rtlCol="0" anchor="ctr"/>
          <a:lstStyle/>
          <a:p>
            <a:pPr algn="l" indent="0" marL="0">
              <a:buNone/>
            </a:pPr>
            <a:r>
              <a:rPr lang="en-US" sz="2800" b="1" spc="-50" kern="0" dirty="0">
                <a:solidFill>
                  <a:srgbClr val="2F3241"/>
                </a:solidFill>
                <a:latin typeface="Trebuchet MS" pitchFamily="34" charset="0"/>
                <a:ea typeface="Trebuchet MS" pitchFamily="34" charset="-122"/>
                <a:cs typeface="Trebuchet MS" pitchFamily="34" charset="-120"/>
              </a:rPr>
              <a:t>How it works.</a:t>
            </a:r>
            <a:endParaRPr lang="en-US" sz="2800" dirty="0"/>
          </a:p>
        </p:txBody>
      </p:sp>
      <p:sp>
        <p:nvSpPr>
          <p:cNvPr id="3" name="Text 1"/>
          <p:cNvSpPr/>
          <p:nvPr/>
        </p:nvSpPr>
        <p:spPr>
          <a:xfrm>
            <a:off x="640080" y="731520"/>
            <a:ext cx="10972800" cy="1371600"/>
          </a:xfrm>
          <a:prstGeom prst="rect">
            <a:avLst/>
          </a:prstGeom>
          <a:noFill/>
          <a:ln/>
        </p:spPr>
        <p:txBody>
          <a:bodyPr wrap="square" rtlCol="0" anchor="ctr"/>
          <a:lstStyle/>
          <a:p>
            <a:pPr algn="l" indent="0" marL="0">
              <a:buNone/>
            </a:pPr>
            <a:r>
              <a:rPr lang="en-US" sz="3000" b="1" spc="-80" kern="0" dirty="0">
                <a:solidFill>
                  <a:srgbClr val="773A96"/>
                </a:solidFill>
                <a:latin typeface="Trebuchet MS" pitchFamily="34" charset="0"/>
                <a:ea typeface="Trebuchet MS" pitchFamily="34" charset="-122"/>
                <a:cs typeface="Trebuchet MS" pitchFamily="34" charset="-120"/>
              </a:rPr>
              <a:t>Registry  →  Surfaces  →  Rules  →  Routing  →  Delivery  →  Analytics.</a:t>
            </a:r>
            <a:endParaRPr lang="en-US" sz="3000" dirty="0"/>
          </a:p>
        </p:txBody>
      </p:sp>
      <p:sp>
        <p:nvSpPr>
          <p:cNvPr id="4" name="Text 2"/>
          <p:cNvSpPr/>
          <p:nvPr/>
        </p:nvSpPr>
        <p:spPr>
          <a:xfrm>
            <a:off x="640080" y="2377440"/>
            <a:ext cx="27432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FREE LAYER</a:t>
            </a:r>
            <a:endParaRPr lang="en-US" sz="1000" dirty="0"/>
          </a:p>
        </p:txBody>
      </p:sp>
      <p:sp>
        <p:nvSpPr>
          <p:cNvPr id="5" name="Text 3"/>
          <p:cNvSpPr/>
          <p:nvPr/>
        </p:nvSpPr>
        <p:spPr>
          <a:xfrm>
            <a:off x="640080" y="2697480"/>
            <a:ext cx="6217920" cy="2377440"/>
          </a:xfrm>
          <a:prstGeom prst="rect">
            <a:avLst/>
          </a:prstGeom>
          <a:noFill/>
          <a:ln/>
        </p:spPr>
        <p:txBody>
          <a:bodyPr wrap="square" rtlCol="0" anchor="t"/>
          <a:lstStyle/>
          <a:p>
            <a:pPr algn="l" indent="0" marL="0">
              <a:lnSpc>
                <a:spcPct val="140000"/>
              </a:lnSpc>
              <a:buNone/>
            </a:pPr>
            <a:r>
              <a:rPr lang="en-US" sz="1400" dirty="0">
                <a:solidFill>
                  <a:srgbClr val="2F3241"/>
                </a:solidFill>
                <a:latin typeface="Calibri" pitchFamily="34" charset="0"/>
                <a:ea typeface="Calibri" pitchFamily="34" charset="-122"/>
                <a:cs typeface="Calibri" pitchFamily="34" charset="-120"/>
              </a:rPr>
              <a:t>Five global registries ingested (ClinicalTrials.gov, EU CTR, ISRCTN, ANZCTR, ChiCTR) and normalised into multilingual, multi-voice patient-facing content. Five discovery surfaces route traffic through a single business-rules engine.</a:t>
            </a:r>
            <a:endParaRPr lang="en-US" sz="1400" dirty="0"/>
          </a:p>
        </p:txBody>
      </p:sp>
      <p:sp>
        <p:nvSpPr>
          <p:cNvPr id="6" name="Text 4"/>
          <p:cNvSpPr/>
          <p:nvPr/>
        </p:nvSpPr>
        <p:spPr>
          <a:xfrm>
            <a:off x="7589520" y="2377440"/>
            <a:ext cx="4114800" cy="274320"/>
          </a:xfrm>
          <a:prstGeom prst="rect">
            <a:avLst/>
          </a:prstGeom>
          <a:noFill/>
          <a:ln/>
        </p:spPr>
        <p:txBody>
          <a:bodyPr wrap="square" rtlCol="0" anchor="ctr"/>
          <a:lstStyle/>
          <a:p>
            <a:pPr indent="0" marL="0">
              <a:buNone/>
            </a:pPr>
            <a:r>
              <a:rPr lang="en-US" sz="1000" b="1" spc="400" kern="0" dirty="0">
                <a:solidFill>
                  <a:srgbClr val="C43C96"/>
                </a:solidFill>
                <a:latin typeface="Calibri" pitchFamily="34" charset="0"/>
                <a:ea typeface="Calibri" pitchFamily="34" charset="-122"/>
                <a:cs typeface="Calibri" pitchFamily="34" charset="-120"/>
              </a:rPr>
              <a:t>PAID LAYER</a:t>
            </a:r>
            <a:endParaRPr lang="en-US" sz="1000" dirty="0"/>
          </a:p>
        </p:txBody>
      </p:sp>
      <p:sp>
        <p:nvSpPr>
          <p:cNvPr id="7" name="Text 5"/>
          <p:cNvSpPr/>
          <p:nvPr/>
        </p:nvSpPr>
        <p:spPr>
          <a:xfrm>
            <a:off x="7589520" y="2697480"/>
            <a:ext cx="4023360" cy="2194560"/>
          </a:xfrm>
          <a:prstGeom prst="rect">
            <a:avLst/>
          </a:prstGeom>
          <a:noFill/>
          <a:ln/>
        </p:spPr>
        <p:txBody>
          <a:bodyPr wrap="square" rtlCol="0" anchor="t"/>
          <a:lstStyle/>
          <a:p>
            <a:pPr algn="l" indent="0" marL="0">
              <a:lnSpc>
                <a:spcPct val="140000"/>
              </a:lnSpc>
              <a:buNone/>
            </a:pPr>
            <a:r>
              <a:rPr lang="en-US" sz="1400" dirty="0">
                <a:solidFill>
                  <a:srgbClr val="2F3241"/>
                </a:solidFill>
                <a:latin typeface="Calibri" pitchFamily="34" charset="0"/>
                <a:ea typeface="Calibri" pitchFamily="34" charset="-122"/>
                <a:cs typeface="Calibri" pitchFamily="34" charset="-120"/>
              </a:rPr>
              <a:t>Pre-screening add-ons, demand creation, Custom TrialFinders, and patient-community management sit on top of the free layer as sponsor-paid modules.</a:t>
            </a:r>
            <a:endParaRPr lang="en-US" sz="1400" dirty="0"/>
          </a:p>
        </p:txBody>
      </p:sp>
      <p:sp>
        <p:nvSpPr>
          <p:cNvPr id="8" name="Shape 6"/>
          <p:cNvSpPr/>
          <p:nvPr/>
        </p:nvSpPr>
        <p:spPr>
          <a:xfrm>
            <a:off x="640080" y="5120640"/>
            <a:ext cx="10972800" cy="0"/>
          </a:xfrm>
          <a:prstGeom prst="line">
            <a:avLst/>
          </a:prstGeom>
          <a:noFill/>
          <a:ln w="9525">
            <a:solidFill>
              <a:srgbClr val="D8D2E4"/>
            </a:solidFill>
            <a:prstDash val="solid"/>
          </a:ln>
        </p:spPr>
      </p:sp>
      <p:sp>
        <p:nvSpPr>
          <p:cNvPr id="9" name="Text 7"/>
          <p:cNvSpPr/>
          <p:nvPr/>
        </p:nvSpPr>
        <p:spPr>
          <a:xfrm>
            <a:off x="640080" y="5257800"/>
            <a:ext cx="10972800" cy="320040"/>
          </a:xfrm>
          <a:prstGeom prst="rect">
            <a:avLst/>
          </a:prstGeom>
          <a:noFill/>
          <a:ln/>
        </p:spPr>
        <p:txBody>
          <a:bodyPr wrap="square" rtlCol="0" anchor="t"/>
          <a:lstStyle/>
          <a:p>
            <a:pPr algn="l" indent="0" marL="0">
              <a:buNone/>
            </a:pPr>
            <a:r>
              <a:rPr lang="en-US" sz="1200" i="1" dirty="0">
                <a:solidFill>
                  <a:srgbClr val="6B6880"/>
                </a:solidFill>
                <a:latin typeface="Calibri" pitchFamily="34" charset="0"/>
                <a:ea typeface="Calibri" pitchFamily="34" charset="-122"/>
                <a:cs typeface="Calibri" pitchFamily="34" charset="-120"/>
              </a:rPr>
              <a:t>Delivery channels: Secure email, TS.app, CTMS integration, API.</a:t>
            </a:r>
            <a:endParaRPr lang="en-US" sz="1200" dirty="0"/>
          </a:p>
        </p:txBody>
      </p:sp>
      <p:sp>
        <p:nvSpPr>
          <p:cNvPr id="10" name="Text 8"/>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1" name="Text 9"/>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7 / 25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72800" cy="640080"/>
          </a:xfrm>
          <a:prstGeom prst="rect">
            <a:avLst/>
          </a:prstGeom>
          <a:noFill/>
          <a:ln/>
        </p:spPr>
        <p:txBody>
          <a:bodyPr wrap="square" rtlCol="0" anchor="ctr"/>
          <a:lstStyle/>
          <a:p>
            <a:pPr algn="l" indent="0" marL="0">
              <a:buNone/>
            </a:pPr>
            <a:r>
              <a:rPr lang="en-US" sz="3000" b="1" spc="-50" kern="0" dirty="0">
                <a:solidFill>
                  <a:srgbClr val="2F3241"/>
                </a:solidFill>
                <a:latin typeface="Trebuchet MS" pitchFamily="34" charset="0"/>
                <a:ea typeface="Trebuchet MS" pitchFamily="34" charset="-122"/>
                <a:cs typeface="Trebuchet MS" pitchFamily="34" charset="-120"/>
              </a:rPr>
              <a:t>Real-world impact, today.</a:t>
            </a:r>
            <a:endParaRPr lang="en-US" sz="3000" dirty="0"/>
          </a:p>
        </p:txBody>
      </p:sp>
      <p:sp>
        <p:nvSpPr>
          <p:cNvPr id="3" name="Shape 1"/>
          <p:cNvSpPr/>
          <p:nvPr/>
        </p:nvSpPr>
        <p:spPr>
          <a:xfrm>
            <a:off x="640080" y="2103120"/>
            <a:ext cx="10972800" cy="0"/>
          </a:xfrm>
          <a:prstGeom prst="line">
            <a:avLst/>
          </a:prstGeom>
          <a:noFill/>
          <a:ln w="25400">
            <a:solidFill>
              <a:srgbClr val="773A96"/>
            </a:solidFill>
            <a:prstDash val="solid"/>
          </a:ln>
        </p:spPr>
      </p:sp>
      <p:sp>
        <p:nvSpPr>
          <p:cNvPr id="4" name="Text 2"/>
          <p:cNvSpPr/>
          <p:nvPr/>
        </p:nvSpPr>
        <p:spPr>
          <a:xfrm>
            <a:off x="640080" y="1645920"/>
            <a:ext cx="5029200" cy="457200"/>
          </a:xfrm>
          <a:prstGeom prst="rect">
            <a:avLst/>
          </a:prstGeom>
          <a:noFill/>
          <a:ln/>
        </p:spPr>
        <p:txBody>
          <a:bodyPr wrap="square" rtlCol="0" anchor="ctr"/>
          <a:lstStyle/>
          <a:p>
            <a:pPr algn="l" indent="0" marL="0">
              <a:buNone/>
            </a:pPr>
            <a:r>
              <a:rPr lang="en-US" sz="3000" b="1" spc="-80" kern="0" dirty="0">
                <a:solidFill>
                  <a:srgbClr val="2F3241"/>
                </a:solidFill>
                <a:latin typeface="Trebuchet MS" pitchFamily="34" charset="0"/>
                <a:ea typeface="Trebuchet MS" pitchFamily="34" charset="-122"/>
                <a:cs typeface="Trebuchet MS" pitchFamily="34" charset="-120"/>
              </a:rPr>
              <a:t>80–100k</a:t>
            </a:r>
            <a:endParaRPr lang="en-US" sz="3000" dirty="0"/>
          </a:p>
        </p:txBody>
      </p:sp>
      <p:sp>
        <p:nvSpPr>
          <p:cNvPr id="5" name="Text 3"/>
          <p:cNvSpPr/>
          <p:nvPr/>
        </p:nvSpPr>
        <p:spPr>
          <a:xfrm>
            <a:off x="640080" y="2148840"/>
            <a:ext cx="10972800" cy="365760"/>
          </a:xfrm>
          <a:prstGeom prst="rect">
            <a:avLst/>
          </a:prstGeom>
          <a:noFill/>
          <a:ln/>
        </p:spPr>
        <p:txBody>
          <a:bodyPr wrap="square" rtlCol="0" anchor="t"/>
          <a:lstStyle/>
          <a:p>
            <a:pPr algn="l" indent="0" marL="0">
              <a:buNone/>
            </a:pPr>
            <a:r>
              <a:rPr lang="en-US" sz="1300" dirty="0">
                <a:solidFill>
                  <a:srgbClr val="6B6880"/>
                </a:solidFill>
                <a:latin typeface="Calibri" pitchFamily="34" charset="0"/>
                <a:ea typeface="Calibri" pitchFamily="34" charset="-122"/>
                <a:cs typeface="Calibri" pitchFamily="34" charset="-120"/>
              </a:rPr>
              <a:t>unique monthly searches on TrialScreen.org</a:t>
            </a:r>
            <a:endParaRPr lang="en-US" sz="1300" dirty="0"/>
          </a:p>
        </p:txBody>
      </p:sp>
      <p:sp>
        <p:nvSpPr>
          <p:cNvPr id="6" name="Shape 4"/>
          <p:cNvSpPr/>
          <p:nvPr/>
        </p:nvSpPr>
        <p:spPr>
          <a:xfrm>
            <a:off x="640080" y="3017520"/>
            <a:ext cx="8686800" cy="0"/>
          </a:xfrm>
          <a:prstGeom prst="line">
            <a:avLst/>
          </a:prstGeom>
          <a:noFill/>
          <a:ln w="25400">
            <a:solidFill>
              <a:srgbClr val="773A96"/>
            </a:solidFill>
            <a:prstDash val="solid"/>
          </a:ln>
        </p:spPr>
      </p:sp>
      <p:sp>
        <p:nvSpPr>
          <p:cNvPr id="7" name="Text 5"/>
          <p:cNvSpPr/>
          <p:nvPr/>
        </p:nvSpPr>
        <p:spPr>
          <a:xfrm>
            <a:off x="640080" y="2560320"/>
            <a:ext cx="5029200" cy="457200"/>
          </a:xfrm>
          <a:prstGeom prst="rect">
            <a:avLst/>
          </a:prstGeom>
          <a:noFill/>
          <a:ln/>
        </p:spPr>
        <p:txBody>
          <a:bodyPr wrap="square" rtlCol="0" anchor="ctr"/>
          <a:lstStyle/>
          <a:p>
            <a:pPr algn="l" indent="0" marL="0">
              <a:buNone/>
            </a:pPr>
            <a:r>
              <a:rPr lang="en-US" sz="3000" b="1" spc="-80" kern="0" dirty="0">
                <a:solidFill>
                  <a:srgbClr val="2F3241"/>
                </a:solidFill>
                <a:latin typeface="Trebuchet MS" pitchFamily="34" charset="0"/>
                <a:ea typeface="Trebuchet MS" pitchFamily="34" charset="-122"/>
                <a:cs typeface="Trebuchet MS" pitchFamily="34" charset="-120"/>
              </a:rPr>
              <a:t>~20,000</a:t>
            </a:r>
            <a:endParaRPr lang="en-US" sz="3000" dirty="0"/>
          </a:p>
        </p:txBody>
      </p:sp>
      <p:sp>
        <p:nvSpPr>
          <p:cNvPr id="8" name="Text 6"/>
          <p:cNvSpPr/>
          <p:nvPr/>
        </p:nvSpPr>
        <p:spPr>
          <a:xfrm>
            <a:off x="640080" y="3063240"/>
            <a:ext cx="10972800" cy="365760"/>
          </a:xfrm>
          <a:prstGeom prst="rect">
            <a:avLst/>
          </a:prstGeom>
          <a:noFill/>
          <a:ln/>
        </p:spPr>
        <p:txBody>
          <a:bodyPr wrap="square" rtlCol="0" anchor="t"/>
          <a:lstStyle/>
          <a:p>
            <a:pPr algn="l" indent="0" marL="0">
              <a:buNone/>
            </a:pPr>
            <a:r>
              <a:rPr lang="en-US" sz="1300" dirty="0">
                <a:solidFill>
                  <a:srgbClr val="6B6880"/>
                </a:solidFill>
                <a:latin typeface="Calibri" pitchFamily="34" charset="0"/>
                <a:ea typeface="Calibri" pitchFamily="34" charset="-122"/>
                <a:cs typeface="Calibri" pitchFamily="34" charset="-120"/>
              </a:rPr>
              <a:t>monthly eligibility assessments completed</a:t>
            </a:r>
            <a:endParaRPr lang="en-US" sz="1300" dirty="0"/>
          </a:p>
        </p:txBody>
      </p:sp>
      <p:sp>
        <p:nvSpPr>
          <p:cNvPr id="9" name="Shape 7"/>
          <p:cNvSpPr/>
          <p:nvPr/>
        </p:nvSpPr>
        <p:spPr>
          <a:xfrm>
            <a:off x="640080" y="3931920"/>
            <a:ext cx="6858000" cy="0"/>
          </a:xfrm>
          <a:prstGeom prst="line">
            <a:avLst/>
          </a:prstGeom>
          <a:noFill/>
          <a:ln w="25400">
            <a:solidFill>
              <a:srgbClr val="773A96"/>
            </a:solidFill>
            <a:prstDash val="solid"/>
          </a:ln>
        </p:spPr>
      </p:sp>
      <p:sp>
        <p:nvSpPr>
          <p:cNvPr id="10" name="Text 8"/>
          <p:cNvSpPr/>
          <p:nvPr/>
        </p:nvSpPr>
        <p:spPr>
          <a:xfrm>
            <a:off x="640080" y="3474720"/>
            <a:ext cx="5029200" cy="457200"/>
          </a:xfrm>
          <a:prstGeom prst="rect">
            <a:avLst/>
          </a:prstGeom>
          <a:noFill/>
          <a:ln/>
        </p:spPr>
        <p:txBody>
          <a:bodyPr wrap="square" rtlCol="0" anchor="ctr"/>
          <a:lstStyle/>
          <a:p>
            <a:pPr algn="l" indent="0" marL="0">
              <a:buNone/>
            </a:pPr>
            <a:r>
              <a:rPr lang="en-US" sz="3000" b="1" spc="-80" kern="0" dirty="0">
                <a:solidFill>
                  <a:srgbClr val="2F3241"/>
                </a:solidFill>
                <a:latin typeface="Trebuchet MS" pitchFamily="34" charset="0"/>
                <a:ea typeface="Trebuchet MS" pitchFamily="34" charset="-122"/>
                <a:cs typeface="Trebuchet MS" pitchFamily="34" charset="-120"/>
              </a:rPr>
              <a:t>&gt;1,500</a:t>
            </a:r>
            <a:endParaRPr lang="en-US" sz="3000" dirty="0"/>
          </a:p>
        </p:txBody>
      </p:sp>
      <p:sp>
        <p:nvSpPr>
          <p:cNvPr id="11" name="Text 9"/>
          <p:cNvSpPr/>
          <p:nvPr/>
        </p:nvSpPr>
        <p:spPr>
          <a:xfrm>
            <a:off x="640080" y="3977640"/>
            <a:ext cx="10972800" cy="365760"/>
          </a:xfrm>
          <a:prstGeom prst="rect">
            <a:avLst/>
          </a:prstGeom>
          <a:noFill/>
          <a:ln/>
        </p:spPr>
        <p:txBody>
          <a:bodyPr wrap="square" rtlCol="0" anchor="t"/>
          <a:lstStyle/>
          <a:p>
            <a:pPr algn="l" indent="0" marL="0">
              <a:buNone/>
            </a:pPr>
            <a:r>
              <a:rPr lang="en-US" sz="1300" dirty="0">
                <a:solidFill>
                  <a:srgbClr val="6B6880"/>
                </a:solidFill>
                <a:latin typeface="Calibri" pitchFamily="34" charset="0"/>
                <a:ea typeface="Calibri" pitchFamily="34" charset="-122"/>
                <a:cs typeface="Calibri" pitchFamily="34" charset="-120"/>
              </a:rPr>
              <a:t>monthly qualified leads (passed eligibility + consented)</a:t>
            </a:r>
            <a:endParaRPr lang="en-US" sz="1300" dirty="0"/>
          </a:p>
        </p:txBody>
      </p:sp>
      <p:sp>
        <p:nvSpPr>
          <p:cNvPr id="12" name="Shape 10"/>
          <p:cNvSpPr/>
          <p:nvPr/>
        </p:nvSpPr>
        <p:spPr>
          <a:xfrm>
            <a:off x="640080" y="4846320"/>
            <a:ext cx="4572000" cy="0"/>
          </a:xfrm>
          <a:prstGeom prst="line">
            <a:avLst/>
          </a:prstGeom>
          <a:noFill/>
          <a:ln w="25400">
            <a:solidFill>
              <a:srgbClr val="773A96"/>
            </a:solidFill>
            <a:prstDash val="solid"/>
          </a:ln>
        </p:spPr>
      </p:sp>
      <p:sp>
        <p:nvSpPr>
          <p:cNvPr id="13" name="Text 11"/>
          <p:cNvSpPr/>
          <p:nvPr/>
        </p:nvSpPr>
        <p:spPr>
          <a:xfrm>
            <a:off x="640080" y="4389120"/>
            <a:ext cx="5029200" cy="457200"/>
          </a:xfrm>
          <a:prstGeom prst="rect">
            <a:avLst/>
          </a:prstGeom>
          <a:noFill/>
          <a:ln/>
        </p:spPr>
        <p:txBody>
          <a:bodyPr wrap="square" rtlCol="0" anchor="ctr"/>
          <a:lstStyle/>
          <a:p>
            <a:pPr algn="l" indent="0" marL="0">
              <a:buNone/>
            </a:pPr>
            <a:r>
              <a:rPr lang="en-US" sz="3000" b="1" spc="-80" kern="0" dirty="0">
                <a:solidFill>
                  <a:srgbClr val="2F3241"/>
                </a:solidFill>
                <a:latin typeface="Trebuchet MS" pitchFamily="34" charset="0"/>
                <a:ea typeface="Trebuchet MS" pitchFamily="34" charset="-122"/>
                <a:cs typeface="Trebuchet MS" pitchFamily="34" charset="-120"/>
              </a:rPr>
              <a:t>~20 / day</a:t>
            </a:r>
            <a:endParaRPr lang="en-US" sz="3000" dirty="0"/>
          </a:p>
        </p:txBody>
      </p:sp>
      <p:sp>
        <p:nvSpPr>
          <p:cNvPr id="14" name="Text 12"/>
          <p:cNvSpPr/>
          <p:nvPr/>
        </p:nvSpPr>
        <p:spPr>
          <a:xfrm>
            <a:off x="640080" y="4892040"/>
            <a:ext cx="10972800" cy="365760"/>
          </a:xfrm>
          <a:prstGeom prst="rect">
            <a:avLst/>
          </a:prstGeom>
          <a:noFill/>
          <a:ln/>
        </p:spPr>
        <p:txBody>
          <a:bodyPr wrap="square" rtlCol="0" anchor="t"/>
          <a:lstStyle/>
          <a:p>
            <a:pPr algn="l" indent="0" marL="0">
              <a:buNone/>
            </a:pPr>
            <a:r>
              <a:rPr lang="en-US" sz="1300" dirty="0">
                <a:solidFill>
                  <a:srgbClr val="6B6880"/>
                </a:solidFill>
                <a:latin typeface="Calibri" pitchFamily="34" charset="0"/>
                <a:ea typeface="Calibri" pitchFamily="34" charset="-122"/>
                <a:cs typeface="Calibri" pitchFamily="34" charset="-120"/>
              </a:rPr>
              <a:t>paid leads delivered to sponsors, CROs, and sites</a:t>
            </a:r>
            <a:endParaRPr lang="en-US" sz="1300" dirty="0"/>
          </a:p>
        </p:txBody>
      </p:sp>
      <p:sp>
        <p:nvSpPr>
          <p:cNvPr id="15" name="Shape 13"/>
          <p:cNvSpPr/>
          <p:nvPr/>
        </p:nvSpPr>
        <p:spPr>
          <a:xfrm>
            <a:off x="640080" y="5760720"/>
            <a:ext cx="2926080" cy="0"/>
          </a:xfrm>
          <a:prstGeom prst="line">
            <a:avLst/>
          </a:prstGeom>
          <a:noFill/>
          <a:ln w="25400">
            <a:solidFill>
              <a:srgbClr val="773A96"/>
            </a:solidFill>
            <a:prstDash val="solid"/>
          </a:ln>
        </p:spPr>
      </p:sp>
      <p:sp>
        <p:nvSpPr>
          <p:cNvPr id="16" name="Text 14"/>
          <p:cNvSpPr/>
          <p:nvPr/>
        </p:nvSpPr>
        <p:spPr>
          <a:xfrm>
            <a:off x="640080" y="5303520"/>
            <a:ext cx="5029200" cy="457200"/>
          </a:xfrm>
          <a:prstGeom prst="rect">
            <a:avLst/>
          </a:prstGeom>
          <a:noFill/>
          <a:ln/>
        </p:spPr>
        <p:txBody>
          <a:bodyPr wrap="square" rtlCol="0" anchor="ctr"/>
          <a:lstStyle/>
          <a:p>
            <a:pPr algn="l" indent="0" marL="0">
              <a:buNone/>
            </a:pPr>
            <a:r>
              <a:rPr lang="en-US" sz="3000" b="1" spc="-80" kern="0" dirty="0">
                <a:solidFill>
                  <a:srgbClr val="2F3241"/>
                </a:solidFill>
                <a:latin typeface="Trebuchet MS" pitchFamily="34" charset="0"/>
                <a:ea typeface="Trebuchet MS" pitchFamily="34" charset="-122"/>
                <a:cs typeface="Trebuchet MS" pitchFamily="34" charset="-120"/>
              </a:rPr>
              <a:t>&lt;24 hours</a:t>
            </a:r>
            <a:endParaRPr lang="en-US" sz="3000" dirty="0"/>
          </a:p>
        </p:txBody>
      </p:sp>
      <p:sp>
        <p:nvSpPr>
          <p:cNvPr id="17" name="Text 15"/>
          <p:cNvSpPr/>
          <p:nvPr/>
        </p:nvSpPr>
        <p:spPr>
          <a:xfrm>
            <a:off x="640080" y="5806440"/>
            <a:ext cx="10972800" cy="365760"/>
          </a:xfrm>
          <a:prstGeom prst="rect">
            <a:avLst/>
          </a:prstGeom>
          <a:noFill/>
          <a:ln/>
        </p:spPr>
        <p:txBody>
          <a:bodyPr wrap="square" rtlCol="0" anchor="t"/>
          <a:lstStyle/>
          <a:p>
            <a:pPr algn="l" indent="0" marL="0">
              <a:buNone/>
            </a:pPr>
            <a:r>
              <a:rPr lang="en-US" sz="1300" dirty="0">
                <a:solidFill>
                  <a:srgbClr val="6B6880"/>
                </a:solidFill>
                <a:latin typeface="Calibri" pitchFamily="34" charset="0"/>
                <a:ea typeface="Calibri" pitchFamily="34" charset="-122"/>
                <a:cs typeface="Calibri" pitchFamily="34" charset="-120"/>
              </a:rPr>
              <a:t>site engagement SLA from lead generation to first contact</a:t>
            </a:r>
            <a:endParaRPr lang="en-US" sz="1300" dirty="0"/>
          </a:p>
        </p:txBody>
      </p:sp>
      <p:sp>
        <p:nvSpPr>
          <p:cNvPr id="18" name="Text 16"/>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9" name="Text 17"/>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8 / 25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45720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THE MOAT</a:t>
            </a:r>
            <a:endParaRPr lang="en-US" sz="1000" dirty="0"/>
          </a:p>
        </p:txBody>
      </p:sp>
      <p:sp>
        <p:nvSpPr>
          <p:cNvPr id="3" name="Text 1"/>
          <p:cNvSpPr/>
          <p:nvPr/>
        </p:nvSpPr>
        <p:spPr>
          <a:xfrm>
            <a:off x="640080" y="1005840"/>
            <a:ext cx="4754880" cy="457200"/>
          </a:xfrm>
          <a:prstGeom prst="rect">
            <a:avLst/>
          </a:prstGeom>
          <a:noFill/>
          <a:ln/>
        </p:spPr>
        <p:txBody>
          <a:bodyPr wrap="square" rtlCol="0" anchor="ctr"/>
          <a:lstStyle/>
          <a:p>
            <a:pPr algn="l" indent="0" marL="0">
              <a:buNone/>
            </a:pPr>
            <a:r>
              <a:rPr lang="en-US" sz="2200" b="1" spc="-30" kern="0" dirty="0">
                <a:solidFill>
                  <a:srgbClr val="2F3241"/>
                </a:solidFill>
                <a:latin typeface="Trebuchet MS" pitchFamily="34" charset="0"/>
                <a:ea typeface="Trebuchet MS" pitchFamily="34" charset="-122"/>
                <a:cs typeface="Trebuchet MS" pitchFamily="34" charset="-120"/>
              </a:rPr>
              <a:t>Scleroderma @ Research Friends</a:t>
            </a:r>
            <a:endParaRPr lang="en-US" sz="2200" dirty="0"/>
          </a:p>
        </p:txBody>
      </p:sp>
      <p:sp>
        <p:nvSpPr>
          <p:cNvPr id="4" name="Text 2"/>
          <p:cNvSpPr/>
          <p:nvPr/>
        </p:nvSpPr>
        <p:spPr>
          <a:xfrm>
            <a:off x="640080" y="1508760"/>
            <a:ext cx="4754880" cy="320040"/>
          </a:xfrm>
          <a:prstGeom prst="rect">
            <a:avLst/>
          </a:prstGeom>
          <a:noFill/>
          <a:ln/>
        </p:spPr>
        <p:txBody>
          <a:bodyPr wrap="square" rtlCol="0" anchor="ctr"/>
          <a:lstStyle/>
          <a:p>
            <a:pPr algn="l" indent="0" marL="0">
              <a:buNone/>
            </a:pPr>
            <a:r>
              <a:rPr lang="en-US" sz="1300" i="1" dirty="0">
                <a:solidFill>
                  <a:srgbClr val="C43C96"/>
                </a:solidFill>
                <a:latin typeface="Calibri" pitchFamily="34" charset="0"/>
                <a:ea typeface="Calibri" pitchFamily="34" charset="-122"/>
                <a:cs typeface="Calibri" pitchFamily="34" charset="-120"/>
              </a:rPr>
              <a:t>with Scleroderma Australia.</a:t>
            </a:r>
            <a:endParaRPr lang="en-US" sz="1300" dirty="0"/>
          </a:p>
        </p:txBody>
      </p:sp>
      <p:sp>
        <p:nvSpPr>
          <p:cNvPr id="5" name="Text 3"/>
          <p:cNvSpPr/>
          <p:nvPr/>
        </p:nvSpPr>
        <p:spPr>
          <a:xfrm>
            <a:off x="640080" y="1965960"/>
            <a:ext cx="4754880" cy="3200400"/>
          </a:xfrm>
          <a:prstGeom prst="rect">
            <a:avLst/>
          </a:prstGeom>
          <a:noFill/>
          <a:ln/>
        </p:spPr>
        <p:txBody>
          <a:bodyPr wrap="square" rtlCol="0" anchor="t"/>
          <a:lstStyle/>
          <a:p>
            <a:pPr algn="l" indent="0" marL="0">
              <a:lnSpc>
                <a:spcPct val="150000"/>
              </a:lnSpc>
              <a:buNone/>
            </a:pPr>
            <a:r>
              <a:rPr lang="en-US" sz="1300" dirty="0">
                <a:solidFill>
                  <a:srgbClr val="2F3241"/>
                </a:solidFill>
                <a:latin typeface="Calibri" pitchFamily="34" charset="0"/>
                <a:ea typeface="Calibri" pitchFamily="34" charset="-122"/>
                <a:cs typeface="Calibri" pitchFamily="34" charset="-120"/>
              </a:rPr>
              <a:t>Co-branded condition community. Monthly virtual patient education. Two-way patient-researcher dialogue. Trial opportunities surfaced as relevant. Patient voice validated by the advocacy partner — never synthetic.</a:t>
            </a:r>
            <a:endParaRPr lang="en-US" sz="1300" dirty="0"/>
          </a:p>
        </p:txBody>
      </p:sp>
      <p:sp>
        <p:nvSpPr>
          <p:cNvPr id="6" name="Text 4"/>
          <p:cNvSpPr/>
          <p:nvPr/>
        </p:nvSpPr>
        <p:spPr>
          <a:xfrm>
            <a:off x="640080" y="5486400"/>
            <a:ext cx="4754880" cy="822960"/>
          </a:xfrm>
          <a:prstGeom prst="rect">
            <a:avLst/>
          </a:prstGeom>
          <a:noFill/>
          <a:ln/>
        </p:spPr>
        <p:txBody>
          <a:bodyPr wrap="square" rtlCol="0" anchor="t"/>
          <a:lstStyle/>
          <a:p>
            <a:pPr algn="l" indent="0" marL="0">
              <a:lnSpc>
                <a:spcPct val="140000"/>
              </a:lnSpc>
              <a:buNone/>
            </a:pPr>
            <a:r>
              <a:rPr lang="en-US" sz="1100" i="1" dirty="0">
                <a:solidFill>
                  <a:srgbClr val="6B6880"/>
                </a:solidFill>
                <a:latin typeface="Calibri" pitchFamily="34" charset="0"/>
                <a:ea typeface="Calibri" pitchFamily="34" charset="-122"/>
                <a:cs typeface="Calibri" pitchFamily="34" charset="-120"/>
              </a:rPr>
              <a:t>Evidence of lift vs. generic discovery: Scleroderma cohort read-out targeted Q3 2026.</a:t>
            </a:r>
            <a:endParaRPr lang="en-US" sz="1100" dirty="0"/>
          </a:p>
        </p:txBody>
      </p:sp>
      <p:sp>
        <p:nvSpPr>
          <p:cNvPr id="7" name="Shape 5"/>
          <p:cNvSpPr/>
          <p:nvPr/>
        </p:nvSpPr>
        <p:spPr>
          <a:xfrm>
            <a:off x="5852160" y="1005840"/>
            <a:ext cx="0" cy="5120640"/>
          </a:xfrm>
          <a:prstGeom prst="line">
            <a:avLst/>
          </a:prstGeom>
          <a:noFill/>
          <a:ln w="9525">
            <a:solidFill>
              <a:srgbClr val="D8D2E4"/>
            </a:solidFill>
            <a:prstDash val="solid"/>
          </a:ln>
        </p:spPr>
      </p:sp>
      <p:sp>
        <p:nvSpPr>
          <p:cNvPr id="8" name="Text 6"/>
          <p:cNvSpPr/>
          <p:nvPr/>
        </p:nvSpPr>
        <p:spPr>
          <a:xfrm>
            <a:off x="6217920" y="1371600"/>
            <a:ext cx="5486400" cy="4114800"/>
          </a:xfrm>
          <a:prstGeom prst="rect">
            <a:avLst/>
          </a:prstGeom>
          <a:noFill/>
          <a:ln/>
        </p:spPr>
        <p:txBody>
          <a:bodyPr wrap="square" rtlCol="0" anchor="ctr"/>
          <a:lstStyle/>
          <a:p>
            <a:pPr algn="l" indent="0" marL="0">
              <a:lnSpc>
                <a:spcPct val="130000"/>
              </a:lnSpc>
              <a:buNone/>
            </a:pPr>
            <a:r>
              <a:rPr lang="en-US" sz="2800" spc="-50" kern="0" dirty="0">
                <a:solidFill>
                  <a:srgbClr val="2F3241"/>
                </a:solidFill>
                <a:latin typeface="Trebuchet MS" pitchFamily="34" charset="0"/>
                <a:ea typeface="Trebuchet MS" pitchFamily="34" charset="-122"/>
                <a:cs typeface="Trebuchet MS" pitchFamily="34" charset="-120"/>
              </a:rPr>
              <a:t>“Community trust is years of slow work. It is the one asset the data-first consolidators cannot assemble with a cheque.”</a:t>
            </a:r>
            <a:endParaRPr lang="en-US" sz="2800" dirty="0"/>
          </a:p>
        </p:txBody>
      </p:sp>
      <p:sp>
        <p:nvSpPr>
          <p:cNvPr id="9" name="Text 7"/>
          <p:cNvSpPr/>
          <p:nvPr/>
        </p:nvSpPr>
        <p:spPr>
          <a:xfrm>
            <a:off x="6217920" y="5486400"/>
            <a:ext cx="5486400" cy="365760"/>
          </a:xfrm>
          <a:prstGeom prst="rect">
            <a:avLst/>
          </a:prstGeom>
          <a:noFill/>
          <a:ln/>
        </p:spPr>
        <p:txBody>
          <a:bodyPr wrap="square" rtlCol="0" anchor="t"/>
          <a:lstStyle/>
          <a:p>
            <a:pPr algn="l" indent="0" marL="0">
              <a:buNone/>
            </a:pPr>
            <a:r>
              <a:rPr lang="en-US" sz="1200" i="1" dirty="0">
                <a:solidFill>
                  <a:srgbClr val="6B6880"/>
                </a:solidFill>
                <a:latin typeface="Calibri" pitchFamily="34" charset="0"/>
                <a:ea typeface="Calibri" pitchFamily="34" charset="-122"/>
                <a:cs typeface="Calibri" pitchFamily="34" charset="-120"/>
              </a:rPr>
              <a:t>— on why this cannot be bought.</a:t>
            </a:r>
            <a:endParaRPr lang="en-US" sz="1200" dirty="0"/>
          </a:p>
        </p:txBody>
      </p:sp>
      <p:sp>
        <p:nvSpPr>
          <p:cNvPr id="10" name="Text 8"/>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1" name="Text 9"/>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9 / 25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72800" cy="640080"/>
          </a:xfrm>
          <a:prstGeom prst="rect">
            <a:avLst/>
          </a:prstGeom>
          <a:noFill/>
          <a:ln/>
        </p:spPr>
        <p:txBody>
          <a:bodyPr wrap="square" rtlCol="0" anchor="ctr"/>
          <a:lstStyle/>
          <a:p>
            <a:pPr algn="l" indent="0" marL="0">
              <a:buNone/>
            </a:pPr>
            <a:r>
              <a:rPr lang="en-US" sz="2800" b="1" spc="-50" kern="0" dirty="0">
                <a:solidFill>
                  <a:srgbClr val="2F3241"/>
                </a:solidFill>
                <a:latin typeface="Trebuchet MS" pitchFamily="34" charset="0"/>
                <a:ea typeface="Trebuchet MS" pitchFamily="34" charset="-122"/>
                <a:cs typeface="Trebuchet MS" pitchFamily="34" charset="-120"/>
              </a:rPr>
              <a:t>Why not Tempus, TriNetX, or IQVIA?</a:t>
            </a:r>
            <a:endParaRPr lang="en-US" sz="2800" dirty="0"/>
          </a:p>
        </p:txBody>
      </p:sp>
      <p:sp>
        <p:nvSpPr>
          <p:cNvPr id="3" name="Text 1"/>
          <p:cNvSpPr/>
          <p:nvPr/>
        </p:nvSpPr>
        <p:spPr>
          <a:xfrm>
            <a:off x="640080" y="1554480"/>
            <a:ext cx="2834640" cy="292608"/>
          </a:xfrm>
          <a:prstGeom prst="rect">
            <a:avLst/>
          </a:prstGeom>
          <a:noFill/>
          <a:ln/>
        </p:spPr>
        <p:txBody>
          <a:bodyPr wrap="square" rtlCol="0" anchor="ctr"/>
          <a:lstStyle/>
          <a:p>
            <a:pPr indent="0" marL="0">
              <a:buNone/>
            </a:pPr>
            <a:r>
              <a:rPr lang="en-US" sz="900" b="1" spc="300" kern="0" dirty="0">
                <a:solidFill>
                  <a:srgbClr val="773A96"/>
                </a:solidFill>
                <a:latin typeface="Calibri" pitchFamily="34" charset="0"/>
                <a:ea typeface="Calibri" pitchFamily="34" charset="-122"/>
                <a:cs typeface="Calibri" pitchFamily="34" charset="-120"/>
              </a:rPr>
              <a:t>DATA-FIRST CONSOLIDATORS</a:t>
            </a:r>
            <a:endParaRPr lang="en-US" sz="900" dirty="0"/>
          </a:p>
        </p:txBody>
      </p:sp>
      <p:sp>
        <p:nvSpPr>
          <p:cNvPr id="4" name="Text 2"/>
          <p:cNvSpPr/>
          <p:nvPr/>
        </p:nvSpPr>
        <p:spPr>
          <a:xfrm>
            <a:off x="640080" y="1874520"/>
            <a:ext cx="2834640" cy="502920"/>
          </a:xfrm>
          <a:prstGeom prst="rect">
            <a:avLst/>
          </a:prstGeom>
          <a:noFill/>
          <a:ln/>
        </p:spPr>
        <p:txBody>
          <a:bodyPr wrap="square" rtlCol="0" anchor="ctr"/>
          <a:lstStyle/>
          <a:p>
            <a:pPr indent="0" marL="0">
              <a:buNone/>
            </a:pPr>
            <a:r>
              <a:rPr lang="en-US" sz="1800" b="1" dirty="0">
                <a:solidFill>
                  <a:srgbClr val="2F3241"/>
                </a:solidFill>
                <a:latin typeface="Trebuchet MS" pitchFamily="34" charset="0"/>
                <a:ea typeface="Trebuchet MS" pitchFamily="34" charset="-122"/>
                <a:cs typeface="Trebuchet MS" pitchFamily="34" charset="-120"/>
              </a:rPr>
              <a:t>Tempus. TriNetX. IQVIA.</a:t>
            </a:r>
            <a:endParaRPr lang="en-US" sz="1800" dirty="0"/>
          </a:p>
        </p:txBody>
      </p:sp>
      <p:sp>
        <p:nvSpPr>
          <p:cNvPr id="5" name="Text 3"/>
          <p:cNvSpPr/>
          <p:nvPr/>
        </p:nvSpPr>
        <p:spPr>
          <a:xfrm>
            <a:off x="640080" y="2514600"/>
            <a:ext cx="2834640" cy="3017520"/>
          </a:xfrm>
          <a:prstGeom prst="rect">
            <a:avLst/>
          </a:prstGeom>
          <a:noFill/>
          <a:ln/>
        </p:spPr>
        <p:txBody>
          <a:bodyPr wrap="square" rtlCol="0" anchor="t"/>
          <a:lstStyle/>
          <a:p>
            <a:pPr algn="l" indent="0" marL="0">
              <a:lnSpc>
                <a:spcPct val="145000"/>
              </a:lnSpc>
              <a:buNone/>
            </a:pPr>
            <a:r>
              <a:rPr lang="en-US" sz="1200" dirty="0">
                <a:solidFill>
                  <a:srgbClr val="2F3241"/>
                </a:solidFill>
                <a:latin typeface="Calibri" pitchFamily="34" charset="0"/>
                <a:ea typeface="Calibri" pitchFamily="34" charset="-122"/>
                <a:cs typeface="Calibri" pitchFamily="34" charset="-120"/>
              </a:rPr>
              <a:t>Upstream of the patient. No patient-facing discovery. No community trust layer. If they launch discovery in 18 months, they still cannot close the community and workflow gaps in one roadmap cycle.</a:t>
            </a:r>
            <a:endParaRPr lang="en-US" sz="1200" dirty="0"/>
          </a:p>
        </p:txBody>
      </p:sp>
      <p:sp>
        <p:nvSpPr>
          <p:cNvPr id="6" name="Shape 4"/>
          <p:cNvSpPr/>
          <p:nvPr/>
        </p:nvSpPr>
        <p:spPr>
          <a:xfrm>
            <a:off x="3749040" y="1554480"/>
            <a:ext cx="0" cy="4114800"/>
          </a:xfrm>
          <a:prstGeom prst="line">
            <a:avLst/>
          </a:prstGeom>
          <a:noFill/>
          <a:ln w="9525">
            <a:solidFill>
              <a:srgbClr val="D8D2E4"/>
            </a:solidFill>
            <a:prstDash val="solid"/>
          </a:ln>
        </p:spPr>
      </p:sp>
      <p:sp>
        <p:nvSpPr>
          <p:cNvPr id="7" name="Text 5"/>
          <p:cNvSpPr/>
          <p:nvPr/>
        </p:nvSpPr>
        <p:spPr>
          <a:xfrm>
            <a:off x="3977640" y="1554480"/>
            <a:ext cx="3566160" cy="292608"/>
          </a:xfrm>
          <a:prstGeom prst="rect">
            <a:avLst/>
          </a:prstGeom>
          <a:noFill/>
          <a:ln/>
        </p:spPr>
        <p:txBody>
          <a:bodyPr wrap="square" rtlCol="0" anchor="ctr"/>
          <a:lstStyle/>
          <a:p>
            <a:pPr indent="0" marL="0">
              <a:buNone/>
            </a:pPr>
            <a:r>
              <a:rPr lang="en-US" sz="900" b="1" spc="300" kern="0" dirty="0">
                <a:solidFill>
                  <a:srgbClr val="773A96"/>
                </a:solidFill>
                <a:latin typeface="Calibri" pitchFamily="34" charset="0"/>
                <a:ea typeface="Calibri" pitchFamily="34" charset="-122"/>
                <a:cs typeface="Calibri" pitchFamily="34" charset="-120"/>
              </a:rPr>
              <a:t>CROs &amp; RECRUITMENT AGENCIES</a:t>
            </a:r>
            <a:endParaRPr lang="en-US" sz="900" dirty="0"/>
          </a:p>
        </p:txBody>
      </p:sp>
      <p:sp>
        <p:nvSpPr>
          <p:cNvPr id="8" name="Text 6"/>
          <p:cNvSpPr/>
          <p:nvPr/>
        </p:nvSpPr>
        <p:spPr>
          <a:xfrm>
            <a:off x="3977640" y="1874520"/>
            <a:ext cx="3566160" cy="502920"/>
          </a:xfrm>
          <a:prstGeom prst="rect">
            <a:avLst/>
          </a:prstGeom>
          <a:noFill/>
          <a:ln/>
        </p:spPr>
        <p:txBody>
          <a:bodyPr wrap="square" rtlCol="0" anchor="ctr"/>
          <a:lstStyle/>
          <a:p>
            <a:pPr indent="0" marL="0">
              <a:buNone/>
            </a:pPr>
            <a:r>
              <a:rPr lang="en-US" sz="1800" b="1" dirty="0">
                <a:solidFill>
                  <a:srgbClr val="2F3241"/>
                </a:solidFill>
                <a:latin typeface="Trebuchet MS" pitchFamily="34" charset="0"/>
                <a:ea typeface="Trebuchet MS" pitchFamily="34" charset="-122"/>
                <a:cs typeface="Trebuchet MS" pitchFamily="34" charset="-120"/>
              </a:rPr>
              <a:t>Acurian. WCG. AutoCruitment. Trialbee.</a:t>
            </a:r>
            <a:endParaRPr lang="en-US" sz="1800" dirty="0"/>
          </a:p>
        </p:txBody>
      </p:sp>
      <p:sp>
        <p:nvSpPr>
          <p:cNvPr id="9" name="Text 7"/>
          <p:cNvSpPr/>
          <p:nvPr/>
        </p:nvSpPr>
        <p:spPr>
          <a:xfrm>
            <a:off x="3977640" y="2514600"/>
            <a:ext cx="3566160" cy="3017520"/>
          </a:xfrm>
          <a:prstGeom prst="rect">
            <a:avLst/>
          </a:prstGeom>
          <a:noFill/>
          <a:ln/>
        </p:spPr>
        <p:txBody>
          <a:bodyPr wrap="square" rtlCol="0" anchor="t"/>
          <a:lstStyle/>
          <a:p>
            <a:pPr algn="l" indent="0" marL="0">
              <a:lnSpc>
                <a:spcPct val="145000"/>
              </a:lnSpc>
              <a:buNone/>
            </a:pPr>
            <a:r>
              <a:rPr lang="en-US" sz="1200" dirty="0">
                <a:solidFill>
                  <a:srgbClr val="2F3241"/>
                </a:solidFill>
                <a:latin typeface="Calibri" pitchFamily="34" charset="0"/>
                <a:ea typeface="Calibri" pitchFamily="34" charset="-122"/>
                <a:cs typeface="Calibri" pitchFamily="34" charset="-120"/>
              </a:rPr>
              <a:t>Operate trial-by-trial, bill for activity, end when the budget ends. No compounding, no community layer. Losing share to infrastructure-shaped competitors.</a:t>
            </a:r>
            <a:endParaRPr lang="en-US" sz="1200" dirty="0"/>
          </a:p>
        </p:txBody>
      </p:sp>
      <p:sp>
        <p:nvSpPr>
          <p:cNvPr id="10" name="Shape 8"/>
          <p:cNvSpPr/>
          <p:nvPr/>
        </p:nvSpPr>
        <p:spPr>
          <a:xfrm>
            <a:off x="7818120" y="1554480"/>
            <a:ext cx="0" cy="4114800"/>
          </a:xfrm>
          <a:prstGeom prst="line">
            <a:avLst/>
          </a:prstGeom>
          <a:noFill/>
          <a:ln w="9525">
            <a:solidFill>
              <a:srgbClr val="D8D2E4"/>
            </a:solidFill>
            <a:prstDash val="solid"/>
          </a:ln>
        </p:spPr>
      </p:sp>
      <p:sp>
        <p:nvSpPr>
          <p:cNvPr id="11" name="Text 9"/>
          <p:cNvSpPr/>
          <p:nvPr/>
        </p:nvSpPr>
        <p:spPr>
          <a:xfrm>
            <a:off x="8046720" y="1554480"/>
            <a:ext cx="4069080" cy="292608"/>
          </a:xfrm>
          <a:prstGeom prst="rect">
            <a:avLst/>
          </a:prstGeom>
          <a:noFill/>
          <a:ln/>
        </p:spPr>
        <p:txBody>
          <a:bodyPr wrap="square" rtlCol="0" anchor="ctr"/>
          <a:lstStyle/>
          <a:p>
            <a:pPr indent="0" marL="0">
              <a:buNone/>
            </a:pPr>
            <a:r>
              <a:rPr lang="en-US" sz="900" b="1" spc="300" kern="0" dirty="0">
                <a:solidFill>
                  <a:srgbClr val="C43C96"/>
                </a:solidFill>
                <a:latin typeface="Calibri" pitchFamily="34" charset="0"/>
                <a:ea typeface="Calibri" pitchFamily="34" charset="-122"/>
                <a:cs typeface="Calibri" pitchFamily="34" charset="-120"/>
              </a:rPr>
              <a:t>TRIALSCREEN</a:t>
            </a:r>
            <a:endParaRPr lang="en-US" sz="900" dirty="0"/>
          </a:p>
        </p:txBody>
      </p:sp>
      <p:sp>
        <p:nvSpPr>
          <p:cNvPr id="12" name="Text 10"/>
          <p:cNvSpPr/>
          <p:nvPr/>
        </p:nvSpPr>
        <p:spPr>
          <a:xfrm>
            <a:off x="8046720" y="1874520"/>
            <a:ext cx="4069080" cy="502920"/>
          </a:xfrm>
          <a:prstGeom prst="rect">
            <a:avLst/>
          </a:prstGeom>
          <a:noFill/>
          <a:ln/>
        </p:spPr>
        <p:txBody>
          <a:bodyPr wrap="square" rtlCol="0" anchor="ctr"/>
          <a:lstStyle/>
          <a:p>
            <a:pPr indent="0" marL="0">
              <a:buNone/>
            </a:pPr>
            <a:r>
              <a:rPr lang="en-US" sz="1800" b="1" dirty="0">
                <a:solidFill>
                  <a:srgbClr val="2F3241"/>
                </a:solidFill>
                <a:latin typeface="Trebuchet MS" pitchFamily="34" charset="0"/>
                <a:ea typeface="Trebuchet MS" pitchFamily="34" charset="-122"/>
                <a:cs typeface="Trebuchet MS" pitchFamily="34" charset="-120"/>
              </a:rPr>
              <a:t>The infrastructure layer.</a:t>
            </a:r>
            <a:endParaRPr lang="en-US" sz="1800" dirty="0"/>
          </a:p>
        </p:txBody>
      </p:sp>
      <p:sp>
        <p:nvSpPr>
          <p:cNvPr id="13" name="Text 11"/>
          <p:cNvSpPr/>
          <p:nvPr/>
        </p:nvSpPr>
        <p:spPr>
          <a:xfrm>
            <a:off x="8046720" y="2514600"/>
            <a:ext cx="4069080" cy="3017520"/>
          </a:xfrm>
          <a:prstGeom prst="rect">
            <a:avLst/>
          </a:prstGeom>
          <a:noFill/>
          <a:ln/>
        </p:spPr>
        <p:txBody>
          <a:bodyPr wrap="square" rtlCol="0" anchor="t"/>
          <a:lstStyle/>
          <a:p>
            <a:pPr algn="l" indent="0" marL="0">
              <a:lnSpc>
                <a:spcPct val="145000"/>
              </a:lnSpc>
              <a:buNone/>
            </a:pPr>
            <a:r>
              <a:rPr lang="en-US" sz="1200" dirty="0">
                <a:solidFill>
                  <a:srgbClr val="2F3241"/>
                </a:solidFill>
                <a:latin typeface="Calibri" pitchFamily="34" charset="0"/>
                <a:ea typeface="Calibri" pitchFamily="34" charset="-122"/>
                <a:cs typeface="Calibri" pitchFamily="34" charset="-120"/>
              </a:rPr>
              <a:t>Vendor-agnostic across sites, CROs, and sponsors. Community distribution through Research Friends partnerships. Workflow ubiquity across every site CTMS, sponsor procurement path, and CRO bid defence. Lead-quality economics that a bundled feature cannot match.</a:t>
            </a:r>
            <a:endParaRPr lang="en-US" sz="1200" dirty="0"/>
          </a:p>
        </p:txBody>
      </p:sp>
      <p:sp>
        <p:nvSpPr>
          <p:cNvPr id="14" name="Text 12"/>
          <p:cNvSpPr/>
          <p:nvPr/>
        </p:nvSpPr>
        <p:spPr>
          <a:xfrm>
            <a:off x="640080" y="5897880"/>
            <a:ext cx="10972800" cy="548640"/>
          </a:xfrm>
          <a:prstGeom prst="rect">
            <a:avLst/>
          </a:prstGeom>
          <a:noFill/>
          <a:ln/>
        </p:spPr>
        <p:txBody>
          <a:bodyPr wrap="square" rtlCol="0" anchor="t"/>
          <a:lstStyle/>
          <a:p>
            <a:pPr algn="l" indent="0" marL="0">
              <a:lnSpc>
                <a:spcPct val="140000"/>
              </a:lnSpc>
              <a:buNone/>
            </a:pPr>
            <a:r>
              <a:rPr lang="en-US" sz="1100" i="1" dirty="0">
                <a:solidFill>
                  <a:srgbClr val="6B6880"/>
                </a:solidFill>
                <a:latin typeface="Calibri" pitchFamily="34" charset="0"/>
                <a:ea typeface="Calibri" pitchFamily="34" charset="-122"/>
                <a:cs typeface="Calibri" pitchFamily="34" charset="-120"/>
              </a:rPr>
              <a:t>Honest: if none of community, ubiquity, or lead economics holds, the moat compresses to a niche feature company. That is the bet this round underwrites.</a:t>
            </a:r>
            <a:endParaRPr lang="en-US" sz="1100" dirty="0"/>
          </a:p>
        </p:txBody>
      </p:sp>
      <p:sp>
        <p:nvSpPr>
          <p:cNvPr id="15" name="Text 13"/>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6" name="Text 14"/>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10 / 25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9144000" cy="731520"/>
          </a:xfrm>
          <a:prstGeom prst="rect">
            <a:avLst/>
          </a:prstGeom>
          <a:noFill/>
          <a:ln/>
        </p:spPr>
        <p:txBody>
          <a:bodyPr wrap="square" rtlCol="0" anchor="ctr"/>
          <a:lstStyle/>
          <a:p>
            <a:pPr algn="l" indent="0" marL="0">
              <a:buNone/>
            </a:pPr>
            <a:r>
              <a:rPr lang="en-US" sz="4000" b="1" spc="-50" kern="0" dirty="0">
                <a:solidFill>
                  <a:srgbClr val="773A96"/>
                </a:solidFill>
                <a:latin typeface="Trebuchet MS" pitchFamily="34" charset="0"/>
                <a:ea typeface="Trebuchet MS" pitchFamily="34" charset="-122"/>
                <a:cs typeface="Trebuchet MS" pitchFamily="34" charset="-120"/>
              </a:rPr>
              <a:t>How we charge.</a:t>
            </a:r>
            <a:endParaRPr lang="en-US" sz="4000" dirty="0"/>
          </a:p>
        </p:txBody>
      </p:sp>
      <p:sp>
        <p:nvSpPr>
          <p:cNvPr id="3" name="Text 1"/>
          <p:cNvSpPr/>
          <p:nvPr/>
        </p:nvSpPr>
        <p:spPr>
          <a:xfrm>
            <a:off x="640080" y="1554480"/>
            <a:ext cx="10972800" cy="3108960"/>
          </a:xfrm>
          <a:prstGeom prst="rect">
            <a:avLst/>
          </a:prstGeom>
          <a:noFill/>
          <a:ln/>
        </p:spPr>
        <p:txBody>
          <a:bodyPr wrap="square" rtlCol="0" anchor="t"/>
          <a:lstStyle/>
          <a:p>
            <a:pPr algn="l" indent="0" marL="0">
              <a:lnSpc>
                <a:spcPct val="155000"/>
              </a:lnSpc>
              <a:buNone/>
            </a:pPr>
            <a:r>
              <a:rPr lang="en-US" sz="1700" b="1" dirty="0">
                <a:solidFill>
                  <a:srgbClr val="2F3241"/>
                </a:solidFill>
                <a:latin typeface="Calibri" pitchFamily="34" charset="0"/>
                <a:ea typeface="Calibri" pitchFamily="34" charset="-122"/>
                <a:cs typeface="Calibri" pitchFamily="34" charset="-120"/>
              </a:rPr>
              <a:t>Five lines, one platform. </a:t>
            </a:r>
            <a:pPr algn="l" indent="0" marL="0">
              <a:lnSpc>
                <a:spcPct val="155000"/>
              </a:lnSpc>
              <a:buNone/>
            </a:pPr>
            <a:r>
              <a:rPr lang="en-US" sz="1700" b="1" dirty="0">
                <a:solidFill>
                  <a:srgbClr val="773A96"/>
                </a:solidFill>
                <a:latin typeface="Calibri" pitchFamily="34" charset="0"/>
                <a:ea typeface="Calibri" pitchFamily="34" charset="-122"/>
                <a:cs typeface="Calibri" pitchFamily="34" charset="-120"/>
              </a:rPr>
              <a:t>Paid lead delivery</a:t>
            </a:r>
            <a:pPr algn="l" indent="0" marL="0">
              <a:lnSpc>
                <a:spcPct val="155000"/>
              </a:lnSpc>
              <a:buNone/>
            </a:pPr>
            <a:r>
              <a:rPr lang="en-US" sz="1700" dirty="0">
                <a:solidFill>
                  <a:srgbClr val="2F3241"/>
                </a:solidFill>
                <a:latin typeface="Calibri" pitchFamily="34" charset="0"/>
                <a:ea typeface="Calibri" pitchFamily="34" charset="-122"/>
                <a:cs typeface="Calibri" pitchFamily="34" charset="-120"/>
              </a:rPr>
              <a:t> at ~$138 per lead, contracted to sponsors, CROs, and sites, is the core revenue line today. </a:t>
            </a:r>
            <a:pPr algn="l" indent="0" marL="0">
              <a:lnSpc>
                <a:spcPct val="155000"/>
              </a:lnSpc>
              <a:buNone/>
            </a:pPr>
            <a:r>
              <a:rPr lang="en-US" sz="1700" b="1" dirty="0">
                <a:solidFill>
                  <a:srgbClr val="773A96"/>
                </a:solidFill>
                <a:latin typeface="Calibri" pitchFamily="34" charset="0"/>
                <a:ea typeface="Calibri" pitchFamily="34" charset="-122"/>
                <a:cs typeface="Calibri" pitchFamily="34" charset="-120"/>
              </a:rPr>
              <a:t>Pre-screening add-ons</a:t>
            </a:r>
            <a:pPr algn="l" indent="0" marL="0">
              <a:lnSpc>
                <a:spcPct val="155000"/>
              </a:lnSpc>
              <a:buNone/>
            </a:pPr>
            <a:r>
              <a:rPr lang="en-US" sz="1700" dirty="0">
                <a:solidFill>
                  <a:srgbClr val="2F3241"/>
                </a:solidFill>
                <a:latin typeface="Calibri" pitchFamily="34" charset="0"/>
                <a:ea typeface="Calibri" pitchFamily="34" charset="-122"/>
                <a:cs typeface="Calibri" pitchFamily="34" charset="-120"/>
              </a:rPr>
              <a:t> and </a:t>
            </a:r>
            <a:pPr algn="l" indent="0" marL="0">
              <a:lnSpc>
                <a:spcPct val="155000"/>
              </a:lnSpc>
              <a:buNone/>
            </a:pPr>
            <a:r>
              <a:rPr lang="en-US" sz="1700" b="1" dirty="0">
                <a:solidFill>
                  <a:srgbClr val="773A96"/>
                </a:solidFill>
                <a:latin typeface="Calibri" pitchFamily="34" charset="0"/>
                <a:ea typeface="Calibri" pitchFamily="34" charset="-122"/>
                <a:cs typeface="Calibri" pitchFamily="34" charset="-120"/>
              </a:rPr>
              <a:t>demand creation</a:t>
            </a:r>
            <a:pPr algn="l" indent="0" marL="0">
              <a:lnSpc>
                <a:spcPct val="155000"/>
              </a:lnSpc>
              <a:buNone/>
            </a:pPr>
            <a:r>
              <a:rPr lang="en-US" sz="1700" dirty="0">
                <a:solidFill>
                  <a:srgbClr val="2F3241"/>
                </a:solidFill>
                <a:latin typeface="Calibri" pitchFamily="34" charset="0"/>
                <a:ea typeface="Calibri" pitchFamily="34" charset="-122"/>
                <a:cs typeface="Calibri" pitchFamily="34" charset="-120"/>
              </a:rPr>
              <a:t> sit on top as sponsor-paid modules. </a:t>
            </a:r>
            <a:pPr algn="l" indent="0" marL="0">
              <a:lnSpc>
                <a:spcPct val="155000"/>
              </a:lnSpc>
              <a:buNone/>
            </a:pPr>
            <a:r>
              <a:rPr lang="en-US" sz="1700" b="1" dirty="0">
                <a:solidFill>
                  <a:srgbClr val="773A96"/>
                </a:solidFill>
                <a:latin typeface="Calibri" pitchFamily="34" charset="0"/>
                <a:ea typeface="Calibri" pitchFamily="34" charset="-122"/>
                <a:cs typeface="Calibri" pitchFamily="34" charset="-120"/>
              </a:rPr>
              <a:t>Custom TrialFinders</a:t>
            </a:r>
            <a:pPr algn="l" indent="0" marL="0">
              <a:lnSpc>
                <a:spcPct val="155000"/>
              </a:lnSpc>
              <a:buNone/>
            </a:pPr>
            <a:r>
              <a:rPr lang="en-US" sz="1700" dirty="0">
                <a:solidFill>
                  <a:srgbClr val="2F3241"/>
                </a:solidFill>
                <a:latin typeface="Calibri" pitchFamily="34" charset="0"/>
                <a:ea typeface="Calibri" pitchFamily="34" charset="-122"/>
                <a:cs typeface="Calibri" pitchFamily="34" charset="-120"/>
              </a:rPr>
              <a:t> are branded discovery widgets licensed to sponsors and institutions. </a:t>
            </a:r>
            <a:pPr algn="l" indent="0" marL="0">
              <a:lnSpc>
                <a:spcPct val="155000"/>
              </a:lnSpc>
              <a:buNone/>
            </a:pPr>
            <a:r>
              <a:rPr lang="en-US" sz="1700" b="1" dirty="0">
                <a:solidFill>
                  <a:srgbClr val="773A96"/>
                </a:solidFill>
                <a:latin typeface="Calibri" pitchFamily="34" charset="0"/>
                <a:ea typeface="Calibri" pitchFamily="34" charset="-122"/>
                <a:cs typeface="Calibri" pitchFamily="34" charset="-120"/>
              </a:rPr>
              <a:t>Patient-community management</a:t>
            </a:r>
            <a:pPr algn="l" indent="0" marL="0">
              <a:lnSpc>
                <a:spcPct val="155000"/>
              </a:lnSpc>
              <a:buNone/>
            </a:pPr>
            <a:r>
              <a:rPr lang="en-US" sz="1700" dirty="0">
                <a:solidFill>
                  <a:srgbClr val="2F3241"/>
                </a:solidFill>
                <a:latin typeface="Calibri" pitchFamily="34" charset="0"/>
                <a:ea typeface="Calibri" pitchFamily="34" charset="-122"/>
                <a:cs typeface="Calibri" pitchFamily="34" charset="-120"/>
              </a:rPr>
              <a:t> — the Research Friends layer — is licensed to advocacy partners and sponsors by condition. </a:t>
            </a:r>
            <a:pPr algn="l" indent="0" marL="0">
              <a:lnSpc>
                <a:spcPct val="155000"/>
              </a:lnSpc>
              <a:buNone/>
            </a:pPr>
            <a:r>
              <a:rPr lang="en-US" sz="1700" b="1" dirty="0">
                <a:solidFill>
                  <a:srgbClr val="773A96"/>
                </a:solidFill>
                <a:latin typeface="Calibri" pitchFamily="34" charset="0"/>
                <a:ea typeface="Calibri" pitchFamily="34" charset="-122"/>
                <a:cs typeface="Calibri" pitchFamily="34" charset="-120"/>
              </a:rPr>
              <a:t>Platform subscription</a:t>
            </a:r>
            <a:pPr algn="l" indent="0" marL="0">
              <a:lnSpc>
                <a:spcPct val="155000"/>
              </a:lnSpc>
              <a:buNone/>
            </a:pPr>
            <a:r>
              <a:rPr lang="en-US" sz="1700" dirty="0">
                <a:solidFill>
                  <a:srgbClr val="2F3241"/>
                </a:solidFill>
                <a:latin typeface="Calibri" pitchFamily="34" charset="0"/>
                <a:ea typeface="Calibri" pitchFamily="34" charset="-122"/>
                <a:cs typeface="Calibri" pitchFamily="34" charset="-120"/>
              </a:rPr>
              <a:t> at Stage 3+ enterprise accounts bundles the above into an MSA.</a:t>
            </a:r>
            <a:endParaRPr lang="en-US" sz="1700" dirty="0"/>
          </a:p>
        </p:txBody>
      </p:sp>
      <p:sp>
        <p:nvSpPr>
          <p:cNvPr id="4" name="Text 2"/>
          <p:cNvSpPr/>
          <p:nvPr/>
        </p:nvSpPr>
        <p:spPr>
          <a:xfrm>
            <a:off x="640080" y="4846320"/>
            <a:ext cx="5486400" cy="320040"/>
          </a:xfrm>
          <a:prstGeom prst="rect">
            <a:avLst/>
          </a:prstGeom>
          <a:noFill/>
          <a:ln/>
        </p:spPr>
        <p:txBody>
          <a:bodyPr wrap="square" rtlCol="0" anchor="ctr"/>
          <a:lstStyle/>
          <a:p>
            <a:pPr indent="0" marL="0">
              <a:buNone/>
            </a:pPr>
            <a:r>
              <a:rPr lang="en-US" sz="1300" b="1" spc="200" kern="0" dirty="0">
                <a:solidFill>
                  <a:srgbClr val="773A96"/>
                </a:solidFill>
                <a:latin typeface="Calibri" pitchFamily="34" charset="0"/>
                <a:ea typeface="Calibri" pitchFamily="34" charset="-122"/>
                <a:cs typeface="Calibri" pitchFamily="34" charset="-120"/>
              </a:rPr>
              <a:t>Who pays what.</a:t>
            </a:r>
            <a:endParaRPr lang="en-US" sz="1300" dirty="0"/>
          </a:p>
        </p:txBody>
      </p:sp>
      <p:sp>
        <p:nvSpPr>
          <p:cNvPr id="5" name="Text 3"/>
          <p:cNvSpPr/>
          <p:nvPr/>
        </p:nvSpPr>
        <p:spPr>
          <a:xfrm>
            <a:off x="640080" y="5212080"/>
            <a:ext cx="10972800" cy="1188720"/>
          </a:xfrm>
          <a:prstGeom prst="rect">
            <a:avLst/>
          </a:prstGeom>
          <a:noFill/>
          <a:ln/>
        </p:spPr>
        <p:txBody>
          <a:bodyPr wrap="square" rtlCol="0" anchor="t"/>
          <a:lstStyle/>
          <a:p>
            <a:pPr algn="l" indent="0" marL="0">
              <a:lnSpc>
                <a:spcPct val="145000"/>
              </a:lnSpc>
              <a:buNone/>
            </a:pPr>
            <a:r>
              <a:rPr lang="en-US" sz="1300" dirty="0">
                <a:solidFill>
                  <a:srgbClr val="2F3241"/>
                </a:solidFill>
                <a:latin typeface="Calibri" pitchFamily="34" charset="0"/>
                <a:ea typeface="Calibri" pitchFamily="34" charset="-122"/>
                <a:cs typeface="Calibri" pitchFamily="34" charset="-120"/>
              </a:rPr>
              <a:t>Sponsors and CROs pay for paid-lead volume, pre-screening, demand creation, and enterprise subscription. Sites pay for lead delivery through TS.app or CTMS integration. Advocacy partners do not pay — they are co-branded on Research Friends surfaces.</a:t>
            </a:r>
            <a:endParaRPr lang="en-US" sz="1300" dirty="0"/>
          </a:p>
        </p:txBody>
      </p:sp>
      <p:sp>
        <p:nvSpPr>
          <p:cNvPr id="6" name="Text 4"/>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7" name="Text 5"/>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11 / 25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UNIT ECONOMICS</a:t>
            </a:r>
            <a:endParaRPr lang="en-US" sz="1000" dirty="0"/>
          </a:p>
        </p:txBody>
      </p:sp>
      <p:sp>
        <p:nvSpPr>
          <p:cNvPr id="3" name="Text 1"/>
          <p:cNvSpPr/>
          <p:nvPr/>
        </p:nvSpPr>
        <p:spPr>
          <a:xfrm>
            <a:off x="640080" y="868680"/>
            <a:ext cx="10972800" cy="365760"/>
          </a:xfrm>
          <a:prstGeom prst="rect">
            <a:avLst/>
          </a:prstGeom>
          <a:noFill/>
          <a:ln/>
        </p:spPr>
        <p:txBody>
          <a:bodyPr wrap="square" rtlCol="0" anchor="ctr"/>
          <a:lstStyle/>
          <a:p>
            <a:pPr algn="l" indent="0" marL="0">
              <a:buNone/>
            </a:pPr>
            <a:r>
              <a:rPr lang="en-US" sz="1300" i="1" dirty="0">
                <a:solidFill>
                  <a:srgbClr val="6B6880"/>
                </a:solidFill>
                <a:latin typeface="Calibri" pitchFamily="34" charset="0"/>
                <a:ea typeface="Calibri" pitchFamily="34" charset="-122"/>
                <a:cs typeface="Calibri" pitchFamily="34" charset="-120"/>
              </a:rPr>
              <a:t>~20 paid leads / day × ~30 days = ~600 / month  →  ~$1M ARR / ~$83K MRR ÷ ~600 =</a:t>
            </a:r>
            <a:endParaRPr lang="en-US" sz="1300" dirty="0"/>
          </a:p>
        </p:txBody>
      </p:sp>
      <p:sp>
        <p:nvSpPr>
          <p:cNvPr id="4" name="Text 2"/>
          <p:cNvSpPr/>
          <p:nvPr/>
        </p:nvSpPr>
        <p:spPr>
          <a:xfrm>
            <a:off x="457200" y="1234440"/>
            <a:ext cx="5486400" cy="2377440"/>
          </a:xfrm>
          <a:prstGeom prst="rect">
            <a:avLst/>
          </a:prstGeom>
          <a:noFill/>
          <a:ln/>
        </p:spPr>
        <p:txBody>
          <a:bodyPr wrap="square" rtlCol="0" anchor="ctr"/>
          <a:lstStyle/>
          <a:p>
            <a:pPr algn="l" indent="0" marL="0">
              <a:buNone/>
            </a:pPr>
            <a:r>
              <a:rPr lang="en-US" sz="17000" b="1" spc="-600" kern="0" dirty="0">
                <a:solidFill>
                  <a:srgbClr val="2F3241"/>
                </a:solidFill>
                <a:latin typeface="Trebuchet MS" pitchFamily="34" charset="0"/>
                <a:ea typeface="Trebuchet MS" pitchFamily="34" charset="-122"/>
                <a:cs typeface="Trebuchet MS" pitchFamily="34" charset="-120"/>
              </a:rPr>
              <a:t>$138</a:t>
            </a:r>
            <a:endParaRPr lang="en-US" sz="17000" dirty="0"/>
          </a:p>
        </p:txBody>
      </p:sp>
      <p:sp>
        <p:nvSpPr>
          <p:cNvPr id="5" name="Shape 3"/>
          <p:cNvSpPr/>
          <p:nvPr/>
        </p:nvSpPr>
        <p:spPr>
          <a:xfrm>
            <a:off x="640080" y="3456432"/>
            <a:ext cx="1280160" cy="0"/>
          </a:xfrm>
          <a:prstGeom prst="line">
            <a:avLst/>
          </a:prstGeom>
          <a:noFill/>
          <a:ln w="28575">
            <a:solidFill>
              <a:srgbClr val="FFB01A"/>
            </a:solidFill>
            <a:prstDash val="solid"/>
          </a:ln>
        </p:spPr>
      </p:sp>
      <p:sp>
        <p:nvSpPr>
          <p:cNvPr id="6" name="Text 4"/>
          <p:cNvSpPr/>
          <p:nvPr/>
        </p:nvSpPr>
        <p:spPr>
          <a:xfrm>
            <a:off x="5943600" y="1783080"/>
            <a:ext cx="5486400" cy="1371600"/>
          </a:xfrm>
          <a:prstGeom prst="rect">
            <a:avLst/>
          </a:prstGeom>
          <a:noFill/>
          <a:ln/>
        </p:spPr>
        <p:txBody>
          <a:bodyPr wrap="square" rtlCol="0" anchor="ctr"/>
          <a:lstStyle/>
          <a:p>
            <a:pPr algn="l" indent="0" marL="0">
              <a:buNone/>
            </a:pPr>
            <a:r>
              <a:rPr lang="en-US" sz="2200" spc="-30" kern="0" dirty="0">
                <a:solidFill>
                  <a:srgbClr val="773A96"/>
                </a:solidFill>
                <a:latin typeface="Trebuchet MS" pitchFamily="34" charset="0"/>
                <a:ea typeface="Trebuchet MS" pitchFamily="34" charset="-122"/>
                <a:cs typeface="Trebuchet MS" pitchFamily="34" charset="-120"/>
              </a:rPr>
              <a:t>per paid lead, blended.</a:t>
            </a:r>
            <a:endParaRPr lang="en-US" sz="2200" dirty="0"/>
          </a:p>
        </p:txBody>
      </p:sp>
      <p:sp>
        <p:nvSpPr>
          <p:cNvPr id="7" name="Text 5"/>
          <p:cNvSpPr/>
          <p:nvPr/>
        </p:nvSpPr>
        <p:spPr>
          <a:xfrm>
            <a:off x="640080" y="3931920"/>
            <a:ext cx="2377440" cy="274320"/>
          </a:xfrm>
          <a:prstGeom prst="rect">
            <a:avLst/>
          </a:prstGeom>
          <a:noFill/>
          <a:ln/>
        </p:spPr>
        <p:txBody>
          <a:bodyPr wrap="square" rtlCol="0" anchor="ctr"/>
          <a:lstStyle/>
          <a:p>
            <a:pPr algn="l" indent="0" marL="0">
              <a:buNone/>
            </a:pPr>
            <a:r>
              <a:rPr lang="en-US" sz="1000" b="1" spc="200" kern="0" dirty="0">
                <a:solidFill>
                  <a:srgbClr val="6B6880"/>
                </a:solidFill>
                <a:latin typeface="Calibri" pitchFamily="34" charset="0"/>
                <a:ea typeface="Calibri" pitchFamily="34" charset="-122"/>
                <a:cs typeface="Calibri" pitchFamily="34" charset="-120"/>
              </a:rPr>
              <a:t>Metric</a:t>
            </a:r>
            <a:endParaRPr lang="en-US" sz="1000" dirty="0"/>
          </a:p>
        </p:txBody>
      </p:sp>
      <p:sp>
        <p:nvSpPr>
          <p:cNvPr id="8" name="Text 6"/>
          <p:cNvSpPr/>
          <p:nvPr/>
        </p:nvSpPr>
        <p:spPr>
          <a:xfrm>
            <a:off x="3017520" y="3931920"/>
            <a:ext cx="2743200" cy="274320"/>
          </a:xfrm>
          <a:prstGeom prst="rect">
            <a:avLst/>
          </a:prstGeom>
          <a:noFill/>
          <a:ln/>
        </p:spPr>
        <p:txBody>
          <a:bodyPr wrap="square" rtlCol="0" anchor="ctr"/>
          <a:lstStyle/>
          <a:p>
            <a:pPr algn="l" indent="0" marL="0">
              <a:buNone/>
            </a:pPr>
            <a:r>
              <a:rPr lang="en-US" sz="1000" b="1" spc="200" kern="0" dirty="0">
                <a:solidFill>
                  <a:srgbClr val="6B6880"/>
                </a:solidFill>
                <a:latin typeface="Calibri" pitchFamily="34" charset="0"/>
                <a:ea typeface="Calibri" pitchFamily="34" charset="-122"/>
                <a:cs typeface="Calibri" pitchFamily="34" charset="-120"/>
              </a:rPr>
              <a:t>Today</a:t>
            </a:r>
            <a:endParaRPr lang="en-US" sz="1000" dirty="0"/>
          </a:p>
        </p:txBody>
      </p:sp>
      <p:sp>
        <p:nvSpPr>
          <p:cNvPr id="9" name="Text 7"/>
          <p:cNvSpPr/>
          <p:nvPr/>
        </p:nvSpPr>
        <p:spPr>
          <a:xfrm>
            <a:off x="5760720" y="3931920"/>
            <a:ext cx="3291840" cy="274320"/>
          </a:xfrm>
          <a:prstGeom prst="rect">
            <a:avLst/>
          </a:prstGeom>
          <a:noFill/>
          <a:ln/>
        </p:spPr>
        <p:txBody>
          <a:bodyPr wrap="square" rtlCol="0" anchor="ctr"/>
          <a:lstStyle/>
          <a:p>
            <a:pPr algn="l" indent="0" marL="0">
              <a:buNone/>
            </a:pPr>
            <a:r>
              <a:rPr lang="en-US" sz="1000" b="1" spc="200" kern="0" dirty="0">
                <a:solidFill>
                  <a:srgbClr val="6B6880"/>
                </a:solidFill>
                <a:latin typeface="Calibri" pitchFamily="34" charset="0"/>
                <a:ea typeface="Calibri" pitchFamily="34" charset="-122"/>
                <a:cs typeface="Calibri" pitchFamily="34" charset="-120"/>
              </a:rPr>
              <a:t>End-2027 target</a:t>
            </a:r>
            <a:endParaRPr lang="en-US" sz="1000" dirty="0"/>
          </a:p>
        </p:txBody>
      </p:sp>
      <p:sp>
        <p:nvSpPr>
          <p:cNvPr id="10" name="Text 8"/>
          <p:cNvSpPr/>
          <p:nvPr/>
        </p:nvSpPr>
        <p:spPr>
          <a:xfrm>
            <a:off x="9052560" y="3931920"/>
            <a:ext cx="3200400" cy="274320"/>
          </a:xfrm>
          <a:prstGeom prst="rect">
            <a:avLst/>
          </a:prstGeom>
          <a:noFill/>
          <a:ln/>
        </p:spPr>
        <p:txBody>
          <a:bodyPr wrap="square" rtlCol="0" anchor="ctr"/>
          <a:lstStyle/>
          <a:p>
            <a:pPr algn="l" indent="0" marL="0">
              <a:buNone/>
            </a:pPr>
            <a:r>
              <a:rPr lang="en-US" sz="1000" b="1" spc="200" kern="0" dirty="0">
                <a:solidFill>
                  <a:srgbClr val="6B6880"/>
                </a:solidFill>
                <a:latin typeface="Calibri" pitchFamily="34" charset="0"/>
                <a:ea typeface="Calibri" pitchFamily="34" charset="-122"/>
                <a:cs typeface="Calibri" pitchFamily="34" charset="-120"/>
              </a:rPr>
              <a:t>Series B threshold</a:t>
            </a:r>
            <a:endParaRPr lang="en-US" sz="1000" dirty="0"/>
          </a:p>
        </p:txBody>
      </p:sp>
      <p:sp>
        <p:nvSpPr>
          <p:cNvPr id="11" name="Shape 9"/>
          <p:cNvSpPr/>
          <p:nvPr/>
        </p:nvSpPr>
        <p:spPr>
          <a:xfrm>
            <a:off x="640080" y="4251960"/>
            <a:ext cx="10972800" cy="0"/>
          </a:xfrm>
          <a:prstGeom prst="line">
            <a:avLst/>
          </a:prstGeom>
          <a:noFill/>
          <a:ln w="12700">
            <a:solidFill>
              <a:srgbClr val="E5DFF0"/>
            </a:solidFill>
            <a:prstDash val="solid"/>
          </a:ln>
        </p:spPr>
      </p:sp>
      <p:sp>
        <p:nvSpPr>
          <p:cNvPr id="12" name="Text 10"/>
          <p:cNvSpPr/>
          <p:nvPr/>
        </p:nvSpPr>
        <p:spPr>
          <a:xfrm>
            <a:off x="640080" y="4343400"/>
            <a:ext cx="2377440" cy="45720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Paid lead volume</a:t>
            </a:r>
            <a:endParaRPr lang="en-US" sz="1200" dirty="0"/>
          </a:p>
        </p:txBody>
      </p:sp>
      <p:sp>
        <p:nvSpPr>
          <p:cNvPr id="13" name="Text 11"/>
          <p:cNvSpPr/>
          <p:nvPr/>
        </p:nvSpPr>
        <p:spPr>
          <a:xfrm>
            <a:off x="3017520" y="4343400"/>
            <a:ext cx="2743200" cy="45720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~600 / month</a:t>
            </a:r>
            <a:endParaRPr lang="en-US" sz="1200" dirty="0"/>
          </a:p>
        </p:txBody>
      </p:sp>
      <p:sp>
        <p:nvSpPr>
          <p:cNvPr id="14" name="Text 12"/>
          <p:cNvSpPr/>
          <p:nvPr/>
        </p:nvSpPr>
        <p:spPr>
          <a:xfrm>
            <a:off x="5760720" y="4343400"/>
            <a:ext cx="3291840" cy="45720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2,000–2,500 / month</a:t>
            </a:r>
            <a:endParaRPr lang="en-US" sz="1200" dirty="0"/>
          </a:p>
        </p:txBody>
      </p:sp>
      <p:sp>
        <p:nvSpPr>
          <p:cNvPr id="15" name="Text 13"/>
          <p:cNvSpPr/>
          <p:nvPr/>
        </p:nvSpPr>
        <p:spPr>
          <a:xfrm>
            <a:off x="9052560" y="4343400"/>
            <a:ext cx="3200400" cy="45720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2,400+ / month</a:t>
            </a:r>
            <a:endParaRPr lang="en-US" sz="1200" dirty="0"/>
          </a:p>
        </p:txBody>
      </p:sp>
      <p:sp>
        <p:nvSpPr>
          <p:cNvPr id="16" name="Shape 14"/>
          <p:cNvSpPr/>
          <p:nvPr/>
        </p:nvSpPr>
        <p:spPr>
          <a:xfrm>
            <a:off x="640080" y="4837176"/>
            <a:ext cx="10972800" cy="0"/>
          </a:xfrm>
          <a:prstGeom prst="line">
            <a:avLst/>
          </a:prstGeom>
          <a:noFill/>
          <a:ln w="6350">
            <a:solidFill>
              <a:srgbClr val="E5DFF0"/>
            </a:solidFill>
            <a:prstDash val="solid"/>
          </a:ln>
        </p:spPr>
      </p:sp>
      <p:sp>
        <p:nvSpPr>
          <p:cNvPr id="17" name="Text 15"/>
          <p:cNvSpPr/>
          <p:nvPr/>
        </p:nvSpPr>
        <p:spPr>
          <a:xfrm>
            <a:off x="640080" y="4873752"/>
            <a:ext cx="2377440" cy="45720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Blended price / lead</a:t>
            </a:r>
            <a:endParaRPr lang="en-US" sz="1200" dirty="0"/>
          </a:p>
        </p:txBody>
      </p:sp>
      <p:sp>
        <p:nvSpPr>
          <p:cNvPr id="18" name="Text 16"/>
          <p:cNvSpPr/>
          <p:nvPr/>
        </p:nvSpPr>
        <p:spPr>
          <a:xfrm>
            <a:off x="3017520" y="4873752"/>
            <a:ext cx="2743200" cy="45720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~$138</a:t>
            </a:r>
            <a:endParaRPr lang="en-US" sz="1200" dirty="0"/>
          </a:p>
        </p:txBody>
      </p:sp>
      <p:sp>
        <p:nvSpPr>
          <p:cNvPr id="19" name="Text 17"/>
          <p:cNvSpPr/>
          <p:nvPr/>
        </p:nvSpPr>
        <p:spPr>
          <a:xfrm>
            <a:off x="5760720" y="4873752"/>
            <a:ext cx="3291840" cy="45720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~$138 + SaaS fees on top-10</a:t>
            </a:r>
            <a:endParaRPr lang="en-US" sz="1200" dirty="0"/>
          </a:p>
        </p:txBody>
      </p:sp>
      <p:sp>
        <p:nvSpPr>
          <p:cNvPr id="20" name="Text 18"/>
          <p:cNvSpPr/>
          <p:nvPr/>
        </p:nvSpPr>
        <p:spPr>
          <a:xfrm>
            <a:off x="9052560" y="4873752"/>
            <a:ext cx="3200400" cy="45720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≥$150 blended</a:t>
            </a:r>
            <a:endParaRPr lang="en-US" sz="1200" dirty="0"/>
          </a:p>
        </p:txBody>
      </p:sp>
      <p:sp>
        <p:nvSpPr>
          <p:cNvPr id="21" name="Shape 19"/>
          <p:cNvSpPr/>
          <p:nvPr/>
        </p:nvSpPr>
        <p:spPr>
          <a:xfrm>
            <a:off x="640080" y="5367528"/>
            <a:ext cx="10972800" cy="0"/>
          </a:xfrm>
          <a:prstGeom prst="line">
            <a:avLst/>
          </a:prstGeom>
          <a:noFill/>
          <a:ln w="6350">
            <a:solidFill>
              <a:srgbClr val="E5DFF0"/>
            </a:solidFill>
            <a:prstDash val="solid"/>
          </a:ln>
        </p:spPr>
      </p:sp>
      <p:sp>
        <p:nvSpPr>
          <p:cNvPr id="22" name="Text 20"/>
          <p:cNvSpPr/>
          <p:nvPr/>
        </p:nvSpPr>
        <p:spPr>
          <a:xfrm>
            <a:off x="640080" y="5404104"/>
            <a:ext cx="2377440" cy="45720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Gross margin</a:t>
            </a:r>
            <a:endParaRPr lang="en-US" sz="1200" dirty="0"/>
          </a:p>
        </p:txBody>
      </p:sp>
      <p:sp>
        <p:nvSpPr>
          <p:cNvPr id="23" name="Text 21"/>
          <p:cNvSpPr/>
          <p:nvPr/>
        </p:nvSpPr>
        <p:spPr>
          <a:xfrm>
            <a:off x="3017520" y="5404104"/>
            <a:ext cx="2743200" cy="45720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42–70% range</a:t>
            </a:r>
            <a:endParaRPr lang="en-US" sz="1200" dirty="0"/>
          </a:p>
        </p:txBody>
      </p:sp>
      <p:sp>
        <p:nvSpPr>
          <p:cNvPr id="24" name="Text 22"/>
          <p:cNvSpPr/>
          <p:nvPr/>
        </p:nvSpPr>
        <p:spPr>
          <a:xfrm>
            <a:off x="5760720" y="5404104"/>
            <a:ext cx="3291840" cy="45720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70%+ (infrastructure)</a:t>
            </a:r>
            <a:endParaRPr lang="en-US" sz="1200" dirty="0"/>
          </a:p>
        </p:txBody>
      </p:sp>
      <p:sp>
        <p:nvSpPr>
          <p:cNvPr id="25" name="Text 23"/>
          <p:cNvSpPr/>
          <p:nvPr/>
        </p:nvSpPr>
        <p:spPr>
          <a:xfrm>
            <a:off x="9052560" y="5404104"/>
            <a:ext cx="3200400" cy="45720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≥70%</a:t>
            </a:r>
            <a:endParaRPr lang="en-US" sz="1200" dirty="0"/>
          </a:p>
        </p:txBody>
      </p:sp>
      <p:sp>
        <p:nvSpPr>
          <p:cNvPr id="26" name="Shape 24"/>
          <p:cNvSpPr/>
          <p:nvPr/>
        </p:nvSpPr>
        <p:spPr>
          <a:xfrm>
            <a:off x="640080" y="5897880"/>
            <a:ext cx="10972800" cy="0"/>
          </a:xfrm>
          <a:prstGeom prst="line">
            <a:avLst/>
          </a:prstGeom>
          <a:noFill/>
          <a:ln w="6350">
            <a:solidFill>
              <a:srgbClr val="E5DFF0"/>
            </a:solidFill>
            <a:prstDash val="solid"/>
          </a:ln>
        </p:spPr>
      </p:sp>
      <p:sp>
        <p:nvSpPr>
          <p:cNvPr id="27" name="Text 25"/>
          <p:cNvSpPr/>
          <p:nvPr/>
        </p:nvSpPr>
        <p:spPr>
          <a:xfrm>
            <a:off x="640080" y="5934456"/>
            <a:ext cx="2377440" cy="45720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NRR</a:t>
            </a:r>
            <a:endParaRPr lang="en-US" sz="1200" dirty="0"/>
          </a:p>
        </p:txBody>
      </p:sp>
      <p:sp>
        <p:nvSpPr>
          <p:cNvPr id="28" name="Text 26"/>
          <p:cNvSpPr/>
          <p:nvPr/>
        </p:nvSpPr>
        <p:spPr>
          <a:xfrm>
            <a:off x="3017520" y="5934456"/>
            <a:ext cx="2743200" cy="45720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cohort read-out</a:t>
            </a:r>
            <a:endParaRPr lang="en-US" sz="1200" dirty="0"/>
          </a:p>
        </p:txBody>
      </p:sp>
      <p:sp>
        <p:nvSpPr>
          <p:cNvPr id="29" name="Text 27"/>
          <p:cNvSpPr/>
          <p:nvPr/>
        </p:nvSpPr>
        <p:spPr>
          <a:xfrm>
            <a:off x="5760720" y="5934456"/>
            <a:ext cx="3291840" cy="45720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≥110%</a:t>
            </a:r>
            <a:endParaRPr lang="en-US" sz="1200" dirty="0"/>
          </a:p>
        </p:txBody>
      </p:sp>
      <p:sp>
        <p:nvSpPr>
          <p:cNvPr id="30" name="Text 28"/>
          <p:cNvSpPr/>
          <p:nvPr/>
        </p:nvSpPr>
        <p:spPr>
          <a:xfrm>
            <a:off x="9052560" y="5934456"/>
            <a:ext cx="3200400" cy="45720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≥110%</a:t>
            </a:r>
            <a:endParaRPr lang="en-US" sz="1200" dirty="0"/>
          </a:p>
        </p:txBody>
      </p:sp>
      <p:sp>
        <p:nvSpPr>
          <p:cNvPr id="31" name="Shape 29"/>
          <p:cNvSpPr/>
          <p:nvPr/>
        </p:nvSpPr>
        <p:spPr>
          <a:xfrm>
            <a:off x="640080" y="6428232"/>
            <a:ext cx="10972800" cy="0"/>
          </a:xfrm>
          <a:prstGeom prst="line">
            <a:avLst/>
          </a:prstGeom>
          <a:noFill/>
          <a:ln w="6350">
            <a:solidFill>
              <a:srgbClr val="E5DFF0"/>
            </a:solidFill>
            <a:prstDash val="solid"/>
          </a:ln>
        </p:spPr>
      </p:sp>
      <p:sp>
        <p:nvSpPr>
          <p:cNvPr id="32" name="Text 30"/>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33" name="Text 31"/>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12 / 25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9144000" cy="640080"/>
          </a:xfrm>
          <a:prstGeom prst="rect">
            <a:avLst/>
          </a:prstGeom>
          <a:noFill/>
          <a:ln/>
        </p:spPr>
        <p:txBody>
          <a:bodyPr wrap="square" rtlCol="0" anchor="ctr"/>
          <a:lstStyle/>
          <a:p>
            <a:pPr algn="l" indent="0" marL="0">
              <a:buNone/>
            </a:pPr>
            <a:r>
              <a:rPr lang="en-US" sz="3200" b="1" spc="-50" kern="0" dirty="0">
                <a:solidFill>
                  <a:srgbClr val="2F3241"/>
                </a:solidFill>
                <a:latin typeface="Trebuchet MS" pitchFamily="34" charset="0"/>
                <a:ea typeface="Trebuchet MS" pitchFamily="34" charset="-122"/>
                <a:cs typeface="Trebuchet MS" pitchFamily="34" charset="-120"/>
              </a:rPr>
              <a:t>Land and expand.</a:t>
            </a:r>
            <a:endParaRPr lang="en-US" sz="3200" dirty="0"/>
          </a:p>
        </p:txBody>
      </p:sp>
      <p:sp>
        <p:nvSpPr>
          <p:cNvPr id="3" name="Text 1"/>
          <p:cNvSpPr/>
          <p:nvPr/>
        </p:nvSpPr>
        <p:spPr>
          <a:xfrm>
            <a:off x="640080" y="1188720"/>
            <a:ext cx="10972800" cy="320040"/>
          </a:xfrm>
          <a:prstGeom prst="rect">
            <a:avLst/>
          </a:prstGeom>
          <a:noFill/>
          <a:ln/>
        </p:spPr>
        <p:txBody>
          <a:bodyPr wrap="square" rtlCol="0" anchor="ctr"/>
          <a:lstStyle/>
          <a:p>
            <a:pPr algn="l" indent="0" marL="0">
              <a:buNone/>
            </a:pPr>
            <a:r>
              <a:rPr lang="en-US" sz="1300" i="1" dirty="0">
                <a:solidFill>
                  <a:srgbClr val="6B6880"/>
                </a:solidFill>
                <a:latin typeface="Calibri" pitchFamily="34" charset="0"/>
                <a:ea typeface="Calibri" pitchFamily="34" charset="-122"/>
                <a:cs typeface="Calibri" pitchFamily="34" charset="-120"/>
              </a:rPr>
              <a:t>From $50K pilot to $500K+ enterprise ACV — the mechanical path.</a:t>
            </a:r>
            <a:endParaRPr lang="en-US" sz="1300" dirty="0"/>
          </a:p>
        </p:txBody>
      </p:sp>
      <p:sp>
        <p:nvSpPr>
          <p:cNvPr id="4" name="Text 2"/>
          <p:cNvSpPr/>
          <p:nvPr/>
        </p:nvSpPr>
        <p:spPr>
          <a:xfrm>
            <a:off x="640080" y="1783080"/>
            <a:ext cx="10972800" cy="435254"/>
          </a:xfrm>
          <a:prstGeom prst="rect">
            <a:avLst/>
          </a:prstGeom>
          <a:noFill/>
          <a:ln/>
        </p:spPr>
        <p:txBody>
          <a:bodyPr wrap="square" rtlCol="0" anchor="t"/>
          <a:lstStyle/>
          <a:p>
            <a:pPr algn="l" indent="0" marL="0">
              <a:buNone/>
            </a:pPr>
            <a:r>
              <a:rPr lang="en-US" sz="2200" b="1" spc="-60" kern="0" dirty="0">
                <a:solidFill>
                  <a:srgbClr val="2F3241"/>
                </a:solidFill>
                <a:latin typeface="Trebuchet MS" pitchFamily="34" charset="0"/>
                <a:ea typeface="Trebuchet MS" pitchFamily="34" charset="-122"/>
                <a:cs typeface="Trebuchet MS" pitchFamily="34" charset="-120"/>
              </a:rPr>
              <a:t>Rescue Pilot  </a:t>
            </a:r>
            <a:pPr algn="l" indent="0" marL="0">
              <a:buNone/>
            </a:pPr>
            <a:r>
              <a:rPr lang="en-US" sz="2200" b="1" spc="-60" kern="0" dirty="0">
                <a:solidFill>
                  <a:srgbClr val="773A96"/>
                </a:solidFill>
                <a:latin typeface="Trebuchet MS" pitchFamily="34" charset="0"/>
                <a:ea typeface="Trebuchet MS" pitchFamily="34" charset="-122"/>
                <a:cs typeface="Trebuchet MS" pitchFamily="34" charset="-120"/>
              </a:rPr>
              <a:t>$25–50K</a:t>
            </a:r>
            <a:endParaRPr lang="en-US" sz="2200" dirty="0"/>
          </a:p>
        </p:txBody>
      </p:sp>
      <p:sp>
        <p:nvSpPr>
          <p:cNvPr id="5" name="Text 3"/>
          <p:cNvSpPr/>
          <p:nvPr/>
        </p:nvSpPr>
        <p:spPr>
          <a:xfrm>
            <a:off x="640080" y="2172614"/>
            <a:ext cx="10972800" cy="365760"/>
          </a:xfrm>
          <a:prstGeom prst="rect">
            <a:avLst/>
          </a:prstGeom>
          <a:noFill/>
          <a:ln/>
        </p:spPr>
        <p:txBody>
          <a:bodyPr wrap="square" rtlCol="0" anchor="t"/>
          <a:lstStyle/>
          <a:p>
            <a:pPr algn="l" indent="0" marL="0">
              <a:lnSpc>
                <a:spcPct val="130000"/>
              </a:lnSpc>
              <a:buNone/>
            </a:pPr>
            <a:r>
              <a:rPr lang="en-US" sz="1100" i="1" dirty="0">
                <a:solidFill>
                  <a:srgbClr val="6B6880"/>
                </a:solidFill>
                <a:latin typeface="Calibri" pitchFamily="34" charset="0"/>
                <a:ea typeface="Calibri" pitchFamily="34" charset="-122"/>
                <a:cs typeface="Calibri" pitchFamily="34" charset="-120"/>
              </a:rPr>
              <a:t>Single-trial recruitment rescue. Trigger: TTFP beat internal benchmark.</a:t>
            </a:r>
            <a:endParaRPr lang="en-US" sz="1100" dirty="0"/>
          </a:p>
        </p:txBody>
      </p:sp>
      <p:sp>
        <p:nvSpPr>
          <p:cNvPr id="6" name="Shape 4"/>
          <p:cNvSpPr/>
          <p:nvPr/>
        </p:nvSpPr>
        <p:spPr>
          <a:xfrm>
            <a:off x="640080" y="2602382"/>
            <a:ext cx="10972800" cy="0"/>
          </a:xfrm>
          <a:prstGeom prst="line">
            <a:avLst/>
          </a:prstGeom>
          <a:noFill/>
          <a:ln w="6350">
            <a:solidFill>
              <a:srgbClr val="E5DFF0"/>
            </a:solidFill>
            <a:prstDash val="solid"/>
          </a:ln>
        </p:spPr>
      </p:sp>
      <p:sp>
        <p:nvSpPr>
          <p:cNvPr id="7" name="Text 5"/>
          <p:cNvSpPr/>
          <p:nvPr/>
        </p:nvSpPr>
        <p:spPr>
          <a:xfrm>
            <a:off x="640080" y="2693822"/>
            <a:ext cx="10972800" cy="501091"/>
          </a:xfrm>
          <a:prstGeom prst="rect">
            <a:avLst/>
          </a:prstGeom>
          <a:noFill/>
          <a:ln/>
        </p:spPr>
        <p:txBody>
          <a:bodyPr wrap="square" rtlCol="0" anchor="t"/>
          <a:lstStyle/>
          <a:p>
            <a:pPr algn="l" indent="0" marL="0">
              <a:buNone/>
            </a:pPr>
            <a:r>
              <a:rPr lang="en-US" sz="2600" b="1" spc="-60" kern="0" dirty="0">
                <a:solidFill>
                  <a:srgbClr val="2F3241"/>
                </a:solidFill>
                <a:latin typeface="Trebuchet MS" pitchFamily="34" charset="0"/>
                <a:ea typeface="Trebuchet MS" pitchFamily="34" charset="-122"/>
                <a:cs typeface="Trebuchet MS" pitchFamily="34" charset="-120"/>
              </a:rPr>
              <a:t>Study Portfolio  </a:t>
            </a:r>
            <a:pPr algn="l" indent="0" marL="0">
              <a:buNone/>
            </a:pPr>
            <a:r>
              <a:rPr lang="en-US" sz="2600" b="1" spc="-60" kern="0" dirty="0">
                <a:solidFill>
                  <a:srgbClr val="773A96"/>
                </a:solidFill>
                <a:latin typeface="Trebuchet MS" pitchFamily="34" charset="0"/>
                <a:ea typeface="Trebuchet MS" pitchFamily="34" charset="-122"/>
                <a:cs typeface="Trebuchet MS" pitchFamily="34" charset="-120"/>
              </a:rPr>
              <a:t>$75–200K</a:t>
            </a:r>
            <a:endParaRPr lang="en-US" sz="2600" dirty="0"/>
          </a:p>
        </p:txBody>
      </p:sp>
      <p:sp>
        <p:nvSpPr>
          <p:cNvPr id="8" name="Text 6"/>
          <p:cNvSpPr/>
          <p:nvPr/>
        </p:nvSpPr>
        <p:spPr>
          <a:xfrm>
            <a:off x="640080" y="3149194"/>
            <a:ext cx="10972800" cy="365760"/>
          </a:xfrm>
          <a:prstGeom prst="rect">
            <a:avLst/>
          </a:prstGeom>
          <a:noFill/>
          <a:ln/>
        </p:spPr>
        <p:txBody>
          <a:bodyPr wrap="square" rtlCol="0" anchor="t"/>
          <a:lstStyle/>
          <a:p>
            <a:pPr algn="l" indent="0" marL="0">
              <a:lnSpc>
                <a:spcPct val="130000"/>
              </a:lnSpc>
              <a:buNone/>
            </a:pPr>
            <a:r>
              <a:rPr lang="en-US" sz="1100" i="1" dirty="0">
                <a:solidFill>
                  <a:srgbClr val="6B6880"/>
                </a:solidFill>
                <a:latin typeface="Calibri" pitchFamily="34" charset="0"/>
                <a:ea typeface="Calibri" pitchFamily="34" charset="-122"/>
                <a:cs typeface="Calibri" pitchFamily="34" charset="-120"/>
              </a:rPr>
              <a:t>2–4 trials in one therapeutic area. Trigger: CTMS or API integration signed.</a:t>
            </a:r>
            <a:endParaRPr lang="en-US" sz="1100" dirty="0"/>
          </a:p>
        </p:txBody>
      </p:sp>
      <p:sp>
        <p:nvSpPr>
          <p:cNvPr id="9" name="Shape 7"/>
          <p:cNvSpPr/>
          <p:nvPr/>
        </p:nvSpPr>
        <p:spPr>
          <a:xfrm>
            <a:off x="640080" y="3578962"/>
            <a:ext cx="10972800" cy="0"/>
          </a:xfrm>
          <a:prstGeom prst="line">
            <a:avLst/>
          </a:prstGeom>
          <a:noFill/>
          <a:ln w="6350">
            <a:solidFill>
              <a:srgbClr val="E5DFF0"/>
            </a:solidFill>
            <a:prstDash val="solid"/>
          </a:ln>
        </p:spPr>
      </p:sp>
      <p:sp>
        <p:nvSpPr>
          <p:cNvPr id="10" name="Text 8"/>
          <p:cNvSpPr/>
          <p:nvPr/>
        </p:nvSpPr>
        <p:spPr>
          <a:xfrm>
            <a:off x="640080" y="3670402"/>
            <a:ext cx="10972800" cy="566928"/>
          </a:xfrm>
          <a:prstGeom prst="rect">
            <a:avLst/>
          </a:prstGeom>
          <a:noFill/>
          <a:ln/>
        </p:spPr>
        <p:txBody>
          <a:bodyPr wrap="square" rtlCol="0" anchor="t"/>
          <a:lstStyle/>
          <a:p>
            <a:pPr algn="l" indent="0" marL="0">
              <a:buNone/>
            </a:pPr>
            <a:r>
              <a:rPr lang="en-US" sz="3000" b="1" spc="-60" kern="0" dirty="0">
                <a:solidFill>
                  <a:srgbClr val="2F3241"/>
                </a:solidFill>
                <a:latin typeface="Trebuchet MS" pitchFamily="34" charset="0"/>
                <a:ea typeface="Trebuchet MS" pitchFamily="34" charset="-122"/>
                <a:cs typeface="Trebuchet MS" pitchFamily="34" charset="-120"/>
              </a:rPr>
              <a:t>Preferred-vendor MSA  </a:t>
            </a:r>
            <a:pPr algn="l" indent="0" marL="0">
              <a:buNone/>
            </a:pPr>
            <a:r>
              <a:rPr lang="en-US" sz="3000" b="1" spc="-60" kern="0" dirty="0">
                <a:solidFill>
                  <a:srgbClr val="773A96"/>
                </a:solidFill>
                <a:latin typeface="Trebuchet MS" pitchFamily="34" charset="0"/>
                <a:ea typeface="Trebuchet MS" pitchFamily="34" charset="-122"/>
                <a:cs typeface="Trebuchet MS" pitchFamily="34" charset="-120"/>
              </a:rPr>
              <a:t>$200–400K</a:t>
            </a:r>
            <a:endParaRPr lang="en-US" sz="3000" dirty="0"/>
          </a:p>
        </p:txBody>
      </p:sp>
      <p:sp>
        <p:nvSpPr>
          <p:cNvPr id="11" name="Text 9"/>
          <p:cNvSpPr/>
          <p:nvPr/>
        </p:nvSpPr>
        <p:spPr>
          <a:xfrm>
            <a:off x="640080" y="4191610"/>
            <a:ext cx="10972800" cy="365760"/>
          </a:xfrm>
          <a:prstGeom prst="rect">
            <a:avLst/>
          </a:prstGeom>
          <a:noFill/>
          <a:ln/>
        </p:spPr>
        <p:txBody>
          <a:bodyPr wrap="square" rtlCol="0" anchor="t"/>
          <a:lstStyle/>
          <a:p>
            <a:pPr algn="l" indent="0" marL="0">
              <a:lnSpc>
                <a:spcPct val="130000"/>
              </a:lnSpc>
              <a:buNone/>
            </a:pPr>
            <a:r>
              <a:rPr lang="en-US" sz="1100" i="1" dirty="0">
                <a:solidFill>
                  <a:srgbClr val="6B6880"/>
                </a:solidFill>
                <a:latin typeface="Calibri" pitchFamily="34" charset="0"/>
                <a:ea typeface="Calibri" pitchFamily="34" charset="-122"/>
                <a:cs typeface="Calibri" pitchFamily="34" charset="-120"/>
              </a:rPr>
              <a:t>Enterprise MSA, multi-TA, volume discount tier. Trigger: Medical Affairs sign-off + SOC 2 Type II.</a:t>
            </a:r>
            <a:endParaRPr lang="en-US" sz="1100" dirty="0"/>
          </a:p>
        </p:txBody>
      </p:sp>
      <p:sp>
        <p:nvSpPr>
          <p:cNvPr id="12" name="Shape 10"/>
          <p:cNvSpPr/>
          <p:nvPr/>
        </p:nvSpPr>
        <p:spPr>
          <a:xfrm>
            <a:off x="640080" y="4621378"/>
            <a:ext cx="10972800" cy="0"/>
          </a:xfrm>
          <a:prstGeom prst="line">
            <a:avLst/>
          </a:prstGeom>
          <a:noFill/>
          <a:ln w="6350">
            <a:solidFill>
              <a:srgbClr val="E5DFF0"/>
            </a:solidFill>
            <a:prstDash val="solid"/>
          </a:ln>
        </p:spPr>
      </p:sp>
      <p:sp>
        <p:nvSpPr>
          <p:cNvPr id="13" name="Text 11"/>
          <p:cNvSpPr/>
          <p:nvPr/>
        </p:nvSpPr>
        <p:spPr>
          <a:xfrm>
            <a:off x="640080" y="4712818"/>
            <a:ext cx="10972800" cy="665683"/>
          </a:xfrm>
          <a:prstGeom prst="rect">
            <a:avLst/>
          </a:prstGeom>
          <a:noFill/>
          <a:ln/>
        </p:spPr>
        <p:txBody>
          <a:bodyPr wrap="square" rtlCol="0" anchor="t"/>
          <a:lstStyle/>
          <a:p>
            <a:pPr algn="l" indent="0" marL="0">
              <a:buNone/>
            </a:pPr>
            <a:r>
              <a:rPr lang="en-US" sz="3600" b="1" spc="-60" kern="0" dirty="0">
                <a:solidFill>
                  <a:srgbClr val="2F3241"/>
                </a:solidFill>
                <a:latin typeface="Trebuchet MS" pitchFamily="34" charset="0"/>
                <a:ea typeface="Trebuchet MS" pitchFamily="34" charset="-122"/>
                <a:cs typeface="Trebuchet MS" pitchFamily="34" charset="-120"/>
              </a:rPr>
              <a:t>Enterprise Platform Licence  </a:t>
            </a:r>
            <a:pPr algn="l" indent="0" marL="0">
              <a:buNone/>
            </a:pPr>
            <a:r>
              <a:rPr lang="en-US" sz="3600" b="1" spc="-60" kern="0" dirty="0">
                <a:solidFill>
                  <a:srgbClr val="773A96"/>
                </a:solidFill>
                <a:latin typeface="Trebuchet MS" pitchFamily="34" charset="0"/>
                <a:ea typeface="Trebuchet MS" pitchFamily="34" charset="-122"/>
                <a:cs typeface="Trebuchet MS" pitchFamily="34" charset="-120"/>
              </a:rPr>
              <a:t>$400–750K</a:t>
            </a:r>
            <a:endParaRPr lang="en-US" sz="3600" dirty="0"/>
          </a:p>
        </p:txBody>
      </p:sp>
      <p:sp>
        <p:nvSpPr>
          <p:cNvPr id="14" name="Text 12"/>
          <p:cNvSpPr/>
          <p:nvPr/>
        </p:nvSpPr>
        <p:spPr>
          <a:xfrm>
            <a:off x="640080" y="5332781"/>
            <a:ext cx="10972800" cy="365760"/>
          </a:xfrm>
          <a:prstGeom prst="rect">
            <a:avLst/>
          </a:prstGeom>
          <a:noFill/>
          <a:ln/>
        </p:spPr>
        <p:txBody>
          <a:bodyPr wrap="square" rtlCol="0" anchor="t"/>
          <a:lstStyle/>
          <a:p>
            <a:pPr algn="l" indent="0" marL="0">
              <a:lnSpc>
                <a:spcPct val="130000"/>
              </a:lnSpc>
              <a:buNone/>
            </a:pPr>
            <a:r>
              <a:rPr lang="en-US" sz="1100" i="1" dirty="0">
                <a:solidFill>
                  <a:srgbClr val="6B6880"/>
                </a:solidFill>
                <a:latin typeface="Calibri" pitchFamily="34" charset="0"/>
                <a:ea typeface="Calibri" pitchFamily="34" charset="-122"/>
                <a:cs typeface="Calibri" pitchFamily="34" charset="-120"/>
              </a:rPr>
              <a:t>Platform subscription + consumption lead fees + Research Friends community layer. Trigger: 2 successful trials + NRR ≥110%.</a:t>
            </a:r>
            <a:endParaRPr lang="en-US" sz="1100" dirty="0"/>
          </a:p>
        </p:txBody>
      </p:sp>
      <p:sp>
        <p:nvSpPr>
          <p:cNvPr id="15" name="Text 13"/>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6" name="Text 14"/>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13 / 25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31520"/>
            <a:ext cx="10972800" cy="411480"/>
          </a:xfrm>
          <a:prstGeom prst="rect">
            <a:avLst/>
          </a:prstGeom>
          <a:noFill/>
          <a:ln/>
        </p:spPr>
        <p:txBody>
          <a:bodyPr wrap="square" rtlCol="0" anchor="ctr"/>
          <a:lstStyle/>
          <a:p>
            <a:pPr algn="l" indent="0" marL="0">
              <a:buNone/>
            </a:pPr>
            <a:r>
              <a:rPr lang="en-US" sz="2000" b="1" spc="-30" kern="0" dirty="0">
                <a:solidFill>
                  <a:srgbClr val="773A96"/>
                </a:solidFill>
                <a:latin typeface="Trebuchet MS" pitchFamily="34" charset="0"/>
                <a:ea typeface="Trebuchet MS" pitchFamily="34" charset="-122"/>
                <a:cs typeface="Trebuchet MS" pitchFamily="34" charset="-120"/>
              </a:rPr>
              <a:t>Infrastructure, not campaigns.</a:t>
            </a:r>
            <a:endParaRPr lang="en-US" sz="2000" dirty="0"/>
          </a:p>
        </p:txBody>
      </p:sp>
      <p:sp>
        <p:nvSpPr>
          <p:cNvPr id="3" name="Text 1"/>
          <p:cNvSpPr/>
          <p:nvPr/>
        </p:nvSpPr>
        <p:spPr>
          <a:xfrm>
            <a:off x="640080" y="1188720"/>
            <a:ext cx="10972800" cy="685800"/>
          </a:xfrm>
          <a:prstGeom prst="rect">
            <a:avLst/>
          </a:prstGeom>
          <a:noFill/>
          <a:ln/>
        </p:spPr>
        <p:txBody>
          <a:bodyPr wrap="square" rtlCol="0" anchor="t"/>
          <a:lstStyle/>
          <a:p>
            <a:pPr algn="l" indent="0" marL="0">
              <a:lnSpc>
                <a:spcPct val="140000"/>
              </a:lnSpc>
              <a:buNone/>
            </a:pPr>
            <a:r>
              <a:rPr lang="en-US" sz="1400" dirty="0">
                <a:solidFill>
                  <a:srgbClr val="2F3241"/>
                </a:solidFill>
                <a:latin typeface="Calibri" pitchFamily="34" charset="0"/>
                <a:ea typeface="Calibri" pitchFamily="34" charset="-122"/>
                <a:cs typeface="Calibri" pitchFamily="34" charset="-120"/>
              </a:rPr>
              <a:t>Every ingested registry, every discovery surface, every sponsor routed through one layer — the asset compounds, where campaigns end.</a:t>
            </a:r>
            <a:endParaRPr lang="en-US" sz="1400" dirty="0"/>
          </a:p>
        </p:txBody>
      </p:sp>
      <p:sp>
        <p:nvSpPr>
          <p:cNvPr id="4" name="Text 2"/>
          <p:cNvSpPr/>
          <p:nvPr/>
        </p:nvSpPr>
        <p:spPr>
          <a:xfrm>
            <a:off x="640080" y="1938528"/>
            <a:ext cx="10972800" cy="411480"/>
          </a:xfrm>
          <a:prstGeom prst="rect">
            <a:avLst/>
          </a:prstGeom>
          <a:noFill/>
          <a:ln/>
        </p:spPr>
        <p:txBody>
          <a:bodyPr wrap="square" rtlCol="0" anchor="ctr"/>
          <a:lstStyle/>
          <a:p>
            <a:pPr algn="l" indent="0" marL="0">
              <a:buNone/>
            </a:pPr>
            <a:r>
              <a:rPr lang="en-US" sz="2000" b="1" spc="-30" kern="0" dirty="0">
                <a:solidFill>
                  <a:srgbClr val="773A96"/>
                </a:solidFill>
                <a:latin typeface="Trebuchet MS" pitchFamily="34" charset="0"/>
                <a:ea typeface="Trebuchet MS" pitchFamily="34" charset="-122"/>
                <a:cs typeface="Trebuchet MS" pitchFamily="34" charset="-120"/>
              </a:rPr>
              <a:t>Community that cannot be bought.</a:t>
            </a:r>
            <a:endParaRPr lang="en-US" sz="2000" dirty="0"/>
          </a:p>
        </p:txBody>
      </p:sp>
      <p:sp>
        <p:nvSpPr>
          <p:cNvPr id="5" name="Text 3"/>
          <p:cNvSpPr/>
          <p:nvPr/>
        </p:nvSpPr>
        <p:spPr>
          <a:xfrm>
            <a:off x="640080" y="2395728"/>
            <a:ext cx="10972800" cy="685800"/>
          </a:xfrm>
          <a:prstGeom prst="rect">
            <a:avLst/>
          </a:prstGeom>
          <a:noFill/>
          <a:ln/>
        </p:spPr>
        <p:txBody>
          <a:bodyPr wrap="square" rtlCol="0" anchor="t"/>
          <a:lstStyle/>
          <a:p>
            <a:pPr algn="l" indent="0" marL="0">
              <a:lnSpc>
                <a:spcPct val="140000"/>
              </a:lnSpc>
              <a:buNone/>
            </a:pPr>
            <a:r>
              <a:rPr lang="en-US" sz="1400" dirty="0">
                <a:solidFill>
                  <a:srgbClr val="2F3241"/>
                </a:solidFill>
                <a:latin typeface="Calibri" pitchFamily="34" charset="0"/>
                <a:ea typeface="Calibri" pitchFamily="34" charset="-122"/>
                <a:cs typeface="Calibri" pitchFamily="34" charset="-120"/>
              </a:rPr>
              <a:t>Research Friends is years of advocacy relationship work. A data-first consolidator with unlimited budget still cannot buy it in a roadmap cycle.</a:t>
            </a:r>
            <a:endParaRPr lang="en-US" sz="1400" dirty="0"/>
          </a:p>
        </p:txBody>
      </p:sp>
      <p:sp>
        <p:nvSpPr>
          <p:cNvPr id="6" name="Text 4"/>
          <p:cNvSpPr/>
          <p:nvPr/>
        </p:nvSpPr>
        <p:spPr>
          <a:xfrm>
            <a:off x="640080" y="3145536"/>
            <a:ext cx="10972800" cy="411480"/>
          </a:xfrm>
          <a:prstGeom prst="rect">
            <a:avLst/>
          </a:prstGeom>
          <a:noFill/>
          <a:ln/>
        </p:spPr>
        <p:txBody>
          <a:bodyPr wrap="square" rtlCol="0" anchor="ctr"/>
          <a:lstStyle/>
          <a:p>
            <a:pPr algn="l" indent="0" marL="0">
              <a:buNone/>
            </a:pPr>
            <a:r>
              <a:rPr lang="en-US" sz="2000" b="1" spc="-30" kern="0" dirty="0">
                <a:solidFill>
                  <a:srgbClr val="773A96"/>
                </a:solidFill>
                <a:latin typeface="Trebuchet MS" pitchFamily="34" charset="0"/>
                <a:ea typeface="Trebuchet MS" pitchFamily="34" charset="-122"/>
                <a:cs typeface="Trebuchet MS" pitchFamily="34" charset="-120"/>
              </a:rPr>
              <a:t>Workflow ubiquity.</a:t>
            </a:r>
            <a:endParaRPr lang="en-US" sz="2000" dirty="0"/>
          </a:p>
        </p:txBody>
      </p:sp>
      <p:sp>
        <p:nvSpPr>
          <p:cNvPr id="7" name="Text 5"/>
          <p:cNvSpPr/>
          <p:nvPr/>
        </p:nvSpPr>
        <p:spPr>
          <a:xfrm>
            <a:off x="640080" y="3602736"/>
            <a:ext cx="10972800" cy="685800"/>
          </a:xfrm>
          <a:prstGeom prst="rect">
            <a:avLst/>
          </a:prstGeom>
          <a:noFill/>
          <a:ln/>
        </p:spPr>
        <p:txBody>
          <a:bodyPr wrap="square" rtlCol="0" anchor="t"/>
          <a:lstStyle/>
          <a:p>
            <a:pPr algn="l" indent="0" marL="0">
              <a:lnSpc>
                <a:spcPct val="140000"/>
              </a:lnSpc>
              <a:buNone/>
            </a:pPr>
            <a:r>
              <a:rPr lang="en-US" sz="1400" dirty="0">
                <a:solidFill>
                  <a:srgbClr val="2F3241"/>
                </a:solidFill>
                <a:latin typeface="Calibri" pitchFamily="34" charset="0"/>
                <a:ea typeface="Calibri" pitchFamily="34" charset="-122"/>
                <a:cs typeface="Calibri" pitchFamily="34" charset="-120"/>
              </a:rPr>
              <a:t>Vendor-agnostic integration across every CTMS, every sponsor procurement path, every CRO bid defence. The bundled alternative is a feature, not a layer.</a:t>
            </a:r>
            <a:endParaRPr lang="en-US" sz="1400" dirty="0"/>
          </a:p>
        </p:txBody>
      </p:sp>
      <p:sp>
        <p:nvSpPr>
          <p:cNvPr id="8" name="Text 6"/>
          <p:cNvSpPr/>
          <p:nvPr/>
        </p:nvSpPr>
        <p:spPr>
          <a:xfrm>
            <a:off x="640080" y="4352544"/>
            <a:ext cx="10972800" cy="411480"/>
          </a:xfrm>
          <a:prstGeom prst="rect">
            <a:avLst/>
          </a:prstGeom>
          <a:noFill/>
          <a:ln/>
        </p:spPr>
        <p:txBody>
          <a:bodyPr wrap="square" rtlCol="0" anchor="ctr"/>
          <a:lstStyle/>
          <a:p>
            <a:pPr algn="l" indent="0" marL="0">
              <a:buNone/>
            </a:pPr>
            <a:r>
              <a:rPr lang="en-US" sz="2000" b="1" spc="-30" kern="0" dirty="0">
                <a:solidFill>
                  <a:srgbClr val="773A96"/>
                </a:solidFill>
                <a:latin typeface="Trebuchet MS" pitchFamily="34" charset="0"/>
                <a:ea typeface="Trebuchet MS" pitchFamily="34" charset="-122"/>
                <a:cs typeface="Trebuchet MS" pitchFamily="34" charset="-120"/>
              </a:rPr>
              <a:t>Team that has sat on every side.</a:t>
            </a:r>
            <a:endParaRPr lang="en-US" sz="2000" dirty="0"/>
          </a:p>
        </p:txBody>
      </p:sp>
      <p:sp>
        <p:nvSpPr>
          <p:cNvPr id="9" name="Text 7"/>
          <p:cNvSpPr/>
          <p:nvPr/>
        </p:nvSpPr>
        <p:spPr>
          <a:xfrm>
            <a:off x="640080" y="4809744"/>
            <a:ext cx="10972800" cy="685800"/>
          </a:xfrm>
          <a:prstGeom prst="rect">
            <a:avLst/>
          </a:prstGeom>
          <a:noFill/>
          <a:ln/>
        </p:spPr>
        <p:txBody>
          <a:bodyPr wrap="square" rtlCol="0" anchor="t"/>
          <a:lstStyle/>
          <a:p>
            <a:pPr algn="l" indent="0" marL="0">
              <a:lnSpc>
                <a:spcPct val="140000"/>
              </a:lnSpc>
              <a:buNone/>
            </a:pPr>
            <a:r>
              <a:rPr lang="en-US" sz="1400" dirty="0">
                <a:solidFill>
                  <a:srgbClr val="2F3241"/>
                </a:solidFill>
                <a:latin typeface="Calibri" pitchFamily="34" charset="0"/>
                <a:ea typeface="Calibri" pitchFamily="34" charset="-122"/>
                <a:cs typeface="Calibri" pitchFamily="34" charset="-120"/>
              </a:rPr>
              <a:t>DrugDev → IQVIA. Advarra. ACRP Board. The relationships and credibility are already in the room.</a:t>
            </a:r>
            <a:endParaRPr lang="en-US" sz="1400" dirty="0"/>
          </a:p>
        </p:txBody>
      </p:sp>
      <p:sp>
        <p:nvSpPr>
          <p:cNvPr id="10" name="Shape 8"/>
          <p:cNvSpPr/>
          <p:nvPr/>
        </p:nvSpPr>
        <p:spPr>
          <a:xfrm>
            <a:off x="640080" y="5806440"/>
            <a:ext cx="2286000" cy="0"/>
          </a:xfrm>
          <a:prstGeom prst="line">
            <a:avLst/>
          </a:prstGeom>
          <a:noFill/>
          <a:ln w="15875">
            <a:solidFill>
              <a:srgbClr val="773A96"/>
            </a:solidFill>
            <a:prstDash val="solid"/>
          </a:ln>
        </p:spPr>
      </p:sp>
      <p:sp>
        <p:nvSpPr>
          <p:cNvPr id="11" name="Text 9"/>
          <p:cNvSpPr/>
          <p:nvPr/>
        </p:nvSpPr>
        <p:spPr>
          <a:xfrm>
            <a:off x="640080" y="5897880"/>
            <a:ext cx="9144000" cy="457200"/>
          </a:xfrm>
          <a:prstGeom prst="rect">
            <a:avLst/>
          </a:prstGeom>
          <a:noFill/>
          <a:ln/>
        </p:spPr>
        <p:txBody>
          <a:bodyPr wrap="square" rtlCol="0" anchor="ctr"/>
          <a:lstStyle/>
          <a:p>
            <a:pPr algn="l" indent="0" marL="0">
              <a:buNone/>
            </a:pPr>
            <a:r>
              <a:rPr lang="en-US" sz="1400" b="1" spc="300" kern="0" dirty="0">
                <a:solidFill>
                  <a:srgbClr val="6B6880"/>
                </a:solidFill>
                <a:latin typeface="Calibri" pitchFamily="34" charset="0"/>
                <a:ea typeface="Calibri" pitchFamily="34" charset="-122"/>
                <a:cs typeface="Calibri" pitchFamily="34" charset="-120"/>
              </a:rPr>
              <a:t>Why this wins.</a:t>
            </a:r>
            <a:endParaRPr lang="en-US" sz="1400" dirty="0"/>
          </a:p>
        </p:txBody>
      </p:sp>
      <p:sp>
        <p:nvSpPr>
          <p:cNvPr id="12" name="Text 10"/>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3" name="Text 11"/>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14 / 25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9144000" cy="731520"/>
          </a:xfrm>
          <a:prstGeom prst="rect">
            <a:avLst/>
          </a:prstGeom>
          <a:noFill/>
          <a:ln/>
        </p:spPr>
        <p:txBody>
          <a:bodyPr wrap="square" rtlCol="0" anchor="ctr"/>
          <a:lstStyle/>
          <a:p>
            <a:pPr algn="l" indent="0" marL="0">
              <a:buNone/>
            </a:pPr>
            <a:r>
              <a:rPr lang="en-US" sz="4400" b="1" spc="-80" kern="0" dirty="0">
                <a:solidFill>
                  <a:srgbClr val="2F3241"/>
                </a:solidFill>
                <a:latin typeface="Trebuchet MS" pitchFamily="34" charset="0"/>
                <a:ea typeface="Trebuchet MS" pitchFamily="34" charset="-122"/>
                <a:cs typeface="Trebuchet MS" pitchFamily="34" charset="-120"/>
              </a:rPr>
              <a:t>Why now.</a:t>
            </a:r>
            <a:endParaRPr lang="en-US" sz="4400" dirty="0"/>
          </a:p>
        </p:txBody>
      </p:sp>
      <p:sp>
        <p:nvSpPr>
          <p:cNvPr id="3" name="Text 1"/>
          <p:cNvSpPr/>
          <p:nvPr/>
        </p:nvSpPr>
        <p:spPr>
          <a:xfrm>
            <a:off x="640080" y="1280160"/>
            <a:ext cx="10972800" cy="320040"/>
          </a:xfrm>
          <a:prstGeom prst="rect">
            <a:avLst/>
          </a:prstGeom>
          <a:noFill/>
          <a:ln/>
        </p:spPr>
        <p:txBody>
          <a:bodyPr wrap="square" rtlCol="0" anchor="ctr"/>
          <a:lstStyle/>
          <a:p>
            <a:pPr algn="l" indent="0" marL="0">
              <a:buNone/>
            </a:pPr>
            <a:r>
              <a:rPr lang="en-US" sz="1300" i="1" dirty="0">
                <a:solidFill>
                  <a:srgbClr val="6B6880"/>
                </a:solidFill>
                <a:latin typeface="Calibri" pitchFamily="34" charset="0"/>
                <a:ea typeface="Calibri" pitchFamily="34" charset="-122"/>
                <a:cs typeface="Calibri" pitchFamily="34" charset="-120"/>
              </a:rPr>
              <a:t>18–24 months before the larger players recognise the gap and move.</a:t>
            </a:r>
            <a:endParaRPr lang="en-US" sz="1300" dirty="0"/>
          </a:p>
        </p:txBody>
      </p:sp>
      <p:sp>
        <p:nvSpPr>
          <p:cNvPr id="4" name="Text 2"/>
          <p:cNvSpPr/>
          <p:nvPr/>
        </p:nvSpPr>
        <p:spPr>
          <a:xfrm>
            <a:off x="640080" y="1965960"/>
            <a:ext cx="640080" cy="457200"/>
          </a:xfrm>
          <a:prstGeom prst="rect">
            <a:avLst/>
          </a:prstGeom>
          <a:noFill/>
          <a:ln/>
        </p:spPr>
        <p:txBody>
          <a:bodyPr wrap="square" rtlCol="0" anchor="t"/>
          <a:lstStyle/>
          <a:p>
            <a:pPr algn="l" indent="0" marL="0">
              <a:buNone/>
            </a:pPr>
            <a:r>
              <a:rPr lang="en-US" sz="2000" b="1" dirty="0">
                <a:solidFill>
                  <a:srgbClr val="773A96"/>
                </a:solidFill>
                <a:latin typeface="Trebuchet MS" pitchFamily="34" charset="0"/>
                <a:ea typeface="Trebuchet MS" pitchFamily="34" charset="-122"/>
                <a:cs typeface="Trebuchet MS" pitchFamily="34" charset="-120"/>
              </a:rPr>
              <a:t>1.</a:t>
            </a:r>
            <a:endParaRPr lang="en-US" sz="2000" dirty="0"/>
          </a:p>
        </p:txBody>
      </p:sp>
      <p:sp>
        <p:nvSpPr>
          <p:cNvPr id="5" name="Text 3"/>
          <p:cNvSpPr/>
          <p:nvPr/>
        </p:nvSpPr>
        <p:spPr>
          <a:xfrm>
            <a:off x="1188720" y="1920240"/>
            <a:ext cx="10332720" cy="1005840"/>
          </a:xfrm>
          <a:prstGeom prst="rect">
            <a:avLst/>
          </a:prstGeom>
          <a:noFill/>
          <a:ln/>
        </p:spPr>
        <p:txBody>
          <a:bodyPr wrap="square" rtlCol="0" anchor="t"/>
          <a:lstStyle/>
          <a:p>
            <a:pPr algn="l" indent="0" marL="0">
              <a:lnSpc>
                <a:spcPct val="145000"/>
              </a:lnSpc>
              <a:buNone/>
            </a:pPr>
            <a:r>
              <a:rPr lang="en-US" sz="1500" dirty="0">
                <a:solidFill>
                  <a:srgbClr val="2F3241"/>
                </a:solidFill>
                <a:latin typeface="Calibri" pitchFamily="34" charset="0"/>
                <a:ea typeface="Calibri" pitchFamily="34" charset="-122"/>
                <a:cs typeface="Calibri" pitchFamily="34" charset="-120"/>
              </a:rPr>
              <a:t>AI-driven drug discovery expands the pipeline. Insilico rentosertib posted a positive Phase 2a in Nature Medicine, June 2025; Recursion and Isomorphic Labs are active. Base case: +15–35% trial volume over five years.</a:t>
            </a:r>
            <a:endParaRPr lang="en-US" sz="1500" dirty="0"/>
          </a:p>
        </p:txBody>
      </p:sp>
      <p:sp>
        <p:nvSpPr>
          <p:cNvPr id="6" name="Text 4"/>
          <p:cNvSpPr/>
          <p:nvPr/>
        </p:nvSpPr>
        <p:spPr>
          <a:xfrm>
            <a:off x="640080" y="3017520"/>
            <a:ext cx="640080" cy="457200"/>
          </a:xfrm>
          <a:prstGeom prst="rect">
            <a:avLst/>
          </a:prstGeom>
          <a:noFill/>
          <a:ln/>
        </p:spPr>
        <p:txBody>
          <a:bodyPr wrap="square" rtlCol="0" anchor="t"/>
          <a:lstStyle/>
          <a:p>
            <a:pPr algn="l" indent="0" marL="0">
              <a:buNone/>
            </a:pPr>
            <a:r>
              <a:rPr lang="en-US" sz="2000" b="1" dirty="0">
                <a:solidFill>
                  <a:srgbClr val="773A96"/>
                </a:solidFill>
                <a:latin typeface="Trebuchet MS" pitchFamily="34" charset="0"/>
                <a:ea typeface="Trebuchet MS" pitchFamily="34" charset="-122"/>
                <a:cs typeface="Trebuchet MS" pitchFamily="34" charset="-120"/>
              </a:rPr>
              <a:t>2.</a:t>
            </a:r>
            <a:endParaRPr lang="en-US" sz="2000" dirty="0"/>
          </a:p>
        </p:txBody>
      </p:sp>
      <p:sp>
        <p:nvSpPr>
          <p:cNvPr id="7" name="Text 5"/>
          <p:cNvSpPr/>
          <p:nvPr/>
        </p:nvSpPr>
        <p:spPr>
          <a:xfrm>
            <a:off x="1188720" y="2971800"/>
            <a:ext cx="10332720" cy="1005840"/>
          </a:xfrm>
          <a:prstGeom prst="rect">
            <a:avLst/>
          </a:prstGeom>
          <a:noFill/>
          <a:ln/>
        </p:spPr>
        <p:txBody>
          <a:bodyPr wrap="square" rtlCol="0" anchor="t"/>
          <a:lstStyle/>
          <a:p>
            <a:pPr algn="l" indent="0" marL="0">
              <a:lnSpc>
                <a:spcPct val="145000"/>
              </a:lnSpc>
              <a:buNone/>
            </a:pPr>
            <a:r>
              <a:rPr lang="en-US" sz="1500" dirty="0">
                <a:solidFill>
                  <a:srgbClr val="2F3241"/>
                </a:solidFill>
                <a:latin typeface="Calibri" pitchFamily="34" charset="0"/>
                <a:ea typeface="Calibri" pitchFamily="34" charset="-122"/>
                <a:cs typeface="Calibri" pitchFamily="34" charset="-120"/>
              </a:rPr>
              <a:t>Patients are searching online. LLM-based discovery is accelerating behaviour shift past the historic 5% self-identification rate.</a:t>
            </a:r>
            <a:endParaRPr lang="en-US" sz="1500" dirty="0"/>
          </a:p>
        </p:txBody>
      </p:sp>
      <p:sp>
        <p:nvSpPr>
          <p:cNvPr id="8" name="Text 6"/>
          <p:cNvSpPr/>
          <p:nvPr/>
        </p:nvSpPr>
        <p:spPr>
          <a:xfrm>
            <a:off x="640080" y="4069080"/>
            <a:ext cx="640080" cy="457200"/>
          </a:xfrm>
          <a:prstGeom prst="rect">
            <a:avLst/>
          </a:prstGeom>
          <a:noFill/>
          <a:ln/>
        </p:spPr>
        <p:txBody>
          <a:bodyPr wrap="square" rtlCol="0" anchor="t"/>
          <a:lstStyle/>
          <a:p>
            <a:pPr algn="l" indent="0" marL="0">
              <a:buNone/>
            </a:pPr>
            <a:r>
              <a:rPr lang="en-US" sz="2000" b="1" dirty="0">
                <a:solidFill>
                  <a:srgbClr val="773A96"/>
                </a:solidFill>
                <a:latin typeface="Trebuchet MS" pitchFamily="34" charset="0"/>
                <a:ea typeface="Trebuchet MS" pitchFamily="34" charset="-122"/>
                <a:cs typeface="Trebuchet MS" pitchFamily="34" charset="-120"/>
              </a:rPr>
              <a:t>3.</a:t>
            </a:r>
            <a:endParaRPr lang="en-US" sz="2000" dirty="0"/>
          </a:p>
        </p:txBody>
      </p:sp>
      <p:sp>
        <p:nvSpPr>
          <p:cNvPr id="9" name="Text 7"/>
          <p:cNvSpPr/>
          <p:nvPr/>
        </p:nvSpPr>
        <p:spPr>
          <a:xfrm>
            <a:off x="1188720" y="4023360"/>
            <a:ext cx="10332720" cy="1005840"/>
          </a:xfrm>
          <a:prstGeom prst="rect">
            <a:avLst/>
          </a:prstGeom>
          <a:noFill/>
          <a:ln/>
        </p:spPr>
        <p:txBody>
          <a:bodyPr wrap="square" rtlCol="0" anchor="t"/>
          <a:lstStyle/>
          <a:p>
            <a:pPr algn="l" indent="0" marL="0">
              <a:lnSpc>
                <a:spcPct val="145000"/>
              </a:lnSpc>
              <a:buNone/>
            </a:pPr>
            <a:r>
              <a:rPr lang="en-US" sz="1500" dirty="0">
                <a:solidFill>
                  <a:srgbClr val="2F3241"/>
                </a:solidFill>
                <a:latin typeface="Calibri" pitchFamily="34" charset="0"/>
                <a:ea typeface="Calibri" pitchFamily="34" charset="-122"/>
                <a:cs typeface="Calibri" pitchFamily="34" charset="-120"/>
              </a:rPr>
              <a:t>Delay cost is compounding. $600K–$8M per day on Phase III. Sponsors pay for velocity, not for another campaign.</a:t>
            </a:r>
            <a:endParaRPr lang="en-US" sz="1500" dirty="0"/>
          </a:p>
        </p:txBody>
      </p:sp>
      <p:sp>
        <p:nvSpPr>
          <p:cNvPr id="10" name="Text 8"/>
          <p:cNvSpPr/>
          <p:nvPr/>
        </p:nvSpPr>
        <p:spPr>
          <a:xfrm>
            <a:off x="640080" y="5120640"/>
            <a:ext cx="640080" cy="457200"/>
          </a:xfrm>
          <a:prstGeom prst="rect">
            <a:avLst/>
          </a:prstGeom>
          <a:noFill/>
          <a:ln/>
        </p:spPr>
        <p:txBody>
          <a:bodyPr wrap="square" rtlCol="0" anchor="t"/>
          <a:lstStyle/>
          <a:p>
            <a:pPr algn="l" indent="0" marL="0">
              <a:buNone/>
            </a:pPr>
            <a:r>
              <a:rPr lang="en-US" sz="2000" b="1" dirty="0">
                <a:solidFill>
                  <a:srgbClr val="773A96"/>
                </a:solidFill>
                <a:latin typeface="Trebuchet MS" pitchFamily="34" charset="0"/>
                <a:ea typeface="Trebuchet MS" pitchFamily="34" charset="-122"/>
                <a:cs typeface="Trebuchet MS" pitchFamily="34" charset="-120"/>
              </a:rPr>
              <a:t>4.</a:t>
            </a:r>
            <a:endParaRPr lang="en-US" sz="2000" dirty="0"/>
          </a:p>
        </p:txBody>
      </p:sp>
      <p:sp>
        <p:nvSpPr>
          <p:cNvPr id="11" name="Text 9"/>
          <p:cNvSpPr/>
          <p:nvPr/>
        </p:nvSpPr>
        <p:spPr>
          <a:xfrm>
            <a:off x="1188720" y="5074920"/>
            <a:ext cx="10332720" cy="1005840"/>
          </a:xfrm>
          <a:prstGeom prst="rect">
            <a:avLst/>
          </a:prstGeom>
          <a:noFill/>
          <a:ln/>
        </p:spPr>
        <p:txBody>
          <a:bodyPr wrap="square" rtlCol="0" anchor="t"/>
          <a:lstStyle/>
          <a:p>
            <a:pPr algn="l" indent="0" marL="0">
              <a:lnSpc>
                <a:spcPct val="145000"/>
              </a:lnSpc>
              <a:buNone/>
            </a:pPr>
            <a:r>
              <a:rPr lang="en-US" sz="1500" dirty="0">
                <a:solidFill>
                  <a:srgbClr val="2F3241"/>
                </a:solidFill>
                <a:latin typeface="Calibri" pitchFamily="34" charset="0"/>
                <a:ea typeface="Calibri" pitchFamily="34" charset="-122"/>
                <a:cs typeface="Calibri" pitchFamily="34" charset="-120"/>
              </a:rPr>
              <a:t>Site consolidation widens catchment pressure. Sponsors need discovery that spans sites, not one that sits inside them.</a:t>
            </a:r>
            <a:endParaRPr lang="en-US" sz="1500" dirty="0"/>
          </a:p>
        </p:txBody>
      </p:sp>
      <p:sp>
        <p:nvSpPr>
          <p:cNvPr id="12" name="Text 10"/>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3" name="Text 11"/>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15 / 25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72800" cy="685800"/>
          </a:xfrm>
          <a:prstGeom prst="rect">
            <a:avLst/>
          </a:prstGeom>
          <a:noFill/>
          <a:ln/>
        </p:spPr>
        <p:txBody>
          <a:bodyPr wrap="square" rtlCol="0" anchor="ctr"/>
          <a:lstStyle/>
          <a:p>
            <a:pPr algn="l" indent="0" marL="0">
              <a:buNone/>
            </a:pPr>
            <a:r>
              <a:rPr lang="en-US" sz="3400" b="1" spc="-50" kern="0" dirty="0">
                <a:solidFill>
                  <a:srgbClr val="2F3241"/>
                </a:solidFill>
                <a:latin typeface="Trebuchet MS" pitchFamily="34" charset="0"/>
                <a:ea typeface="Trebuchet MS" pitchFamily="34" charset="-122"/>
                <a:cs typeface="Trebuchet MS" pitchFamily="34" charset="-120"/>
              </a:rPr>
              <a:t>Path to profitability.</a:t>
            </a:r>
            <a:endParaRPr lang="en-US" sz="3400" dirty="0"/>
          </a:p>
        </p:txBody>
      </p:sp>
      <p:sp>
        <p:nvSpPr>
          <p:cNvPr id="3" name="Text 1"/>
          <p:cNvSpPr/>
          <p:nvPr/>
        </p:nvSpPr>
        <p:spPr>
          <a:xfrm>
            <a:off x="640080" y="1645920"/>
            <a:ext cx="2560320" cy="457200"/>
          </a:xfrm>
          <a:prstGeom prst="rect">
            <a:avLst/>
          </a:prstGeom>
          <a:noFill/>
          <a:ln/>
        </p:spPr>
        <p:txBody>
          <a:bodyPr wrap="square" rtlCol="0" anchor="ctr"/>
          <a:lstStyle/>
          <a:p>
            <a:pPr algn="l" indent="0" marL="0">
              <a:buNone/>
            </a:pPr>
            <a:r>
              <a:rPr lang="en-US" sz="1200" b="1" spc="300" kern="0" dirty="0">
                <a:solidFill>
                  <a:srgbClr val="6B6880"/>
                </a:solidFill>
                <a:latin typeface="Calibri" pitchFamily="34" charset="0"/>
                <a:ea typeface="Calibri" pitchFamily="34" charset="-122"/>
                <a:cs typeface="Calibri" pitchFamily="34" charset="-120"/>
              </a:rPr>
              <a:t>Today</a:t>
            </a:r>
            <a:endParaRPr lang="en-US" sz="1200" dirty="0"/>
          </a:p>
        </p:txBody>
      </p:sp>
      <p:sp>
        <p:nvSpPr>
          <p:cNvPr id="4" name="Text 2"/>
          <p:cNvSpPr/>
          <p:nvPr/>
        </p:nvSpPr>
        <p:spPr>
          <a:xfrm>
            <a:off x="3291840" y="1508760"/>
            <a:ext cx="4754880" cy="777240"/>
          </a:xfrm>
          <a:prstGeom prst="rect">
            <a:avLst/>
          </a:prstGeom>
          <a:noFill/>
          <a:ln/>
        </p:spPr>
        <p:txBody>
          <a:bodyPr wrap="square" rtlCol="0" anchor="ctr"/>
          <a:lstStyle/>
          <a:p>
            <a:pPr algn="l" indent="0" marL="0">
              <a:buNone/>
            </a:pPr>
            <a:r>
              <a:rPr lang="en-US" sz="4000" b="1" spc="-80" kern="0" dirty="0">
                <a:solidFill>
                  <a:srgbClr val="773A96"/>
                </a:solidFill>
                <a:latin typeface="Trebuchet MS" pitchFamily="34" charset="0"/>
                <a:ea typeface="Trebuchet MS" pitchFamily="34" charset="-122"/>
                <a:cs typeface="Trebuchet MS" pitchFamily="34" charset="-120"/>
              </a:rPr>
              <a:t>~$1M ARR</a:t>
            </a:r>
            <a:endParaRPr lang="en-US" sz="4000" dirty="0"/>
          </a:p>
        </p:txBody>
      </p:sp>
      <p:sp>
        <p:nvSpPr>
          <p:cNvPr id="5" name="Text 3"/>
          <p:cNvSpPr/>
          <p:nvPr/>
        </p:nvSpPr>
        <p:spPr>
          <a:xfrm>
            <a:off x="640080" y="2377440"/>
            <a:ext cx="10972800" cy="640080"/>
          </a:xfrm>
          <a:prstGeom prst="rect">
            <a:avLst/>
          </a:prstGeom>
          <a:noFill/>
          <a:ln/>
        </p:spPr>
        <p:txBody>
          <a:bodyPr wrap="square" rtlCol="0" anchor="t"/>
          <a:lstStyle/>
          <a:p>
            <a:pPr algn="l" indent="0" marL="0">
              <a:lnSpc>
                <a:spcPct val="140000"/>
              </a:lnSpc>
              <a:buNone/>
            </a:pPr>
            <a:r>
              <a:rPr lang="en-US" sz="1300" dirty="0">
                <a:solidFill>
                  <a:srgbClr val="2F3241"/>
                </a:solidFill>
                <a:latin typeface="Calibri" pitchFamily="34" charset="0"/>
                <a:ea typeface="Calibri" pitchFamily="34" charset="-122"/>
                <a:cs typeface="Calibri" pitchFamily="34" charset="-120"/>
              </a:rPr>
              <a:t>~600 paid leads per month at ~$138 blended. Revenue-generating across sponsors, CROs, and sites.</a:t>
            </a:r>
            <a:endParaRPr lang="en-US" sz="1300" dirty="0"/>
          </a:p>
        </p:txBody>
      </p:sp>
      <p:sp>
        <p:nvSpPr>
          <p:cNvPr id="6" name="Shape 4"/>
          <p:cNvSpPr/>
          <p:nvPr/>
        </p:nvSpPr>
        <p:spPr>
          <a:xfrm>
            <a:off x="640080" y="3063240"/>
            <a:ext cx="10972800" cy="0"/>
          </a:xfrm>
          <a:prstGeom prst="line">
            <a:avLst/>
          </a:prstGeom>
          <a:noFill/>
          <a:ln w="9525">
            <a:solidFill>
              <a:srgbClr val="E5DFF0"/>
            </a:solidFill>
            <a:prstDash val="solid"/>
          </a:ln>
        </p:spPr>
      </p:sp>
      <p:sp>
        <p:nvSpPr>
          <p:cNvPr id="7" name="Text 5"/>
          <p:cNvSpPr/>
          <p:nvPr/>
        </p:nvSpPr>
        <p:spPr>
          <a:xfrm>
            <a:off x="640080" y="3154680"/>
            <a:ext cx="2560320" cy="457200"/>
          </a:xfrm>
          <a:prstGeom prst="rect">
            <a:avLst/>
          </a:prstGeom>
          <a:noFill/>
          <a:ln/>
        </p:spPr>
        <p:txBody>
          <a:bodyPr wrap="square" rtlCol="0" anchor="ctr"/>
          <a:lstStyle/>
          <a:p>
            <a:pPr algn="l" indent="0" marL="0">
              <a:buNone/>
            </a:pPr>
            <a:r>
              <a:rPr lang="en-US" sz="1200" b="1" spc="300" kern="0" dirty="0">
                <a:solidFill>
                  <a:srgbClr val="6B6880"/>
                </a:solidFill>
                <a:latin typeface="Calibri" pitchFamily="34" charset="0"/>
                <a:ea typeface="Calibri" pitchFamily="34" charset="-122"/>
                <a:cs typeface="Calibri" pitchFamily="34" charset="-120"/>
              </a:rPr>
              <a:t>End-2027</a:t>
            </a:r>
            <a:endParaRPr lang="en-US" sz="1200" dirty="0"/>
          </a:p>
        </p:txBody>
      </p:sp>
      <p:sp>
        <p:nvSpPr>
          <p:cNvPr id="8" name="Text 6"/>
          <p:cNvSpPr/>
          <p:nvPr/>
        </p:nvSpPr>
        <p:spPr>
          <a:xfrm>
            <a:off x="3291840" y="3017520"/>
            <a:ext cx="4754880" cy="777240"/>
          </a:xfrm>
          <a:prstGeom prst="rect">
            <a:avLst/>
          </a:prstGeom>
          <a:noFill/>
          <a:ln/>
        </p:spPr>
        <p:txBody>
          <a:bodyPr wrap="square" rtlCol="0" anchor="ctr"/>
          <a:lstStyle/>
          <a:p>
            <a:pPr algn="l" indent="0" marL="0">
              <a:buNone/>
            </a:pPr>
            <a:r>
              <a:rPr lang="en-US" sz="4000" b="1" spc="-80" kern="0" dirty="0">
                <a:solidFill>
                  <a:srgbClr val="773A96"/>
                </a:solidFill>
                <a:latin typeface="Trebuchet MS" pitchFamily="34" charset="0"/>
                <a:ea typeface="Trebuchet MS" pitchFamily="34" charset="-122"/>
                <a:cs typeface="Trebuchet MS" pitchFamily="34" charset="-120"/>
              </a:rPr>
              <a:t>$4–6M ARR</a:t>
            </a:r>
            <a:endParaRPr lang="en-US" sz="4000" dirty="0"/>
          </a:p>
        </p:txBody>
      </p:sp>
      <p:sp>
        <p:nvSpPr>
          <p:cNvPr id="9" name="Text 7"/>
          <p:cNvSpPr/>
          <p:nvPr/>
        </p:nvSpPr>
        <p:spPr>
          <a:xfrm>
            <a:off x="640080" y="3886200"/>
            <a:ext cx="10972800" cy="640080"/>
          </a:xfrm>
          <a:prstGeom prst="rect">
            <a:avLst/>
          </a:prstGeom>
          <a:noFill/>
          <a:ln/>
        </p:spPr>
        <p:txBody>
          <a:bodyPr wrap="square" rtlCol="0" anchor="t"/>
          <a:lstStyle/>
          <a:p>
            <a:pPr algn="l" indent="0" marL="0">
              <a:lnSpc>
                <a:spcPct val="140000"/>
              </a:lnSpc>
              <a:buNone/>
            </a:pPr>
            <a:r>
              <a:rPr lang="en-US" sz="1300" dirty="0">
                <a:solidFill>
                  <a:srgbClr val="2F3241"/>
                </a:solidFill>
                <a:latin typeface="Calibri" pitchFamily="34" charset="0"/>
                <a:ea typeface="Calibri" pitchFamily="34" charset="-122"/>
                <a:cs typeface="Calibri" pitchFamily="34" charset="-120"/>
              </a:rPr>
              <a:t>2,000–2,500 paid leads / month. SaaS component 40–50% of revenue. 3–5 top-20 pharma in Stage 3+.</a:t>
            </a:r>
            <a:endParaRPr lang="en-US" sz="1300" dirty="0"/>
          </a:p>
        </p:txBody>
      </p:sp>
      <p:sp>
        <p:nvSpPr>
          <p:cNvPr id="10" name="Shape 8"/>
          <p:cNvSpPr/>
          <p:nvPr/>
        </p:nvSpPr>
        <p:spPr>
          <a:xfrm>
            <a:off x="640080" y="4572000"/>
            <a:ext cx="10972800" cy="0"/>
          </a:xfrm>
          <a:prstGeom prst="line">
            <a:avLst/>
          </a:prstGeom>
          <a:noFill/>
          <a:ln w="9525">
            <a:solidFill>
              <a:srgbClr val="E5DFF0"/>
            </a:solidFill>
            <a:prstDash val="solid"/>
          </a:ln>
        </p:spPr>
      </p:sp>
      <p:sp>
        <p:nvSpPr>
          <p:cNvPr id="11" name="Text 9"/>
          <p:cNvSpPr/>
          <p:nvPr/>
        </p:nvSpPr>
        <p:spPr>
          <a:xfrm>
            <a:off x="640080" y="4663440"/>
            <a:ext cx="2560320" cy="457200"/>
          </a:xfrm>
          <a:prstGeom prst="rect">
            <a:avLst/>
          </a:prstGeom>
          <a:noFill/>
          <a:ln/>
        </p:spPr>
        <p:txBody>
          <a:bodyPr wrap="square" rtlCol="0" anchor="ctr"/>
          <a:lstStyle/>
          <a:p>
            <a:pPr algn="l" indent="0" marL="0">
              <a:buNone/>
            </a:pPr>
            <a:r>
              <a:rPr lang="en-US" sz="1200" b="1" spc="300" kern="0" dirty="0">
                <a:solidFill>
                  <a:srgbClr val="6B6880"/>
                </a:solidFill>
                <a:latin typeface="Calibri" pitchFamily="34" charset="0"/>
                <a:ea typeface="Calibri" pitchFamily="34" charset="-122"/>
                <a:cs typeface="Calibri" pitchFamily="34" charset="-120"/>
              </a:rPr>
              <a:t>2030 base</a:t>
            </a:r>
            <a:endParaRPr lang="en-US" sz="1200" dirty="0"/>
          </a:p>
        </p:txBody>
      </p:sp>
      <p:sp>
        <p:nvSpPr>
          <p:cNvPr id="12" name="Text 10"/>
          <p:cNvSpPr/>
          <p:nvPr/>
        </p:nvSpPr>
        <p:spPr>
          <a:xfrm>
            <a:off x="3291840" y="4526280"/>
            <a:ext cx="4754880" cy="777240"/>
          </a:xfrm>
          <a:prstGeom prst="rect">
            <a:avLst/>
          </a:prstGeom>
          <a:noFill/>
          <a:ln/>
        </p:spPr>
        <p:txBody>
          <a:bodyPr wrap="square" rtlCol="0" anchor="ctr"/>
          <a:lstStyle/>
          <a:p>
            <a:pPr algn="l" indent="0" marL="0">
              <a:buNone/>
            </a:pPr>
            <a:r>
              <a:rPr lang="en-US" sz="4000" b="1" spc="-80" kern="0" dirty="0">
                <a:solidFill>
                  <a:srgbClr val="773A96"/>
                </a:solidFill>
                <a:latin typeface="Trebuchet MS" pitchFamily="34" charset="0"/>
                <a:ea typeface="Trebuchet MS" pitchFamily="34" charset="-122"/>
                <a:cs typeface="Trebuchet MS" pitchFamily="34" charset="-120"/>
              </a:rPr>
              <a:t>$25–45M ARR</a:t>
            </a:r>
            <a:endParaRPr lang="en-US" sz="4000" dirty="0"/>
          </a:p>
        </p:txBody>
      </p:sp>
      <p:sp>
        <p:nvSpPr>
          <p:cNvPr id="13" name="Text 11"/>
          <p:cNvSpPr/>
          <p:nvPr/>
        </p:nvSpPr>
        <p:spPr>
          <a:xfrm>
            <a:off x="640080" y="5394960"/>
            <a:ext cx="10972800" cy="640080"/>
          </a:xfrm>
          <a:prstGeom prst="rect">
            <a:avLst/>
          </a:prstGeom>
          <a:noFill/>
          <a:ln/>
        </p:spPr>
        <p:txBody>
          <a:bodyPr wrap="square" rtlCol="0" anchor="t"/>
          <a:lstStyle/>
          <a:p>
            <a:pPr algn="l" indent="0" marL="0">
              <a:lnSpc>
                <a:spcPct val="140000"/>
              </a:lnSpc>
              <a:buNone/>
            </a:pPr>
            <a:r>
              <a:rPr lang="en-US" sz="1300" dirty="0">
                <a:solidFill>
                  <a:srgbClr val="2F3241"/>
                </a:solidFill>
                <a:latin typeface="Calibri" pitchFamily="34" charset="0"/>
                <a:ea typeface="Calibri" pitchFamily="34" charset="-122"/>
                <a:cs typeface="Calibri" pitchFamily="34" charset="-120"/>
              </a:rPr>
              <a:t>Infrastructure-layer posture matures. 80–250 sponsor/CRO relationships. Strategic-acquirer range $80–250M.</a:t>
            </a:r>
            <a:endParaRPr lang="en-US" sz="1300" dirty="0"/>
          </a:p>
        </p:txBody>
      </p:sp>
      <p:sp>
        <p:nvSpPr>
          <p:cNvPr id="14" name="Shape 12"/>
          <p:cNvSpPr/>
          <p:nvPr/>
        </p:nvSpPr>
        <p:spPr>
          <a:xfrm>
            <a:off x="640080" y="6080760"/>
            <a:ext cx="10972800" cy="0"/>
          </a:xfrm>
          <a:prstGeom prst="line">
            <a:avLst/>
          </a:prstGeom>
          <a:noFill/>
          <a:ln w="9525">
            <a:solidFill>
              <a:srgbClr val="E5DFF0"/>
            </a:solidFill>
            <a:prstDash val="solid"/>
          </a:ln>
        </p:spPr>
      </p:sp>
      <p:sp>
        <p:nvSpPr>
          <p:cNvPr id="15" name="Text 13"/>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6" name="Text 14"/>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16 / 25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72800" cy="685800"/>
          </a:xfrm>
          <a:prstGeom prst="rect">
            <a:avLst/>
          </a:prstGeom>
          <a:noFill/>
          <a:ln/>
        </p:spPr>
        <p:txBody>
          <a:bodyPr wrap="square" rtlCol="0" anchor="ctr"/>
          <a:lstStyle/>
          <a:p>
            <a:pPr algn="l" indent="0" marL="0">
              <a:buNone/>
            </a:pPr>
            <a:r>
              <a:rPr lang="en-US" sz="3200" b="1" spc="-50" kern="0" dirty="0">
                <a:solidFill>
                  <a:srgbClr val="2F3241"/>
                </a:solidFill>
                <a:latin typeface="Trebuchet MS" pitchFamily="34" charset="0"/>
                <a:ea typeface="Trebuchet MS" pitchFamily="34" charset="-122"/>
                <a:cs typeface="Trebuchet MS" pitchFamily="34" charset="-120"/>
              </a:rPr>
              <a:t>Category map.</a:t>
            </a:r>
            <a:endParaRPr lang="en-US" sz="3200" dirty="0"/>
          </a:p>
        </p:txBody>
      </p:sp>
      <p:sp>
        <p:nvSpPr>
          <p:cNvPr id="3" name="Text 1"/>
          <p:cNvSpPr/>
          <p:nvPr/>
        </p:nvSpPr>
        <p:spPr>
          <a:xfrm>
            <a:off x="640080" y="1188720"/>
            <a:ext cx="10972800" cy="320040"/>
          </a:xfrm>
          <a:prstGeom prst="rect">
            <a:avLst/>
          </a:prstGeom>
          <a:noFill/>
          <a:ln/>
        </p:spPr>
        <p:txBody>
          <a:bodyPr wrap="square" rtlCol="0" anchor="ctr"/>
          <a:lstStyle/>
          <a:p>
            <a:pPr algn="l" indent="0" marL="0">
              <a:buNone/>
            </a:pPr>
            <a:r>
              <a:rPr lang="en-US" sz="1300" i="1" dirty="0">
                <a:solidFill>
                  <a:srgbClr val="6B6880"/>
                </a:solidFill>
                <a:latin typeface="Calibri" pitchFamily="34" charset="0"/>
                <a:ea typeface="Calibri" pitchFamily="34" charset="-122"/>
                <a:cs typeface="Calibri" pitchFamily="34" charset="-120"/>
              </a:rPr>
              <a:t>Four postures. Four gaps. None of them own the patient-facing discovery surface.</a:t>
            </a:r>
            <a:endParaRPr lang="en-US" sz="1300" dirty="0"/>
          </a:p>
        </p:txBody>
      </p:sp>
      <p:sp>
        <p:nvSpPr>
          <p:cNvPr id="4" name="Text 2"/>
          <p:cNvSpPr/>
          <p:nvPr/>
        </p:nvSpPr>
        <p:spPr>
          <a:xfrm>
            <a:off x="640080" y="1691640"/>
            <a:ext cx="3840480" cy="411480"/>
          </a:xfrm>
          <a:prstGeom prst="rect">
            <a:avLst/>
          </a:prstGeom>
          <a:noFill/>
          <a:ln/>
        </p:spPr>
        <p:txBody>
          <a:bodyPr wrap="square" rtlCol="0" anchor="t"/>
          <a:lstStyle/>
          <a:p>
            <a:pPr algn="l" indent="0" marL="0">
              <a:buNone/>
            </a:pPr>
            <a:r>
              <a:rPr lang="en-US" sz="1700" b="1" spc="-30" kern="0" dirty="0">
                <a:solidFill>
                  <a:srgbClr val="2F3241"/>
                </a:solidFill>
                <a:latin typeface="Trebuchet MS" pitchFamily="34" charset="0"/>
                <a:ea typeface="Trebuchet MS" pitchFamily="34" charset="-122"/>
                <a:cs typeface="Trebuchet MS" pitchFamily="34" charset="-120"/>
              </a:rPr>
              <a:t>Data consolidators.</a:t>
            </a:r>
            <a:endParaRPr lang="en-US" sz="1700" dirty="0"/>
          </a:p>
        </p:txBody>
      </p:sp>
      <p:sp>
        <p:nvSpPr>
          <p:cNvPr id="5" name="Text 3"/>
          <p:cNvSpPr/>
          <p:nvPr/>
        </p:nvSpPr>
        <p:spPr>
          <a:xfrm>
            <a:off x="4572000" y="1691640"/>
            <a:ext cx="7132320" cy="502920"/>
          </a:xfrm>
          <a:prstGeom prst="rect">
            <a:avLst/>
          </a:prstGeom>
          <a:noFill/>
          <a:ln/>
        </p:spPr>
        <p:txBody>
          <a:bodyPr wrap="square" rtlCol="0" anchor="t"/>
          <a:lstStyle/>
          <a:p>
            <a:pPr algn="l" indent="0" marL="0">
              <a:lnSpc>
                <a:spcPct val="140000"/>
              </a:lnSpc>
              <a:buNone/>
            </a:pPr>
            <a:r>
              <a:rPr lang="en-US" sz="1200" dirty="0">
                <a:solidFill>
                  <a:srgbClr val="2F3241"/>
                </a:solidFill>
                <a:latin typeface="Calibri" pitchFamily="34" charset="0"/>
                <a:ea typeface="Calibri" pitchFamily="34" charset="-122"/>
                <a:cs typeface="Calibri" pitchFamily="34" charset="-120"/>
              </a:rPr>
              <a:t>Tempus ($8B mcap), TriNetX/Norstella, IQVIA ($15.4B revenue), Veeva, Medidata, Advarra ($5B).</a:t>
            </a:r>
            <a:endParaRPr lang="en-US" sz="1200" dirty="0"/>
          </a:p>
        </p:txBody>
      </p:sp>
      <p:sp>
        <p:nvSpPr>
          <p:cNvPr id="6" name="Text 4"/>
          <p:cNvSpPr/>
          <p:nvPr/>
        </p:nvSpPr>
        <p:spPr>
          <a:xfrm>
            <a:off x="4572000" y="2194560"/>
            <a:ext cx="7132320" cy="365760"/>
          </a:xfrm>
          <a:prstGeom prst="rect">
            <a:avLst/>
          </a:prstGeom>
          <a:noFill/>
          <a:ln/>
        </p:spPr>
        <p:txBody>
          <a:bodyPr wrap="square" rtlCol="0" anchor="t"/>
          <a:lstStyle/>
          <a:p>
            <a:pPr algn="l" indent="0" marL="0">
              <a:buNone/>
            </a:pPr>
            <a:r>
              <a:rPr lang="en-US" sz="1100" i="1" dirty="0">
                <a:solidFill>
                  <a:srgbClr val="C43C96"/>
                </a:solidFill>
                <a:latin typeface="Calibri" pitchFamily="34" charset="0"/>
                <a:ea typeface="Calibri" pitchFamily="34" charset="-122"/>
                <a:cs typeface="Calibri" pitchFamily="34" charset="-120"/>
              </a:rPr>
              <a:t>— No patient-facing discovery. No community trust layer.</a:t>
            </a:r>
            <a:endParaRPr lang="en-US" sz="1100" dirty="0"/>
          </a:p>
        </p:txBody>
      </p:sp>
      <p:sp>
        <p:nvSpPr>
          <p:cNvPr id="7" name="Text 5"/>
          <p:cNvSpPr/>
          <p:nvPr/>
        </p:nvSpPr>
        <p:spPr>
          <a:xfrm>
            <a:off x="640080" y="2743200"/>
            <a:ext cx="3840480" cy="411480"/>
          </a:xfrm>
          <a:prstGeom prst="rect">
            <a:avLst/>
          </a:prstGeom>
          <a:noFill/>
          <a:ln/>
        </p:spPr>
        <p:txBody>
          <a:bodyPr wrap="square" rtlCol="0" anchor="t"/>
          <a:lstStyle/>
          <a:p>
            <a:pPr algn="l" indent="0" marL="0">
              <a:buNone/>
            </a:pPr>
            <a:r>
              <a:rPr lang="en-US" sz="1700" b="1" spc="-30" kern="0" dirty="0">
                <a:solidFill>
                  <a:srgbClr val="2F3241"/>
                </a:solidFill>
                <a:latin typeface="Trebuchet MS" pitchFamily="34" charset="0"/>
                <a:ea typeface="Trebuchet MS" pitchFamily="34" charset="-122"/>
                <a:cs typeface="Trebuchet MS" pitchFamily="34" charset="-120"/>
              </a:rPr>
              <a:t>Site networks and DCT.</a:t>
            </a:r>
            <a:endParaRPr lang="en-US" sz="1700" dirty="0"/>
          </a:p>
        </p:txBody>
      </p:sp>
      <p:sp>
        <p:nvSpPr>
          <p:cNvPr id="8" name="Text 6"/>
          <p:cNvSpPr/>
          <p:nvPr/>
        </p:nvSpPr>
        <p:spPr>
          <a:xfrm>
            <a:off x="4572000" y="2743200"/>
            <a:ext cx="7132320" cy="502920"/>
          </a:xfrm>
          <a:prstGeom prst="rect">
            <a:avLst/>
          </a:prstGeom>
          <a:noFill/>
          <a:ln/>
        </p:spPr>
        <p:txBody>
          <a:bodyPr wrap="square" rtlCol="0" anchor="t"/>
          <a:lstStyle/>
          <a:p>
            <a:pPr algn="l" indent="0" marL="0">
              <a:lnSpc>
                <a:spcPct val="140000"/>
              </a:lnSpc>
              <a:buNone/>
            </a:pPr>
            <a:r>
              <a:rPr lang="en-US" sz="1200" dirty="0">
                <a:solidFill>
                  <a:srgbClr val="2F3241"/>
                </a:solidFill>
                <a:latin typeface="Calibri" pitchFamily="34" charset="0"/>
                <a:ea typeface="Calibri" pitchFamily="34" charset="-122"/>
                <a:cs typeface="Calibri" pitchFamily="34" charset="-120"/>
              </a:rPr>
              <a:t>Velocity, CenExel, Care Access/Reify ($4.8B), Javara, Paradigm ($281M), Science 37 ($1B → $38M).</a:t>
            </a:r>
            <a:endParaRPr lang="en-US" sz="1200" dirty="0"/>
          </a:p>
        </p:txBody>
      </p:sp>
      <p:sp>
        <p:nvSpPr>
          <p:cNvPr id="9" name="Text 7"/>
          <p:cNvSpPr/>
          <p:nvPr/>
        </p:nvSpPr>
        <p:spPr>
          <a:xfrm>
            <a:off x="4572000" y="3246120"/>
            <a:ext cx="7132320" cy="365760"/>
          </a:xfrm>
          <a:prstGeom prst="rect">
            <a:avLst/>
          </a:prstGeom>
          <a:noFill/>
          <a:ln/>
        </p:spPr>
        <p:txBody>
          <a:bodyPr wrap="square" rtlCol="0" anchor="t"/>
          <a:lstStyle/>
          <a:p>
            <a:pPr algn="l" indent="0" marL="0">
              <a:buNone/>
            </a:pPr>
            <a:r>
              <a:rPr lang="en-US" sz="1100" i="1" dirty="0">
                <a:solidFill>
                  <a:srgbClr val="C43C96"/>
                </a:solidFill>
                <a:latin typeface="Calibri" pitchFamily="34" charset="0"/>
                <a:ea typeface="Calibri" pitchFamily="34" charset="-122"/>
                <a:cs typeface="Calibri" pitchFamily="34" charset="-120"/>
              </a:rPr>
              <a:t>— Operate trials, not cross-trial discovery. Not vendor-agnostic.</a:t>
            </a:r>
            <a:endParaRPr lang="en-US" sz="1100" dirty="0"/>
          </a:p>
        </p:txBody>
      </p:sp>
      <p:sp>
        <p:nvSpPr>
          <p:cNvPr id="10" name="Text 8"/>
          <p:cNvSpPr/>
          <p:nvPr/>
        </p:nvSpPr>
        <p:spPr>
          <a:xfrm>
            <a:off x="640080" y="3794760"/>
            <a:ext cx="3840480" cy="411480"/>
          </a:xfrm>
          <a:prstGeom prst="rect">
            <a:avLst/>
          </a:prstGeom>
          <a:noFill/>
          <a:ln/>
        </p:spPr>
        <p:txBody>
          <a:bodyPr wrap="square" rtlCol="0" anchor="t"/>
          <a:lstStyle/>
          <a:p>
            <a:pPr algn="l" indent="0" marL="0">
              <a:buNone/>
            </a:pPr>
            <a:r>
              <a:rPr lang="en-US" sz="1700" b="1" spc="-30" kern="0" dirty="0">
                <a:solidFill>
                  <a:srgbClr val="2F3241"/>
                </a:solidFill>
                <a:latin typeface="Trebuchet MS" pitchFamily="34" charset="0"/>
                <a:ea typeface="Trebuchet MS" pitchFamily="34" charset="-122"/>
                <a:cs typeface="Trebuchet MS" pitchFamily="34" charset="-120"/>
              </a:rPr>
              <a:t>Recruitment agencies.</a:t>
            </a:r>
            <a:endParaRPr lang="en-US" sz="1700" dirty="0"/>
          </a:p>
        </p:txBody>
      </p:sp>
      <p:sp>
        <p:nvSpPr>
          <p:cNvPr id="11" name="Text 9"/>
          <p:cNvSpPr/>
          <p:nvPr/>
        </p:nvSpPr>
        <p:spPr>
          <a:xfrm>
            <a:off x="4572000" y="3794760"/>
            <a:ext cx="7132320" cy="502920"/>
          </a:xfrm>
          <a:prstGeom prst="rect">
            <a:avLst/>
          </a:prstGeom>
          <a:noFill/>
          <a:ln/>
        </p:spPr>
        <p:txBody>
          <a:bodyPr wrap="square" rtlCol="0" anchor="t"/>
          <a:lstStyle/>
          <a:p>
            <a:pPr algn="l" indent="0" marL="0">
              <a:lnSpc>
                <a:spcPct val="140000"/>
              </a:lnSpc>
              <a:buNone/>
            </a:pPr>
            <a:r>
              <a:rPr lang="en-US" sz="1200" dirty="0">
                <a:solidFill>
                  <a:srgbClr val="2F3241"/>
                </a:solidFill>
                <a:latin typeface="Calibri" pitchFamily="34" charset="0"/>
                <a:ea typeface="Calibri" pitchFamily="34" charset="-122"/>
                <a:cs typeface="Calibri" pitchFamily="34" charset="-120"/>
              </a:rPr>
              <a:t>Acurian (ICON), WCG, AutoCruitment, Trialbee (acquired VHP Jan 2026), CTM, Imperial CRS.</a:t>
            </a:r>
            <a:endParaRPr lang="en-US" sz="1200" dirty="0"/>
          </a:p>
        </p:txBody>
      </p:sp>
      <p:sp>
        <p:nvSpPr>
          <p:cNvPr id="12" name="Text 10"/>
          <p:cNvSpPr/>
          <p:nvPr/>
        </p:nvSpPr>
        <p:spPr>
          <a:xfrm>
            <a:off x="4572000" y="4297680"/>
            <a:ext cx="7132320" cy="365760"/>
          </a:xfrm>
          <a:prstGeom prst="rect">
            <a:avLst/>
          </a:prstGeom>
          <a:noFill/>
          <a:ln/>
        </p:spPr>
        <p:txBody>
          <a:bodyPr wrap="square" rtlCol="0" anchor="t"/>
          <a:lstStyle/>
          <a:p>
            <a:pPr algn="l" indent="0" marL="0">
              <a:buNone/>
            </a:pPr>
            <a:r>
              <a:rPr lang="en-US" sz="1100" i="1" dirty="0">
                <a:solidFill>
                  <a:srgbClr val="C43C96"/>
                </a:solidFill>
                <a:latin typeface="Calibri" pitchFamily="34" charset="0"/>
                <a:ea typeface="Calibri" pitchFamily="34" charset="-122"/>
                <a:cs typeface="Calibri" pitchFamily="34" charset="-120"/>
              </a:rPr>
              <a:t>— Campaigns end when budget ends. No compounding. Losing share.</a:t>
            </a:r>
            <a:endParaRPr lang="en-US" sz="1100" dirty="0"/>
          </a:p>
        </p:txBody>
      </p:sp>
      <p:sp>
        <p:nvSpPr>
          <p:cNvPr id="13" name="Text 11"/>
          <p:cNvSpPr/>
          <p:nvPr/>
        </p:nvSpPr>
        <p:spPr>
          <a:xfrm>
            <a:off x="640080" y="4846320"/>
            <a:ext cx="3840480" cy="411480"/>
          </a:xfrm>
          <a:prstGeom prst="rect">
            <a:avLst/>
          </a:prstGeom>
          <a:noFill/>
          <a:ln/>
        </p:spPr>
        <p:txBody>
          <a:bodyPr wrap="square" rtlCol="0" anchor="t"/>
          <a:lstStyle/>
          <a:p>
            <a:pPr algn="l" indent="0" marL="0">
              <a:buNone/>
            </a:pPr>
            <a:r>
              <a:rPr lang="en-US" sz="1700" b="1" spc="-30" kern="0" dirty="0">
                <a:solidFill>
                  <a:srgbClr val="2F3241"/>
                </a:solidFill>
                <a:latin typeface="Trebuchet MS" pitchFamily="34" charset="0"/>
                <a:ea typeface="Trebuchet MS" pitchFamily="34" charset="-122"/>
                <a:cs typeface="Trebuchet MS" pitchFamily="34" charset="-120"/>
              </a:rPr>
              <a:t>Patient matchers.</a:t>
            </a:r>
            <a:endParaRPr lang="en-US" sz="1700" dirty="0"/>
          </a:p>
        </p:txBody>
      </p:sp>
      <p:sp>
        <p:nvSpPr>
          <p:cNvPr id="14" name="Text 12"/>
          <p:cNvSpPr/>
          <p:nvPr/>
        </p:nvSpPr>
        <p:spPr>
          <a:xfrm>
            <a:off x="4572000" y="4846320"/>
            <a:ext cx="7132320" cy="502920"/>
          </a:xfrm>
          <a:prstGeom prst="rect">
            <a:avLst/>
          </a:prstGeom>
          <a:noFill/>
          <a:ln/>
        </p:spPr>
        <p:txBody>
          <a:bodyPr wrap="square" rtlCol="0" anchor="t"/>
          <a:lstStyle/>
          <a:p>
            <a:pPr algn="l" indent="0" marL="0">
              <a:lnSpc>
                <a:spcPct val="140000"/>
              </a:lnSpc>
              <a:buNone/>
            </a:pPr>
            <a:r>
              <a:rPr lang="en-US" sz="1200" dirty="0">
                <a:solidFill>
                  <a:srgbClr val="2F3241"/>
                </a:solidFill>
                <a:latin typeface="Calibri" pitchFamily="34" charset="0"/>
                <a:ea typeface="Calibri" pitchFamily="34" charset="-122"/>
                <a:cs typeface="Calibri" pitchFamily="34" charset="-120"/>
              </a:rPr>
              <a:t>Antidote ($52M), Power ($30M), Leal ($29M), Clara (acquired).</a:t>
            </a:r>
            <a:endParaRPr lang="en-US" sz="1200" dirty="0"/>
          </a:p>
        </p:txBody>
      </p:sp>
      <p:sp>
        <p:nvSpPr>
          <p:cNvPr id="15" name="Text 13"/>
          <p:cNvSpPr/>
          <p:nvPr/>
        </p:nvSpPr>
        <p:spPr>
          <a:xfrm>
            <a:off x="4572000" y="5349240"/>
            <a:ext cx="7132320" cy="365760"/>
          </a:xfrm>
          <a:prstGeom prst="rect">
            <a:avLst/>
          </a:prstGeom>
          <a:noFill/>
          <a:ln/>
        </p:spPr>
        <p:txBody>
          <a:bodyPr wrap="square" rtlCol="0" anchor="t"/>
          <a:lstStyle/>
          <a:p>
            <a:pPr algn="l" indent="0" marL="0">
              <a:buNone/>
            </a:pPr>
            <a:r>
              <a:rPr lang="en-US" sz="1100" i="1" dirty="0">
                <a:solidFill>
                  <a:srgbClr val="C43C96"/>
                </a:solidFill>
                <a:latin typeface="Calibri" pitchFamily="34" charset="0"/>
                <a:ea typeface="Calibri" pitchFamily="34" charset="-122"/>
                <a:cs typeface="Calibri" pitchFamily="34" charset="-120"/>
              </a:rPr>
              <a:t>— No infrastructure economics. Struggle with standalone monetisation.</a:t>
            </a:r>
            <a:endParaRPr lang="en-US" sz="1100" dirty="0"/>
          </a:p>
        </p:txBody>
      </p:sp>
      <p:sp>
        <p:nvSpPr>
          <p:cNvPr id="16" name="Text 14"/>
          <p:cNvSpPr/>
          <p:nvPr/>
        </p:nvSpPr>
        <p:spPr>
          <a:xfrm>
            <a:off x="640080" y="5989320"/>
            <a:ext cx="10972800" cy="365760"/>
          </a:xfrm>
          <a:prstGeom prst="rect">
            <a:avLst/>
          </a:prstGeom>
          <a:noFill/>
          <a:ln/>
        </p:spPr>
        <p:txBody>
          <a:bodyPr wrap="square" rtlCol="0" anchor="t"/>
          <a:lstStyle/>
          <a:p>
            <a:pPr algn="l" indent="0" marL="0">
              <a:buNone/>
            </a:pPr>
            <a:r>
              <a:rPr lang="en-US" sz="1000" i="1" dirty="0">
                <a:solidFill>
                  <a:srgbClr val="9A98A8"/>
                </a:solidFill>
                <a:latin typeface="Calibri" pitchFamily="34" charset="0"/>
                <a:ea typeface="Calibri" pitchFamily="34" charset="-122"/>
                <a:cs typeface="Calibri" pitchFamily="34" charset="-120"/>
              </a:rPr>
              <a:t>Plausible acquirers (3–5 yr): Tempus, TriNetX/Norstella, IQVIA, Reify/Care Access, Paradigm, Advarra, Parexel, VHP/Trialbee.</a:t>
            </a:r>
            <a:endParaRPr lang="en-US" sz="1000" dirty="0"/>
          </a:p>
        </p:txBody>
      </p:sp>
      <p:sp>
        <p:nvSpPr>
          <p:cNvPr id="17" name="Text 15"/>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8" name="Text 16"/>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17 / 25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72800" cy="640080"/>
          </a:xfrm>
          <a:prstGeom prst="rect">
            <a:avLst/>
          </a:prstGeom>
          <a:noFill/>
          <a:ln/>
        </p:spPr>
        <p:txBody>
          <a:bodyPr wrap="square" rtlCol="0" anchor="ctr"/>
          <a:lstStyle/>
          <a:p>
            <a:pPr algn="l" indent="0" marL="0">
              <a:buNone/>
            </a:pPr>
            <a:r>
              <a:rPr lang="en-US" sz="2800" b="1" spc="-50" kern="0" dirty="0">
                <a:solidFill>
                  <a:srgbClr val="2F3241"/>
                </a:solidFill>
                <a:latin typeface="Trebuchet MS" pitchFamily="34" charset="0"/>
                <a:ea typeface="Trebuchet MS" pitchFamily="34" charset="-122"/>
                <a:cs typeface="Trebuchet MS" pitchFamily="34" charset="-120"/>
              </a:rPr>
              <a:t>Risks and mitigations.</a:t>
            </a:r>
            <a:endParaRPr lang="en-US" sz="2800" dirty="0"/>
          </a:p>
        </p:txBody>
      </p:sp>
      <p:sp>
        <p:nvSpPr>
          <p:cNvPr id="3" name="Text 1"/>
          <p:cNvSpPr/>
          <p:nvPr/>
        </p:nvSpPr>
        <p:spPr>
          <a:xfrm>
            <a:off x="640080" y="1417320"/>
            <a:ext cx="5120640" cy="274320"/>
          </a:xfrm>
          <a:prstGeom prst="rect">
            <a:avLst/>
          </a:prstGeom>
          <a:noFill/>
          <a:ln/>
        </p:spPr>
        <p:txBody>
          <a:bodyPr wrap="square" rtlCol="0" anchor="ctr"/>
          <a:lstStyle/>
          <a:p>
            <a:pPr indent="0" marL="0">
              <a:buNone/>
            </a:pPr>
            <a:r>
              <a:rPr lang="en-US" sz="1000" b="1" spc="300" kern="0" dirty="0">
                <a:solidFill>
                  <a:srgbClr val="6B6880"/>
                </a:solidFill>
                <a:latin typeface="Calibri" pitchFamily="34" charset="0"/>
                <a:ea typeface="Calibri" pitchFamily="34" charset="-122"/>
                <a:cs typeface="Calibri" pitchFamily="34" charset="-120"/>
              </a:rPr>
              <a:t>RISK</a:t>
            </a:r>
            <a:endParaRPr lang="en-US" sz="1000" dirty="0"/>
          </a:p>
        </p:txBody>
      </p:sp>
      <p:sp>
        <p:nvSpPr>
          <p:cNvPr id="4" name="Text 2"/>
          <p:cNvSpPr/>
          <p:nvPr/>
        </p:nvSpPr>
        <p:spPr>
          <a:xfrm>
            <a:off x="5943600" y="1417320"/>
            <a:ext cx="5760720" cy="274320"/>
          </a:xfrm>
          <a:prstGeom prst="rect">
            <a:avLst/>
          </a:prstGeom>
          <a:noFill/>
          <a:ln/>
        </p:spPr>
        <p:txBody>
          <a:bodyPr wrap="square" rtlCol="0" anchor="ctr"/>
          <a:lstStyle/>
          <a:p>
            <a:pPr indent="0" marL="0">
              <a:buNone/>
            </a:pPr>
            <a:r>
              <a:rPr lang="en-US" sz="1000" b="1" spc="300" kern="0" dirty="0">
                <a:solidFill>
                  <a:srgbClr val="6B6880"/>
                </a:solidFill>
                <a:latin typeface="Calibri" pitchFamily="34" charset="0"/>
                <a:ea typeface="Calibri" pitchFamily="34" charset="-122"/>
                <a:cs typeface="Calibri" pitchFamily="34" charset="-120"/>
              </a:rPr>
              <a:t>MITIGATION</a:t>
            </a:r>
            <a:endParaRPr lang="en-US" sz="1000" dirty="0"/>
          </a:p>
        </p:txBody>
      </p:sp>
      <p:sp>
        <p:nvSpPr>
          <p:cNvPr id="5" name="Shape 3"/>
          <p:cNvSpPr/>
          <p:nvPr/>
        </p:nvSpPr>
        <p:spPr>
          <a:xfrm>
            <a:off x="640080" y="1719072"/>
            <a:ext cx="10972800" cy="0"/>
          </a:xfrm>
          <a:prstGeom prst="line">
            <a:avLst/>
          </a:prstGeom>
          <a:noFill/>
          <a:ln w="12700">
            <a:solidFill>
              <a:srgbClr val="E5DFF0"/>
            </a:solidFill>
            <a:prstDash val="solid"/>
          </a:ln>
        </p:spPr>
      </p:sp>
      <p:sp>
        <p:nvSpPr>
          <p:cNvPr id="6" name="Text 4"/>
          <p:cNvSpPr/>
          <p:nvPr/>
        </p:nvSpPr>
        <p:spPr>
          <a:xfrm>
            <a:off x="640080" y="1801368"/>
            <a:ext cx="5120640" cy="731520"/>
          </a:xfrm>
          <a:prstGeom prst="rect">
            <a:avLst/>
          </a:prstGeom>
          <a:noFill/>
          <a:ln/>
        </p:spPr>
        <p:txBody>
          <a:bodyPr wrap="square" rtlCol="0" anchor="t"/>
          <a:lstStyle/>
          <a:p>
            <a:pPr algn="l" indent="0" marL="0">
              <a:lnSpc>
                <a:spcPct val="135000"/>
              </a:lnSpc>
              <a:buNone/>
            </a:pPr>
            <a:r>
              <a:rPr lang="en-US" sz="1300" b="1" dirty="0">
                <a:solidFill>
                  <a:srgbClr val="2F3241"/>
                </a:solidFill>
                <a:latin typeface="Calibri" pitchFamily="34" charset="0"/>
                <a:ea typeface="Calibri" pitchFamily="34" charset="-122"/>
                <a:cs typeface="Calibri" pitchFamily="34" charset="-120"/>
              </a:rPr>
              <a:t>$5M is tight for the 18-month scope.</a:t>
            </a:r>
            <a:endParaRPr lang="en-US" sz="1300" dirty="0"/>
          </a:p>
        </p:txBody>
      </p:sp>
      <p:sp>
        <p:nvSpPr>
          <p:cNvPr id="7" name="Text 5"/>
          <p:cNvSpPr/>
          <p:nvPr/>
        </p:nvSpPr>
        <p:spPr>
          <a:xfrm>
            <a:off x="5943600" y="1801368"/>
            <a:ext cx="5760720" cy="731520"/>
          </a:xfrm>
          <a:prstGeom prst="rect">
            <a:avLst/>
          </a:prstGeom>
          <a:noFill/>
          <a:ln/>
        </p:spPr>
        <p:txBody>
          <a:bodyPr wrap="square" rtlCol="0" anchor="t"/>
          <a:lstStyle/>
          <a:p>
            <a:pPr algn="l" indent="0" marL="0">
              <a:lnSpc>
                <a:spcPct val="135000"/>
              </a:lnSpc>
              <a:buNone/>
            </a:pPr>
            <a:r>
              <a:rPr lang="en-US" sz="1300" dirty="0">
                <a:solidFill>
                  <a:srgbClr val="2F3241"/>
                </a:solidFill>
                <a:latin typeface="Calibri" pitchFamily="34" charset="0"/>
                <a:ea typeface="Calibri" pitchFamily="34" charset="-122"/>
                <a:cs typeface="Calibri" pitchFamily="34" charset="-120"/>
              </a:rPr>
              <a:t>Convertible bridge available; acquirer conversations in parallel from month 9; spend pull-back triggers documented.</a:t>
            </a:r>
            <a:endParaRPr lang="en-US" sz="1300" dirty="0"/>
          </a:p>
        </p:txBody>
      </p:sp>
      <p:sp>
        <p:nvSpPr>
          <p:cNvPr id="8" name="Shape 6"/>
          <p:cNvSpPr/>
          <p:nvPr/>
        </p:nvSpPr>
        <p:spPr>
          <a:xfrm>
            <a:off x="640080" y="2551176"/>
            <a:ext cx="10972800" cy="0"/>
          </a:xfrm>
          <a:prstGeom prst="line">
            <a:avLst/>
          </a:prstGeom>
          <a:noFill/>
          <a:ln w="5080">
            <a:solidFill>
              <a:srgbClr val="E5DFF0"/>
            </a:solidFill>
            <a:prstDash val="solid"/>
          </a:ln>
        </p:spPr>
      </p:sp>
      <p:sp>
        <p:nvSpPr>
          <p:cNvPr id="9" name="Text 7"/>
          <p:cNvSpPr/>
          <p:nvPr/>
        </p:nvSpPr>
        <p:spPr>
          <a:xfrm>
            <a:off x="640080" y="2606040"/>
            <a:ext cx="5120640" cy="731520"/>
          </a:xfrm>
          <a:prstGeom prst="rect">
            <a:avLst/>
          </a:prstGeom>
          <a:noFill/>
          <a:ln/>
        </p:spPr>
        <p:txBody>
          <a:bodyPr wrap="square" rtlCol="0" anchor="t"/>
          <a:lstStyle/>
          <a:p>
            <a:pPr algn="l" indent="0" marL="0">
              <a:lnSpc>
                <a:spcPct val="135000"/>
              </a:lnSpc>
              <a:buNone/>
            </a:pPr>
            <a:r>
              <a:rPr lang="en-US" sz="1300" b="1" dirty="0">
                <a:solidFill>
                  <a:srgbClr val="2F3241"/>
                </a:solidFill>
                <a:latin typeface="Calibri" pitchFamily="34" charset="0"/>
                <a:ea typeface="Calibri" pitchFamily="34" charset="-122"/>
                <a:cs typeface="Calibri" pitchFamily="34" charset="-120"/>
              </a:rPr>
              <a:t>Tempus / TriNetX / IQVIA respond at the discovery layer.</a:t>
            </a:r>
            <a:endParaRPr lang="en-US" sz="1300" dirty="0"/>
          </a:p>
        </p:txBody>
      </p:sp>
      <p:sp>
        <p:nvSpPr>
          <p:cNvPr id="10" name="Text 8"/>
          <p:cNvSpPr/>
          <p:nvPr/>
        </p:nvSpPr>
        <p:spPr>
          <a:xfrm>
            <a:off x="5943600" y="2606040"/>
            <a:ext cx="5760720" cy="731520"/>
          </a:xfrm>
          <a:prstGeom prst="rect">
            <a:avLst/>
          </a:prstGeom>
          <a:noFill/>
          <a:ln/>
        </p:spPr>
        <p:txBody>
          <a:bodyPr wrap="square" rtlCol="0" anchor="t"/>
          <a:lstStyle/>
          <a:p>
            <a:pPr algn="l" indent="0" marL="0">
              <a:lnSpc>
                <a:spcPct val="135000"/>
              </a:lnSpc>
              <a:buNone/>
            </a:pPr>
            <a:r>
              <a:rPr lang="en-US" sz="1300" dirty="0">
                <a:solidFill>
                  <a:srgbClr val="2F3241"/>
                </a:solidFill>
                <a:latin typeface="Calibri" pitchFamily="34" charset="0"/>
                <a:ea typeface="Calibri" pitchFamily="34" charset="-122"/>
                <a:cs typeface="Calibri" pitchFamily="34" charset="-120"/>
              </a:rPr>
              <a:t>Accelerate Research Friends; protect the 24-hour SLA; open strategic conversations early.</a:t>
            </a:r>
            <a:endParaRPr lang="en-US" sz="1300" dirty="0"/>
          </a:p>
        </p:txBody>
      </p:sp>
      <p:sp>
        <p:nvSpPr>
          <p:cNvPr id="11" name="Shape 9"/>
          <p:cNvSpPr/>
          <p:nvPr/>
        </p:nvSpPr>
        <p:spPr>
          <a:xfrm>
            <a:off x="640080" y="3355848"/>
            <a:ext cx="10972800" cy="0"/>
          </a:xfrm>
          <a:prstGeom prst="line">
            <a:avLst/>
          </a:prstGeom>
          <a:noFill/>
          <a:ln w="5080">
            <a:solidFill>
              <a:srgbClr val="E5DFF0"/>
            </a:solidFill>
            <a:prstDash val="solid"/>
          </a:ln>
        </p:spPr>
      </p:sp>
      <p:sp>
        <p:nvSpPr>
          <p:cNvPr id="12" name="Text 10"/>
          <p:cNvSpPr/>
          <p:nvPr/>
        </p:nvSpPr>
        <p:spPr>
          <a:xfrm>
            <a:off x="640080" y="3410712"/>
            <a:ext cx="5120640" cy="731520"/>
          </a:xfrm>
          <a:prstGeom prst="rect">
            <a:avLst/>
          </a:prstGeom>
          <a:noFill/>
          <a:ln/>
        </p:spPr>
        <p:txBody>
          <a:bodyPr wrap="square" rtlCol="0" anchor="t"/>
          <a:lstStyle/>
          <a:p>
            <a:pPr algn="l" indent="0" marL="0">
              <a:lnSpc>
                <a:spcPct val="135000"/>
              </a:lnSpc>
              <a:buNone/>
            </a:pPr>
            <a:r>
              <a:rPr lang="en-US" sz="1300" b="1" dirty="0">
                <a:solidFill>
                  <a:srgbClr val="2F3241"/>
                </a:solidFill>
                <a:latin typeface="Calibri" pitchFamily="34" charset="0"/>
                <a:ea typeface="Calibri" pitchFamily="34" charset="-122"/>
                <a:cs typeface="Calibri" pitchFamily="34" charset="-120"/>
              </a:rPr>
              <a:t>Lead volume growth stalls before Series B.</a:t>
            </a:r>
            <a:endParaRPr lang="en-US" sz="1300" dirty="0"/>
          </a:p>
        </p:txBody>
      </p:sp>
      <p:sp>
        <p:nvSpPr>
          <p:cNvPr id="13" name="Text 11"/>
          <p:cNvSpPr/>
          <p:nvPr/>
        </p:nvSpPr>
        <p:spPr>
          <a:xfrm>
            <a:off x="5943600" y="3410712"/>
            <a:ext cx="5760720" cy="731520"/>
          </a:xfrm>
          <a:prstGeom prst="rect">
            <a:avLst/>
          </a:prstGeom>
          <a:noFill/>
          <a:ln/>
        </p:spPr>
        <p:txBody>
          <a:bodyPr wrap="square" rtlCol="0" anchor="t"/>
          <a:lstStyle/>
          <a:p>
            <a:pPr algn="l" indent="0" marL="0">
              <a:lnSpc>
                <a:spcPct val="135000"/>
              </a:lnSpc>
              <a:buNone/>
            </a:pPr>
            <a:r>
              <a:rPr lang="en-US" sz="1300" dirty="0">
                <a:solidFill>
                  <a:srgbClr val="2F3241"/>
                </a:solidFill>
                <a:latin typeface="Calibri" pitchFamily="34" charset="0"/>
                <a:ea typeface="Calibri" pitchFamily="34" charset="-122"/>
                <a:cs typeface="Calibri" pitchFamily="34" charset="-120"/>
              </a:rPr>
              <a:t>Concentrate commercial spend; SEO + LLM-search discipline; 3–5 marquee sponsor wins.</a:t>
            </a:r>
            <a:endParaRPr lang="en-US" sz="1300" dirty="0"/>
          </a:p>
        </p:txBody>
      </p:sp>
      <p:sp>
        <p:nvSpPr>
          <p:cNvPr id="14" name="Shape 12"/>
          <p:cNvSpPr/>
          <p:nvPr/>
        </p:nvSpPr>
        <p:spPr>
          <a:xfrm>
            <a:off x="640080" y="4160520"/>
            <a:ext cx="10972800" cy="0"/>
          </a:xfrm>
          <a:prstGeom prst="line">
            <a:avLst/>
          </a:prstGeom>
          <a:noFill/>
          <a:ln w="5080">
            <a:solidFill>
              <a:srgbClr val="E5DFF0"/>
            </a:solidFill>
            <a:prstDash val="solid"/>
          </a:ln>
        </p:spPr>
      </p:sp>
      <p:sp>
        <p:nvSpPr>
          <p:cNvPr id="15" name="Text 13"/>
          <p:cNvSpPr/>
          <p:nvPr/>
        </p:nvSpPr>
        <p:spPr>
          <a:xfrm>
            <a:off x="640080" y="4215384"/>
            <a:ext cx="5120640" cy="731520"/>
          </a:xfrm>
          <a:prstGeom prst="rect">
            <a:avLst/>
          </a:prstGeom>
          <a:noFill/>
          <a:ln/>
        </p:spPr>
        <p:txBody>
          <a:bodyPr wrap="square" rtlCol="0" anchor="t"/>
          <a:lstStyle/>
          <a:p>
            <a:pPr algn="l" indent="0" marL="0">
              <a:lnSpc>
                <a:spcPct val="135000"/>
              </a:lnSpc>
              <a:buNone/>
            </a:pPr>
            <a:r>
              <a:rPr lang="en-US" sz="1300" b="1" dirty="0">
                <a:solidFill>
                  <a:srgbClr val="2F3241"/>
                </a:solidFill>
                <a:latin typeface="Calibri" pitchFamily="34" charset="0"/>
                <a:ea typeface="Calibri" pitchFamily="34" charset="-122"/>
                <a:cs typeface="Calibri" pitchFamily="34" charset="-120"/>
              </a:rPr>
              <a:t>Team scale gap in US commercial, Medical Affairs, RA.</a:t>
            </a:r>
            <a:endParaRPr lang="en-US" sz="1300" dirty="0"/>
          </a:p>
        </p:txBody>
      </p:sp>
      <p:sp>
        <p:nvSpPr>
          <p:cNvPr id="16" name="Text 14"/>
          <p:cNvSpPr/>
          <p:nvPr/>
        </p:nvSpPr>
        <p:spPr>
          <a:xfrm>
            <a:off x="5943600" y="4215384"/>
            <a:ext cx="5760720" cy="731520"/>
          </a:xfrm>
          <a:prstGeom prst="rect">
            <a:avLst/>
          </a:prstGeom>
          <a:noFill/>
          <a:ln/>
        </p:spPr>
        <p:txBody>
          <a:bodyPr wrap="square" rtlCol="0" anchor="t"/>
          <a:lstStyle/>
          <a:p>
            <a:pPr algn="l" indent="0" marL="0">
              <a:lnSpc>
                <a:spcPct val="135000"/>
              </a:lnSpc>
              <a:buNone/>
            </a:pPr>
            <a:r>
              <a:rPr lang="en-US" sz="1300" dirty="0">
                <a:solidFill>
                  <a:srgbClr val="2F3241"/>
                </a:solidFill>
                <a:latin typeface="Calibri" pitchFamily="34" charset="0"/>
                <a:ea typeface="Calibri" pitchFamily="34" charset="-122"/>
                <a:cs typeface="Calibri" pitchFamily="34" charset="-120"/>
              </a:rPr>
              <a:t>Search firms engaged pre-close; three named hires inside the first six months.</a:t>
            </a:r>
            <a:endParaRPr lang="en-US" sz="1300" dirty="0"/>
          </a:p>
        </p:txBody>
      </p:sp>
      <p:sp>
        <p:nvSpPr>
          <p:cNvPr id="17" name="Shape 15"/>
          <p:cNvSpPr/>
          <p:nvPr/>
        </p:nvSpPr>
        <p:spPr>
          <a:xfrm>
            <a:off x="640080" y="4965192"/>
            <a:ext cx="10972800" cy="0"/>
          </a:xfrm>
          <a:prstGeom prst="line">
            <a:avLst/>
          </a:prstGeom>
          <a:noFill/>
          <a:ln w="5080">
            <a:solidFill>
              <a:srgbClr val="E5DFF0"/>
            </a:solidFill>
            <a:prstDash val="solid"/>
          </a:ln>
        </p:spPr>
      </p:sp>
      <p:sp>
        <p:nvSpPr>
          <p:cNvPr id="18" name="Text 16"/>
          <p:cNvSpPr/>
          <p:nvPr/>
        </p:nvSpPr>
        <p:spPr>
          <a:xfrm>
            <a:off x="640080" y="5020056"/>
            <a:ext cx="5120640" cy="731520"/>
          </a:xfrm>
          <a:prstGeom prst="rect">
            <a:avLst/>
          </a:prstGeom>
          <a:noFill/>
          <a:ln/>
        </p:spPr>
        <p:txBody>
          <a:bodyPr wrap="square" rtlCol="0" anchor="t"/>
          <a:lstStyle/>
          <a:p>
            <a:pPr algn="l" indent="0" marL="0">
              <a:lnSpc>
                <a:spcPct val="135000"/>
              </a:lnSpc>
              <a:buNone/>
            </a:pPr>
            <a:r>
              <a:rPr lang="en-US" sz="1300" b="1" dirty="0">
                <a:solidFill>
                  <a:srgbClr val="2F3241"/>
                </a:solidFill>
                <a:latin typeface="Calibri" pitchFamily="34" charset="0"/>
                <a:ea typeface="Calibri" pitchFamily="34" charset="-122"/>
                <a:cs typeface="Calibri" pitchFamily="34" charset="-120"/>
              </a:rPr>
              <a:t>EU AI Act high-risk classification (Aug 2027).</a:t>
            </a:r>
            <a:endParaRPr lang="en-US" sz="1300" dirty="0"/>
          </a:p>
        </p:txBody>
      </p:sp>
      <p:sp>
        <p:nvSpPr>
          <p:cNvPr id="19" name="Text 17"/>
          <p:cNvSpPr/>
          <p:nvPr/>
        </p:nvSpPr>
        <p:spPr>
          <a:xfrm>
            <a:off x="5943600" y="5020056"/>
            <a:ext cx="5760720" cy="731520"/>
          </a:xfrm>
          <a:prstGeom prst="rect">
            <a:avLst/>
          </a:prstGeom>
          <a:noFill/>
          <a:ln/>
        </p:spPr>
        <p:txBody>
          <a:bodyPr wrap="square" rtlCol="0" anchor="t"/>
          <a:lstStyle/>
          <a:p>
            <a:pPr algn="l" indent="0" marL="0">
              <a:lnSpc>
                <a:spcPct val="135000"/>
              </a:lnSpc>
              <a:buNone/>
            </a:pPr>
            <a:r>
              <a:rPr lang="en-US" sz="1300" dirty="0">
                <a:solidFill>
                  <a:srgbClr val="2F3241"/>
                </a:solidFill>
                <a:latin typeface="Calibri" pitchFamily="34" charset="0"/>
                <a:ea typeface="Calibri" pitchFamily="34" charset="-122"/>
                <a:cs typeface="Calibri" pitchFamily="34" charset="-120"/>
              </a:rPr>
              <a:t>Readiness programme funded in this round; external regulatory counsel in place.</a:t>
            </a:r>
            <a:endParaRPr lang="en-US" sz="1300" dirty="0"/>
          </a:p>
        </p:txBody>
      </p:sp>
      <p:sp>
        <p:nvSpPr>
          <p:cNvPr id="20" name="Shape 18"/>
          <p:cNvSpPr/>
          <p:nvPr/>
        </p:nvSpPr>
        <p:spPr>
          <a:xfrm>
            <a:off x="640080" y="5769864"/>
            <a:ext cx="10972800" cy="0"/>
          </a:xfrm>
          <a:prstGeom prst="line">
            <a:avLst/>
          </a:prstGeom>
          <a:noFill/>
          <a:ln w="5080">
            <a:solidFill>
              <a:srgbClr val="E5DFF0"/>
            </a:solidFill>
            <a:prstDash val="solid"/>
          </a:ln>
        </p:spPr>
      </p:sp>
      <p:sp>
        <p:nvSpPr>
          <p:cNvPr id="21" name="Text 19"/>
          <p:cNvSpPr/>
          <p:nvPr/>
        </p:nvSpPr>
        <p:spPr>
          <a:xfrm>
            <a:off x="640080" y="5824728"/>
            <a:ext cx="5120640" cy="731520"/>
          </a:xfrm>
          <a:prstGeom prst="rect">
            <a:avLst/>
          </a:prstGeom>
          <a:noFill/>
          <a:ln/>
        </p:spPr>
        <p:txBody>
          <a:bodyPr wrap="square" rtlCol="0" anchor="t"/>
          <a:lstStyle/>
          <a:p>
            <a:pPr algn="l" indent="0" marL="0">
              <a:lnSpc>
                <a:spcPct val="135000"/>
              </a:lnSpc>
              <a:buNone/>
            </a:pPr>
            <a:r>
              <a:rPr lang="en-US" sz="1300" b="1" dirty="0">
                <a:solidFill>
                  <a:srgbClr val="2F3241"/>
                </a:solidFill>
                <a:latin typeface="Calibri" pitchFamily="34" charset="0"/>
                <a:ea typeface="Calibri" pitchFamily="34" charset="-122"/>
                <a:cs typeface="Calibri" pitchFamily="34" charset="-120"/>
              </a:rPr>
              <a:t>Sponsor concentration at current scale.</a:t>
            </a:r>
            <a:endParaRPr lang="en-US" sz="1300" dirty="0"/>
          </a:p>
        </p:txBody>
      </p:sp>
      <p:sp>
        <p:nvSpPr>
          <p:cNvPr id="22" name="Text 20"/>
          <p:cNvSpPr/>
          <p:nvPr/>
        </p:nvSpPr>
        <p:spPr>
          <a:xfrm>
            <a:off x="5943600" y="5824728"/>
            <a:ext cx="5760720" cy="731520"/>
          </a:xfrm>
          <a:prstGeom prst="rect">
            <a:avLst/>
          </a:prstGeom>
          <a:noFill/>
          <a:ln/>
        </p:spPr>
        <p:txBody>
          <a:bodyPr wrap="square" rtlCol="0" anchor="t"/>
          <a:lstStyle/>
          <a:p>
            <a:pPr algn="l" indent="0" marL="0">
              <a:lnSpc>
                <a:spcPct val="135000"/>
              </a:lnSpc>
              <a:buNone/>
            </a:pPr>
            <a:r>
              <a:rPr lang="en-US" sz="1300" dirty="0">
                <a:solidFill>
                  <a:srgbClr val="2F3241"/>
                </a:solidFill>
                <a:latin typeface="Calibri" pitchFamily="34" charset="0"/>
                <a:ea typeface="Calibri" pitchFamily="34" charset="-122"/>
                <a:cs typeface="Calibri" pitchFamily="34" charset="-120"/>
              </a:rPr>
              <a:t>Diversify the mix; contract duration discipline; NRR tracking per cohort.</a:t>
            </a:r>
            <a:endParaRPr lang="en-US" sz="1300" dirty="0"/>
          </a:p>
        </p:txBody>
      </p:sp>
      <p:sp>
        <p:nvSpPr>
          <p:cNvPr id="23" name="Shape 21"/>
          <p:cNvSpPr/>
          <p:nvPr/>
        </p:nvSpPr>
        <p:spPr>
          <a:xfrm>
            <a:off x="640080" y="6574536"/>
            <a:ext cx="10972800" cy="0"/>
          </a:xfrm>
          <a:prstGeom prst="line">
            <a:avLst/>
          </a:prstGeom>
          <a:noFill/>
          <a:ln w="5080">
            <a:solidFill>
              <a:srgbClr val="E5DFF0"/>
            </a:solidFill>
            <a:prstDash val="solid"/>
          </a:ln>
        </p:spPr>
      </p:sp>
      <p:sp>
        <p:nvSpPr>
          <p:cNvPr id="24" name="Text 22"/>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25" name="Text 23"/>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18 / 25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502920"/>
          </a:xfrm>
          <a:prstGeom prst="rect">
            <a:avLst/>
          </a:prstGeom>
          <a:noFill/>
          <a:ln/>
        </p:spPr>
        <p:txBody>
          <a:bodyPr wrap="square" rtlCol="0" anchor="ctr"/>
          <a:lstStyle/>
          <a:p>
            <a:pPr algn="l" indent="0" marL="0">
              <a:buNone/>
            </a:pPr>
            <a:r>
              <a:rPr lang="en-US" sz="2400" b="1" spc="-50" kern="0" dirty="0">
                <a:solidFill>
                  <a:srgbClr val="2F3241"/>
                </a:solidFill>
                <a:latin typeface="Trebuchet MS" pitchFamily="34" charset="0"/>
                <a:ea typeface="Trebuchet MS" pitchFamily="34" charset="-122"/>
                <a:cs typeface="Trebuchet MS" pitchFamily="34" charset="-120"/>
              </a:rPr>
              <a:t>Evidence Gap register.</a:t>
            </a:r>
            <a:endParaRPr lang="en-US" sz="2400" dirty="0"/>
          </a:p>
        </p:txBody>
      </p:sp>
      <p:sp>
        <p:nvSpPr>
          <p:cNvPr id="3" name="Text 1"/>
          <p:cNvSpPr/>
          <p:nvPr/>
        </p:nvSpPr>
        <p:spPr>
          <a:xfrm>
            <a:off x="640080" y="914400"/>
            <a:ext cx="10972800" cy="274320"/>
          </a:xfrm>
          <a:prstGeom prst="rect">
            <a:avLst/>
          </a:prstGeom>
          <a:noFill/>
          <a:ln/>
        </p:spPr>
        <p:txBody>
          <a:bodyPr wrap="square" rtlCol="0" anchor="ctr"/>
          <a:lstStyle/>
          <a:p>
            <a:pPr algn="l" indent="0" marL="0">
              <a:buNone/>
            </a:pPr>
            <a:r>
              <a:rPr lang="en-US" sz="1100" i="1" dirty="0">
                <a:solidFill>
                  <a:srgbClr val="6B6880"/>
                </a:solidFill>
                <a:latin typeface="Calibri" pitchFamily="34" charset="0"/>
                <a:ea typeface="Calibri" pitchFamily="34" charset="-122"/>
                <a:cs typeface="Calibri" pitchFamily="34" charset="-120"/>
              </a:rPr>
              <a:t>Twelve items. Dated. Read-outs fuel each subsequent raise.</a:t>
            </a:r>
            <a:endParaRPr lang="en-US" sz="1100" dirty="0"/>
          </a:p>
        </p:txBody>
      </p:sp>
      <p:sp>
        <p:nvSpPr>
          <p:cNvPr id="4" name="Text 2"/>
          <p:cNvSpPr/>
          <p:nvPr/>
        </p:nvSpPr>
        <p:spPr>
          <a:xfrm>
            <a:off x="640080" y="1325880"/>
            <a:ext cx="914400" cy="274320"/>
          </a:xfrm>
          <a:prstGeom prst="rect">
            <a:avLst/>
          </a:prstGeom>
          <a:noFill/>
          <a:ln/>
        </p:spPr>
        <p:txBody>
          <a:bodyPr wrap="square" rtlCol="0" anchor="ctr"/>
          <a:lstStyle/>
          <a:p>
            <a:pPr indent="0" marL="0">
              <a:buNone/>
            </a:pPr>
            <a:r>
              <a:rPr lang="en-US" sz="900" b="1" spc="300" kern="0" dirty="0">
                <a:solidFill>
                  <a:srgbClr val="6B6880"/>
                </a:solidFill>
                <a:latin typeface="Calibri" pitchFamily="34" charset="0"/>
                <a:ea typeface="Calibri" pitchFamily="34" charset="-122"/>
                <a:cs typeface="Calibri" pitchFamily="34" charset="-120"/>
              </a:rPr>
              <a:t>REF</a:t>
            </a:r>
            <a:endParaRPr lang="en-US" sz="900" dirty="0"/>
          </a:p>
        </p:txBody>
      </p:sp>
      <p:sp>
        <p:nvSpPr>
          <p:cNvPr id="5" name="Text 3"/>
          <p:cNvSpPr/>
          <p:nvPr/>
        </p:nvSpPr>
        <p:spPr>
          <a:xfrm>
            <a:off x="1645920" y="1325880"/>
            <a:ext cx="6858000" cy="274320"/>
          </a:xfrm>
          <a:prstGeom prst="rect">
            <a:avLst/>
          </a:prstGeom>
          <a:noFill/>
          <a:ln/>
        </p:spPr>
        <p:txBody>
          <a:bodyPr wrap="square" rtlCol="0" anchor="ctr"/>
          <a:lstStyle/>
          <a:p>
            <a:pPr indent="0" marL="0">
              <a:buNone/>
            </a:pPr>
            <a:r>
              <a:rPr lang="en-US" sz="900" b="1" spc="300" kern="0" dirty="0">
                <a:solidFill>
                  <a:srgbClr val="6B6880"/>
                </a:solidFill>
                <a:latin typeface="Calibri" pitchFamily="34" charset="0"/>
                <a:ea typeface="Calibri" pitchFamily="34" charset="-122"/>
                <a:cs typeface="Calibri" pitchFamily="34" charset="-120"/>
              </a:rPr>
              <a:t>ITEM</a:t>
            </a:r>
            <a:endParaRPr lang="en-US" sz="900" dirty="0"/>
          </a:p>
        </p:txBody>
      </p:sp>
      <p:sp>
        <p:nvSpPr>
          <p:cNvPr id="6" name="Text 4"/>
          <p:cNvSpPr/>
          <p:nvPr/>
        </p:nvSpPr>
        <p:spPr>
          <a:xfrm>
            <a:off x="8595360" y="1325880"/>
            <a:ext cx="3200400" cy="274320"/>
          </a:xfrm>
          <a:prstGeom prst="rect">
            <a:avLst/>
          </a:prstGeom>
          <a:noFill/>
          <a:ln/>
        </p:spPr>
        <p:txBody>
          <a:bodyPr wrap="square" rtlCol="0" anchor="ctr"/>
          <a:lstStyle/>
          <a:p>
            <a:pPr indent="0" marL="0">
              <a:buNone/>
            </a:pPr>
            <a:r>
              <a:rPr lang="en-US" sz="900" b="1" spc="300" kern="0" dirty="0">
                <a:solidFill>
                  <a:srgbClr val="6B6880"/>
                </a:solidFill>
                <a:latin typeface="Calibri" pitchFamily="34" charset="0"/>
                <a:ea typeface="Calibri" pitchFamily="34" charset="-122"/>
                <a:cs typeface="Calibri" pitchFamily="34" charset="-120"/>
              </a:rPr>
              <a:t>READ-OUT</a:t>
            </a:r>
            <a:endParaRPr lang="en-US" sz="900" dirty="0"/>
          </a:p>
        </p:txBody>
      </p:sp>
      <p:sp>
        <p:nvSpPr>
          <p:cNvPr id="7" name="Shape 5"/>
          <p:cNvSpPr/>
          <p:nvPr/>
        </p:nvSpPr>
        <p:spPr>
          <a:xfrm>
            <a:off x="640080" y="1618488"/>
            <a:ext cx="11155680" cy="0"/>
          </a:xfrm>
          <a:prstGeom prst="line">
            <a:avLst/>
          </a:prstGeom>
          <a:noFill/>
          <a:ln w="12700">
            <a:solidFill>
              <a:srgbClr val="E5DFF0"/>
            </a:solidFill>
            <a:prstDash val="solid"/>
          </a:ln>
        </p:spPr>
      </p:sp>
      <p:sp>
        <p:nvSpPr>
          <p:cNvPr id="8" name="Text 6"/>
          <p:cNvSpPr/>
          <p:nvPr/>
        </p:nvSpPr>
        <p:spPr>
          <a:xfrm>
            <a:off x="640080" y="1673352"/>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§1</a:t>
            </a:r>
            <a:endParaRPr lang="en-US" sz="1000" dirty="0"/>
          </a:p>
        </p:txBody>
      </p:sp>
      <p:sp>
        <p:nvSpPr>
          <p:cNvPr id="9" name="Text 7"/>
          <p:cNvSpPr/>
          <p:nvPr/>
        </p:nvSpPr>
        <p:spPr>
          <a:xfrm>
            <a:off x="1645920" y="1673352"/>
            <a:ext cx="6858000" cy="292608"/>
          </a:xfrm>
          <a:prstGeom prst="rect">
            <a:avLst/>
          </a:prstGeom>
          <a:noFill/>
          <a:ln/>
        </p:spPr>
        <p:txBody>
          <a:bodyPr wrap="square" rtlCol="0" anchor="ctr"/>
          <a:lstStyle/>
          <a:p>
            <a:pPr algn="l" indent="0" marL="0">
              <a:buNone/>
            </a:pPr>
            <a:r>
              <a:rPr lang="en-US" sz="1100" dirty="0">
                <a:solidFill>
                  <a:srgbClr val="2F3241"/>
                </a:solidFill>
                <a:latin typeface="Calibri" pitchFamily="34" charset="0"/>
                <a:ea typeface="Calibri" pitchFamily="34" charset="-122"/>
                <a:cs typeface="Calibri" pitchFamily="34" charset="-120"/>
              </a:rPr>
              <a:t>Traffic-source breakdown for the 80–100k monthly searches.</a:t>
            </a:r>
            <a:endParaRPr lang="en-US" sz="1100" dirty="0"/>
          </a:p>
        </p:txBody>
      </p:sp>
      <p:sp>
        <p:nvSpPr>
          <p:cNvPr id="10" name="Text 8"/>
          <p:cNvSpPr/>
          <p:nvPr/>
        </p:nvSpPr>
        <p:spPr>
          <a:xfrm>
            <a:off x="8595360" y="1673352"/>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Disclosed at close.</a:t>
            </a:r>
            <a:endParaRPr lang="en-US" sz="1000" dirty="0"/>
          </a:p>
        </p:txBody>
      </p:sp>
      <p:sp>
        <p:nvSpPr>
          <p:cNvPr id="11" name="Shape 9"/>
          <p:cNvSpPr/>
          <p:nvPr/>
        </p:nvSpPr>
        <p:spPr>
          <a:xfrm>
            <a:off x="640080" y="1993392"/>
            <a:ext cx="11155680" cy="0"/>
          </a:xfrm>
          <a:prstGeom prst="line">
            <a:avLst/>
          </a:prstGeom>
          <a:noFill/>
          <a:ln w="4445">
            <a:solidFill>
              <a:srgbClr val="E5DFF0"/>
            </a:solidFill>
            <a:prstDash val="solid"/>
          </a:ln>
        </p:spPr>
      </p:sp>
      <p:sp>
        <p:nvSpPr>
          <p:cNvPr id="12" name="Text 10"/>
          <p:cNvSpPr/>
          <p:nvPr/>
        </p:nvSpPr>
        <p:spPr>
          <a:xfrm>
            <a:off x="640080" y="2020824"/>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§2</a:t>
            </a:r>
            <a:endParaRPr lang="en-US" sz="1000" dirty="0"/>
          </a:p>
        </p:txBody>
      </p:sp>
      <p:sp>
        <p:nvSpPr>
          <p:cNvPr id="13" name="Text 11"/>
          <p:cNvSpPr/>
          <p:nvPr/>
        </p:nvSpPr>
        <p:spPr>
          <a:xfrm>
            <a:off x="1645920" y="2020824"/>
            <a:ext cx="6858000" cy="292608"/>
          </a:xfrm>
          <a:prstGeom prst="rect">
            <a:avLst/>
          </a:prstGeom>
          <a:noFill/>
          <a:ln/>
        </p:spPr>
        <p:txBody>
          <a:bodyPr wrap="square" rtlCol="0" anchor="ctr"/>
          <a:lstStyle/>
          <a:p>
            <a:pPr algn="l" indent="0" marL="0">
              <a:buNone/>
            </a:pPr>
            <a:r>
              <a:rPr lang="en-US" sz="1100" dirty="0">
                <a:solidFill>
                  <a:srgbClr val="2F3241"/>
                </a:solidFill>
                <a:latin typeface="Calibri" pitchFamily="34" charset="0"/>
                <a:ea typeface="Calibri" pitchFamily="34" charset="-122"/>
                <a:cs typeface="Calibri" pitchFamily="34" charset="-120"/>
              </a:rPr>
              <a:t>Paid-lead → screen/randomisation conversion by sponsor.</a:t>
            </a:r>
            <a:endParaRPr lang="en-US" sz="1100" dirty="0"/>
          </a:p>
        </p:txBody>
      </p:sp>
      <p:sp>
        <p:nvSpPr>
          <p:cNvPr id="14" name="Text 12"/>
          <p:cNvSpPr/>
          <p:nvPr/>
        </p:nvSpPr>
        <p:spPr>
          <a:xfrm>
            <a:off x="8595360" y="2020824"/>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Quarterly review, study-level.</a:t>
            </a:r>
            <a:endParaRPr lang="en-US" sz="1000" dirty="0"/>
          </a:p>
        </p:txBody>
      </p:sp>
      <p:sp>
        <p:nvSpPr>
          <p:cNvPr id="15" name="Shape 13"/>
          <p:cNvSpPr/>
          <p:nvPr/>
        </p:nvSpPr>
        <p:spPr>
          <a:xfrm>
            <a:off x="640080" y="2340864"/>
            <a:ext cx="11155680" cy="0"/>
          </a:xfrm>
          <a:prstGeom prst="line">
            <a:avLst/>
          </a:prstGeom>
          <a:noFill/>
          <a:ln w="4445">
            <a:solidFill>
              <a:srgbClr val="E5DFF0"/>
            </a:solidFill>
            <a:prstDash val="solid"/>
          </a:ln>
        </p:spPr>
      </p:sp>
      <p:sp>
        <p:nvSpPr>
          <p:cNvPr id="16" name="Text 14"/>
          <p:cNvSpPr/>
          <p:nvPr/>
        </p:nvSpPr>
        <p:spPr>
          <a:xfrm>
            <a:off x="640080" y="2368296"/>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§3</a:t>
            </a:r>
            <a:endParaRPr lang="en-US" sz="1000" dirty="0"/>
          </a:p>
        </p:txBody>
      </p:sp>
      <p:sp>
        <p:nvSpPr>
          <p:cNvPr id="17" name="Text 15"/>
          <p:cNvSpPr/>
          <p:nvPr/>
        </p:nvSpPr>
        <p:spPr>
          <a:xfrm>
            <a:off x="1645920" y="2368296"/>
            <a:ext cx="6858000" cy="292608"/>
          </a:xfrm>
          <a:prstGeom prst="rect">
            <a:avLst/>
          </a:prstGeom>
          <a:noFill/>
          <a:ln/>
        </p:spPr>
        <p:txBody>
          <a:bodyPr wrap="square" rtlCol="0" anchor="ctr"/>
          <a:lstStyle/>
          <a:p>
            <a:pPr algn="l" indent="0" marL="0">
              <a:buNone/>
            </a:pPr>
            <a:r>
              <a:rPr lang="en-US" sz="1100" dirty="0">
                <a:solidFill>
                  <a:srgbClr val="2F3241"/>
                </a:solidFill>
                <a:latin typeface="Calibri" pitchFamily="34" charset="0"/>
                <a:ea typeface="Calibri" pitchFamily="34" charset="-122"/>
                <a:cs typeface="Calibri" pitchFamily="34" charset="-120"/>
              </a:rPr>
              <a:t>CAC per paid lead.</a:t>
            </a:r>
            <a:endParaRPr lang="en-US" sz="1100" dirty="0"/>
          </a:p>
        </p:txBody>
      </p:sp>
      <p:sp>
        <p:nvSpPr>
          <p:cNvPr id="18" name="Text 16"/>
          <p:cNvSpPr/>
          <p:nvPr/>
        </p:nvSpPr>
        <p:spPr>
          <a:xfrm>
            <a:off x="8595360" y="2368296"/>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Disclosed at close.</a:t>
            </a:r>
            <a:endParaRPr lang="en-US" sz="1000" dirty="0"/>
          </a:p>
        </p:txBody>
      </p:sp>
      <p:sp>
        <p:nvSpPr>
          <p:cNvPr id="19" name="Shape 17"/>
          <p:cNvSpPr/>
          <p:nvPr/>
        </p:nvSpPr>
        <p:spPr>
          <a:xfrm>
            <a:off x="640080" y="2688336"/>
            <a:ext cx="11155680" cy="0"/>
          </a:xfrm>
          <a:prstGeom prst="line">
            <a:avLst/>
          </a:prstGeom>
          <a:noFill/>
          <a:ln w="4445">
            <a:solidFill>
              <a:srgbClr val="E5DFF0"/>
            </a:solidFill>
            <a:prstDash val="solid"/>
          </a:ln>
        </p:spPr>
      </p:sp>
      <p:sp>
        <p:nvSpPr>
          <p:cNvPr id="20" name="Text 18"/>
          <p:cNvSpPr/>
          <p:nvPr/>
        </p:nvSpPr>
        <p:spPr>
          <a:xfrm>
            <a:off x="640080" y="2715768"/>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§4</a:t>
            </a:r>
            <a:endParaRPr lang="en-US" sz="1000" dirty="0"/>
          </a:p>
        </p:txBody>
      </p:sp>
      <p:sp>
        <p:nvSpPr>
          <p:cNvPr id="21" name="Text 19"/>
          <p:cNvSpPr/>
          <p:nvPr/>
        </p:nvSpPr>
        <p:spPr>
          <a:xfrm>
            <a:off x="1645920" y="2715768"/>
            <a:ext cx="6858000" cy="292608"/>
          </a:xfrm>
          <a:prstGeom prst="rect">
            <a:avLst/>
          </a:prstGeom>
          <a:noFill/>
          <a:ln/>
        </p:spPr>
        <p:txBody>
          <a:bodyPr wrap="square" rtlCol="0" anchor="ctr"/>
          <a:lstStyle/>
          <a:p>
            <a:pPr algn="l" indent="0" marL="0">
              <a:buNone/>
            </a:pPr>
            <a:r>
              <a:rPr lang="en-US" sz="1100" dirty="0">
                <a:solidFill>
                  <a:srgbClr val="2F3241"/>
                </a:solidFill>
                <a:latin typeface="Calibri" pitchFamily="34" charset="0"/>
                <a:ea typeface="Calibri" pitchFamily="34" charset="-122"/>
                <a:cs typeface="Calibri" pitchFamily="34" charset="-120"/>
              </a:rPr>
              <a:t>NRR cohort read-out.</a:t>
            </a:r>
            <a:endParaRPr lang="en-US" sz="1100" dirty="0"/>
          </a:p>
        </p:txBody>
      </p:sp>
      <p:sp>
        <p:nvSpPr>
          <p:cNvPr id="22" name="Text 20"/>
          <p:cNvSpPr/>
          <p:nvPr/>
        </p:nvSpPr>
        <p:spPr>
          <a:xfrm>
            <a:off x="8595360" y="2715768"/>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Pre-close.</a:t>
            </a:r>
            <a:endParaRPr lang="en-US" sz="1000" dirty="0"/>
          </a:p>
        </p:txBody>
      </p:sp>
      <p:sp>
        <p:nvSpPr>
          <p:cNvPr id="23" name="Shape 21"/>
          <p:cNvSpPr/>
          <p:nvPr/>
        </p:nvSpPr>
        <p:spPr>
          <a:xfrm>
            <a:off x="640080" y="3035808"/>
            <a:ext cx="11155680" cy="0"/>
          </a:xfrm>
          <a:prstGeom prst="line">
            <a:avLst/>
          </a:prstGeom>
          <a:noFill/>
          <a:ln w="4445">
            <a:solidFill>
              <a:srgbClr val="E5DFF0"/>
            </a:solidFill>
            <a:prstDash val="solid"/>
          </a:ln>
        </p:spPr>
      </p:sp>
      <p:sp>
        <p:nvSpPr>
          <p:cNvPr id="24" name="Text 22"/>
          <p:cNvSpPr/>
          <p:nvPr/>
        </p:nvSpPr>
        <p:spPr>
          <a:xfrm>
            <a:off x="640080" y="3063240"/>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§5</a:t>
            </a:r>
            <a:endParaRPr lang="en-US" sz="1000" dirty="0"/>
          </a:p>
        </p:txBody>
      </p:sp>
      <p:sp>
        <p:nvSpPr>
          <p:cNvPr id="25" name="Text 23"/>
          <p:cNvSpPr/>
          <p:nvPr/>
        </p:nvSpPr>
        <p:spPr>
          <a:xfrm>
            <a:off x="1645920" y="3063240"/>
            <a:ext cx="6858000" cy="292608"/>
          </a:xfrm>
          <a:prstGeom prst="rect">
            <a:avLst/>
          </a:prstGeom>
          <a:noFill/>
          <a:ln/>
        </p:spPr>
        <p:txBody>
          <a:bodyPr wrap="square" rtlCol="0" anchor="ctr"/>
          <a:lstStyle/>
          <a:p>
            <a:pPr algn="l" indent="0" marL="0">
              <a:buNone/>
            </a:pPr>
            <a:r>
              <a:rPr lang="en-US" sz="1100" dirty="0">
                <a:solidFill>
                  <a:srgbClr val="2F3241"/>
                </a:solidFill>
                <a:latin typeface="Calibri" pitchFamily="34" charset="0"/>
                <a:ea typeface="Calibri" pitchFamily="34" charset="-122"/>
                <a:cs typeface="Calibri" pitchFamily="34" charset="-120"/>
              </a:rPr>
              <a:t>Scleroderma cohort lift vs. generic discovery.</a:t>
            </a:r>
            <a:endParaRPr lang="en-US" sz="1100" dirty="0"/>
          </a:p>
        </p:txBody>
      </p:sp>
      <p:sp>
        <p:nvSpPr>
          <p:cNvPr id="26" name="Text 24"/>
          <p:cNvSpPr/>
          <p:nvPr/>
        </p:nvSpPr>
        <p:spPr>
          <a:xfrm>
            <a:off x="8595360" y="3063240"/>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Q3 2026.</a:t>
            </a:r>
            <a:endParaRPr lang="en-US" sz="1000" dirty="0"/>
          </a:p>
        </p:txBody>
      </p:sp>
      <p:sp>
        <p:nvSpPr>
          <p:cNvPr id="27" name="Shape 25"/>
          <p:cNvSpPr/>
          <p:nvPr/>
        </p:nvSpPr>
        <p:spPr>
          <a:xfrm>
            <a:off x="640080" y="3383280"/>
            <a:ext cx="11155680" cy="0"/>
          </a:xfrm>
          <a:prstGeom prst="line">
            <a:avLst/>
          </a:prstGeom>
          <a:noFill/>
          <a:ln w="4445">
            <a:solidFill>
              <a:srgbClr val="E5DFF0"/>
            </a:solidFill>
            <a:prstDash val="solid"/>
          </a:ln>
        </p:spPr>
      </p:sp>
      <p:sp>
        <p:nvSpPr>
          <p:cNvPr id="28" name="Text 26"/>
          <p:cNvSpPr/>
          <p:nvPr/>
        </p:nvSpPr>
        <p:spPr>
          <a:xfrm>
            <a:off x="640080" y="3410712"/>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§6</a:t>
            </a:r>
            <a:endParaRPr lang="en-US" sz="1000" dirty="0"/>
          </a:p>
        </p:txBody>
      </p:sp>
      <p:sp>
        <p:nvSpPr>
          <p:cNvPr id="29" name="Text 27"/>
          <p:cNvSpPr/>
          <p:nvPr/>
        </p:nvSpPr>
        <p:spPr>
          <a:xfrm>
            <a:off x="1645920" y="3410712"/>
            <a:ext cx="6858000" cy="292608"/>
          </a:xfrm>
          <a:prstGeom prst="rect">
            <a:avLst/>
          </a:prstGeom>
          <a:noFill/>
          <a:ln/>
        </p:spPr>
        <p:txBody>
          <a:bodyPr wrap="square" rtlCol="0" anchor="ctr"/>
          <a:lstStyle/>
          <a:p>
            <a:pPr algn="l" indent="0" marL="0">
              <a:buNone/>
            </a:pPr>
            <a:r>
              <a:rPr lang="en-US" sz="1100" dirty="0">
                <a:solidFill>
                  <a:srgbClr val="2F3241"/>
                </a:solidFill>
                <a:latin typeface="Calibri" pitchFamily="34" charset="0"/>
                <a:ea typeface="Calibri" pitchFamily="34" charset="-122"/>
                <a:cs typeface="Calibri" pitchFamily="34" charset="-120"/>
              </a:rPr>
              <a:t>Partner quote from Scleroderma Australia.</a:t>
            </a:r>
            <a:endParaRPr lang="en-US" sz="1100" dirty="0"/>
          </a:p>
        </p:txBody>
      </p:sp>
      <p:sp>
        <p:nvSpPr>
          <p:cNvPr id="30" name="Text 28"/>
          <p:cNvSpPr/>
          <p:nvPr/>
        </p:nvSpPr>
        <p:spPr>
          <a:xfrm>
            <a:off x="8595360" y="3410712"/>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Pre-close.</a:t>
            </a:r>
            <a:endParaRPr lang="en-US" sz="1000" dirty="0"/>
          </a:p>
        </p:txBody>
      </p:sp>
      <p:sp>
        <p:nvSpPr>
          <p:cNvPr id="31" name="Shape 29"/>
          <p:cNvSpPr/>
          <p:nvPr/>
        </p:nvSpPr>
        <p:spPr>
          <a:xfrm>
            <a:off x="640080" y="3730752"/>
            <a:ext cx="11155680" cy="0"/>
          </a:xfrm>
          <a:prstGeom prst="line">
            <a:avLst/>
          </a:prstGeom>
          <a:noFill/>
          <a:ln w="4445">
            <a:solidFill>
              <a:srgbClr val="E5DFF0"/>
            </a:solidFill>
            <a:prstDash val="solid"/>
          </a:ln>
        </p:spPr>
      </p:sp>
      <p:sp>
        <p:nvSpPr>
          <p:cNvPr id="32" name="Text 30"/>
          <p:cNvSpPr/>
          <p:nvPr/>
        </p:nvSpPr>
        <p:spPr>
          <a:xfrm>
            <a:off x="640080" y="3758184"/>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§7</a:t>
            </a:r>
            <a:endParaRPr lang="en-US" sz="1000" dirty="0"/>
          </a:p>
        </p:txBody>
      </p:sp>
      <p:sp>
        <p:nvSpPr>
          <p:cNvPr id="33" name="Text 31"/>
          <p:cNvSpPr/>
          <p:nvPr/>
        </p:nvSpPr>
        <p:spPr>
          <a:xfrm>
            <a:off x="1645920" y="3758184"/>
            <a:ext cx="6858000" cy="292608"/>
          </a:xfrm>
          <a:prstGeom prst="rect">
            <a:avLst/>
          </a:prstGeom>
          <a:noFill/>
          <a:ln/>
        </p:spPr>
        <p:txBody>
          <a:bodyPr wrap="square" rtlCol="0" anchor="ctr"/>
          <a:lstStyle/>
          <a:p>
            <a:pPr algn="l" indent="0" marL="0">
              <a:buNone/>
            </a:pPr>
            <a:r>
              <a:rPr lang="en-US" sz="1100" dirty="0">
                <a:solidFill>
                  <a:srgbClr val="2F3241"/>
                </a:solidFill>
                <a:latin typeface="Calibri" pitchFamily="34" charset="0"/>
                <a:ea typeface="Calibri" pitchFamily="34" charset="-122"/>
                <a:cs typeface="Calibri" pitchFamily="34" charset="-120"/>
              </a:rPr>
              <a:t>Named Research Friends partners 2–3 under MoU.</a:t>
            </a:r>
            <a:endParaRPr lang="en-US" sz="1100" dirty="0"/>
          </a:p>
        </p:txBody>
      </p:sp>
      <p:sp>
        <p:nvSpPr>
          <p:cNvPr id="34" name="Text 32"/>
          <p:cNvSpPr/>
          <p:nvPr/>
        </p:nvSpPr>
        <p:spPr>
          <a:xfrm>
            <a:off x="8595360" y="3758184"/>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Q4 2026 / H1 2027.</a:t>
            </a:r>
            <a:endParaRPr lang="en-US" sz="1000" dirty="0"/>
          </a:p>
        </p:txBody>
      </p:sp>
      <p:sp>
        <p:nvSpPr>
          <p:cNvPr id="35" name="Shape 33"/>
          <p:cNvSpPr/>
          <p:nvPr/>
        </p:nvSpPr>
        <p:spPr>
          <a:xfrm>
            <a:off x="640080" y="4078224"/>
            <a:ext cx="11155680" cy="0"/>
          </a:xfrm>
          <a:prstGeom prst="line">
            <a:avLst/>
          </a:prstGeom>
          <a:noFill/>
          <a:ln w="4445">
            <a:solidFill>
              <a:srgbClr val="E5DFF0"/>
            </a:solidFill>
            <a:prstDash val="solid"/>
          </a:ln>
        </p:spPr>
      </p:sp>
      <p:sp>
        <p:nvSpPr>
          <p:cNvPr id="36" name="Text 34"/>
          <p:cNvSpPr/>
          <p:nvPr/>
        </p:nvSpPr>
        <p:spPr>
          <a:xfrm>
            <a:off x="640080" y="4105656"/>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§8</a:t>
            </a:r>
            <a:endParaRPr lang="en-US" sz="1000" dirty="0"/>
          </a:p>
        </p:txBody>
      </p:sp>
      <p:sp>
        <p:nvSpPr>
          <p:cNvPr id="37" name="Text 35"/>
          <p:cNvSpPr/>
          <p:nvPr/>
        </p:nvSpPr>
        <p:spPr>
          <a:xfrm>
            <a:off x="1645920" y="4105656"/>
            <a:ext cx="6858000" cy="292608"/>
          </a:xfrm>
          <a:prstGeom prst="rect">
            <a:avLst/>
          </a:prstGeom>
          <a:noFill/>
          <a:ln/>
        </p:spPr>
        <p:txBody>
          <a:bodyPr wrap="square" rtlCol="0" anchor="ctr"/>
          <a:lstStyle/>
          <a:p>
            <a:pPr algn="l" indent="0" marL="0">
              <a:buNone/>
            </a:pPr>
            <a:r>
              <a:rPr lang="en-US" sz="1100" dirty="0">
                <a:solidFill>
                  <a:srgbClr val="2F3241"/>
                </a:solidFill>
                <a:latin typeface="Calibri" pitchFamily="34" charset="0"/>
                <a:ea typeface="Calibri" pitchFamily="34" charset="-122"/>
                <a:cs typeface="Calibri" pitchFamily="34" charset="-120"/>
              </a:rPr>
              <a:t>Exclusivity / preferred-access terms on Research Friends.</a:t>
            </a:r>
            <a:endParaRPr lang="en-US" sz="1100" dirty="0"/>
          </a:p>
        </p:txBody>
      </p:sp>
      <p:sp>
        <p:nvSpPr>
          <p:cNvPr id="38" name="Text 36"/>
          <p:cNvSpPr/>
          <p:nvPr/>
        </p:nvSpPr>
        <p:spPr>
          <a:xfrm>
            <a:off x="8595360" y="4105656"/>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Legal review; disclosed pre-close.</a:t>
            </a:r>
            <a:endParaRPr lang="en-US" sz="1000" dirty="0"/>
          </a:p>
        </p:txBody>
      </p:sp>
      <p:sp>
        <p:nvSpPr>
          <p:cNvPr id="39" name="Shape 37"/>
          <p:cNvSpPr/>
          <p:nvPr/>
        </p:nvSpPr>
        <p:spPr>
          <a:xfrm>
            <a:off x="640080" y="4425696"/>
            <a:ext cx="11155680" cy="0"/>
          </a:xfrm>
          <a:prstGeom prst="line">
            <a:avLst/>
          </a:prstGeom>
          <a:noFill/>
          <a:ln w="4445">
            <a:solidFill>
              <a:srgbClr val="E5DFF0"/>
            </a:solidFill>
            <a:prstDash val="solid"/>
          </a:ln>
        </p:spPr>
      </p:sp>
      <p:sp>
        <p:nvSpPr>
          <p:cNvPr id="40" name="Text 38"/>
          <p:cNvSpPr/>
          <p:nvPr/>
        </p:nvSpPr>
        <p:spPr>
          <a:xfrm>
            <a:off x="640080" y="4453128"/>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§9</a:t>
            </a:r>
            <a:endParaRPr lang="en-US" sz="1000" dirty="0"/>
          </a:p>
        </p:txBody>
      </p:sp>
      <p:sp>
        <p:nvSpPr>
          <p:cNvPr id="41" name="Text 39"/>
          <p:cNvSpPr/>
          <p:nvPr/>
        </p:nvSpPr>
        <p:spPr>
          <a:xfrm>
            <a:off x="1645920" y="4453128"/>
            <a:ext cx="6858000" cy="292608"/>
          </a:xfrm>
          <a:prstGeom prst="rect">
            <a:avLst/>
          </a:prstGeom>
          <a:noFill/>
          <a:ln/>
        </p:spPr>
        <p:txBody>
          <a:bodyPr wrap="square" rtlCol="0" anchor="ctr"/>
          <a:lstStyle/>
          <a:p>
            <a:pPr algn="l" indent="0" marL="0">
              <a:buNone/>
            </a:pPr>
            <a:r>
              <a:rPr lang="en-US" sz="1100" dirty="0">
                <a:solidFill>
                  <a:srgbClr val="2F3241"/>
                </a:solidFill>
                <a:latin typeface="Calibri" pitchFamily="34" charset="0"/>
                <a:ea typeface="Calibri" pitchFamily="34" charset="-122"/>
                <a:cs typeface="Calibri" pitchFamily="34" charset="-120"/>
              </a:rPr>
              <a:t>CAC payback today.</a:t>
            </a:r>
            <a:endParaRPr lang="en-US" sz="1100" dirty="0"/>
          </a:p>
        </p:txBody>
      </p:sp>
      <p:sp>
        <p:nvSpPr>
          <p:cNvPr id="42" name="Text 40"/>
          <p:cNvSpPr/>
          <p:nvPr/>
        </p:nvSpPr>
        <p:spPr>
          <a:xfrm>
            <a:off x="8595360" y="4453128"/>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Pre-close.</a:t>
            </a:r>
            <a:endParaRPr lang="en-US" sz="1000" dirty="0"/>
          </a:p>
        </p:txBody>
      </p:sp>
      <p:sp>
        <p:nvSpPr>
          <p:cNvPr id="43" name="Shape 41"/>
          <p:cNvSpPr/>
          <p:nvPr/>
        </p:nvSpPr>
        <p:spPr>
          <a:xfrm>
            <a:off x="640080" y="4773168"/>
            <a:ext cx="11155680" cy="0"/>
          </a:xfrm>
          <a:prstGeom prst="line">
            <a:avLst/>
          </a:prstGeom>
          <a:noFill/>
          <a:ln w="4445">
            <a:solidFill>
              <a:srgbClr val="E5DFF0"/>
            </a:solidFill>
            <a:prstDash val="solid"/>
          </a:ln>
        </p:spPr>
      </p:sp>
      <p:sp>
        <p:nvSpPr>
          <p:cNvPr id="44" name="Text 42"/>
          <p:cNvSpPr/>
          <p:nvPr/>
        </p:nvSpPr>
        <p:spPr>
          <a:xfrm>
            <a:off x="640080" y="4800600"/>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§10</a:t>
            </a:r>
            <a:endParaRPr lang="en-US" sz="1000" dirty="0"/>
          </a:p>
        </p:txBody>
      </p:sp>
      <p:sp>
        <p:nvSpPr>
          <p:cNvPr id="45" name="Text 43"/>
          <p:cNvSpPr/>
          <p:nvPr/>
        </p:nvSpPr>
        <p:spPr>
          <a:xfrm>
            <a:off x="1645920" y="4800600"/>
            <a:ext cx="6858000" cy="292608"/>
          </a:xfrm>
          <a:prstGeom prst="rect">
            <a:avLst/>
          </a:prstGeom>
          <a:noFill/>
          <a:ln/>
        </p:spPr>
        <p:txBody>
          <a:bodyPr wrap="square" rtlCol="0" anchor="ctr"/>
          <a:lstStyle/>
          <a:p>
            <a:pPr algn="l" indent="0" marL="0">
              <a:buNone/>
            </a:pPr>
            <a:r>
              <a:rPr lang="en-US" sz="1100" dirty="0">
                <a:solidFill>
                  <a:srgbClr val="2F3241"/>
                </a:solidFill>
                <a:latin typeface="Calibri" pitchFamily="34" charset="0"/>
                <a:ea typeface="Calibri" pitchFamily="34" charset="-122"/>
                <a:cs typeface="Calibri" pitchFamily="34" charset="-120"/>
              </a:rPr>
              <a:t>SOC 2 Type II timeline.</a:t>
            </a:r>
            <a:endParaRPr lang="en-US" sz="1100" dirty="0"/>
          </a:p>
        </p:txBody>
      </p:sp>
      <p:sp>
        <p:nvSpPr>
          <p:cNvPr id="46" name="Text 44"/>
          <p:cNvSpPr/>
          <p:nvPr/>
        </p:nvSpPr>
        <p:spPr>
          <a:xfrm>
            <a:off x="8595360" y="4800600"/>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12–18 months post-close.</a:t>
            </a:r>
            <a:endParaRPr lang="en-US" sz="1000" dirty="0"/>
          </a:p>
        </p:txBody>
      </p:sp>
      <p:sp>
        <p:nvSpPr>
          <p:cNvPr id="47" name="Shape 45"/>
          <p:cNvSpPr/>
          <p:nvPr/>
        </p:nvSpPr>
        <p:spPr>
          <a:xfrm>
            <a:off x="640080" y="5120640"/>
            <a:ext cx="11155680" cy="0"/>
          </a:xfrm>
          <a:prstGeom prst="line">
            <a:avLst/>
          </a:prstGeom>
          <a:noFill/>
          <a:ln w="4445">
            <a:solidFill>
              <a:srgbClr val="E5DFF0"/>
            </a:solidFill>
            <a:prstDash val="solid"/>
          </a:ln>
        </p:spPr>
      </p:sp>
      <p:sp>
        <p:nvSpPr>
          <p:cNvPr id="48" name="Text 46"/>
          <p:cNvSpPr/>
          <p:nvPr/>
        </p:nvSpPr>
        <p:spPr>
          <a:xfrm>
            <a:off x="640080" y="5148072"/>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§11</a:t>
            </a:r>
            <a:endParaRPr lang="en-US" sz="1000" dirty="0"/>
          </a:p>
        </p:txBody>
      </p:sp>
      <p:sp>
        <p:nvSpPr>
          <p:cNvPr id="49" name="Text 47"/>
          <p:cNvSpPr/>
          <p:nvPr/>
        </p:nvSpPr>
        <p:spPr>
          <a:xfrm>
            <a:off x="1645920" y="5148072"/>
            <a:ext cx="6858000" cy="292608"/>
          </a:xfrm>
          <a:prstGeom prst="rect">
            <a:avLst/>
          </a:prstGeom>
          <a:noFill/>
          <a:ln/>
        </p:spPr>
        <p:txBody>
          <a:bodyPr wrap="square" rtlCol="0" anchor="ctr"/>
          <a:lstStyle/>
          <a:p>
            <a:pPr algn="l" indent="0" marL="0">
              <a:buNone/>
            </a:pPr>
            <a:r>
              <a:rPr lang="en-US" sz="1100" dirty="0">
                <a:solidFill>
                  <a:srgbClr val="2F3241"/>
                </a:solidFill>
                <a:latin typeface="Calibri" pitchFamily="34" charset="0"/>
                <a:ea typeface="Calibri" pitchFamily="34" charset="-122"/>
                <a:cs typeface="Calibri" pitchFamily="34" charset="-120"/>
              </a:rPr>
              <a:t>Top-20 pharma account in Stage 2+ pilot.</a:t>
            </a:r>
            <a:endParaRPr lang="en-US" sz="1100" dirty="0"/>
          </a:p>
        </p:txBody>
      </p:sp>
      <p:sp>
        <p:nvSpPr>
          <p:cNvPr id="50" name="Text 48"/>
          <p:cNvSpPr/>
          <p:nvPr/>
        </p:nvSpPr>
        <p:spPr>
          <a:xfrm>
            <a:off x="8595360" y="5148072"/>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End-2026.</a:t>
            </a:r>
            <a:endParaRPr lang="en-US" sz="1000" dirty="0"/>
          </a:p>
        </p:txBody>
      </p:sp>
      <p:sp>
        <p:nvSpPr>
          <p:cNvPr id="51" name="Shape 49"/>
          <p:cNvSpPr/>
          <p:nvPr/>
        </p:nvSpPr>
        <p:spPr>
          <a:xfrm>
            <a:off x="640080" y="5468112"/>
            <a:ext cx="11155680" cy="0"/>
          </a:xfrm>
          <a:prstGeom prst="line">
            <a:avLst/>
          </a:prstGeom>
          <a:noFill/>
          <a:ln w="4445">
            <a:solidFill>
              <a:srgbClr val="E5DFF0"/>
            </a:solidFill>
            <a:prstDash val="solid"/>
          </a:ln>
        </p:spPr>
      </p:sp>
      <p:sp>
        <p:nvSpPr>
          <p:cNvPr id="52" name="Text 50"/>
          <p:cNvSpPr/>
          <p:nvPr/>
        </p:nvSpPr>
        <p:spPr>
          <a:xfrm>
            <a:off x="640080" y="5495544"/>
            <a:ext cx="914400" cy="292608"/>
          </a:xfrm>
          <a:prstGeom prst="rect">
            <a:avLst/>
          </a:prstGeom>
          <a:noFill/>
          <a:ln/>
        </p:spPr>
        <p:txBody>
          <a:bodyPr wrap="square" rtlCol="0" anchor="ctr"/>
          <a:lstStyle/>
          <a:p>
            <a:pPr algn="l" indent="0" marL="0">
              <a:buNone/>
            </a:pPr>
            <a:r>
              <a:rPr lang="en-US" sz="1000" b="1" dirty="0">
                <a:solidFill>
                  <a:srgbClr val="773A96"/>
                </a:solidFill>
                <a:latin typeface="Calibri" pitchFamily="34" charset="0"/>
                <a:ea typeface="Calibri" pitchFamily="34" charset="-122"/>
                <a:cs typeface="Calibri" pitchFamily="34" charset="-120"/>
              </a:rPr>
              <a:t>EG §12</a:t>
            </a:r>
            <a:endParaRPr lang="en-US" sz="1000" dirty="0"/>
          </a:p>
        </p:txBody>
      </p:sp>
      <p:sp>
        <p:nvSpPr>
          <p:cNvPr id="53" name="Text 51"/>
          <p:cNvSpPr/>
          <p:nvPr/>
        </p:nvSpPr>
        <p:spPr>
          <a:xfrm>
            <a:off x="1645920" y="5495544"/>
            <a:ext cx="6858000" cy="292608"/>
          </a:xfrm>
          <a:prstGeom prst="rect">
            <a:avLst/>
          </a:prstGeom>
          <a:noFill/>
          <a:ln/>
        </p:spPr>
        <p:txBody>
          <a:bodyPr wrap="square" rtlCol="0" anchor="ctr"/>
          <a:lstStyle/>
          <a:p>
            <a:pPr algn="l" indent="0" marL="0">
              <a:buNone/>
            </a:pPr>
            <a:r>
              <a:rPr lang="en-US" sz="1100" dirty="0">
                <a:solidFill>
                  <a:srgbClr val="2F3241"/>
                </a:solidFill>
                <a:latin typeface="Calibri" pitchFamily="34" charset="0"/>
                <a:ea typeface="Calibri" pitchFamily="34" charset="-122"/>
                <a:cs typeface="Calibri" pitchFamily="34" charset="-120"/>
              </a:rPr>
              <a:t>Three quantified sponsor case studies.</a:t>
            </a:r>
            <a:endParaRPr lang="en-US" sz="1100" dirty="0"/>
          </a:p>
        </p:txBody>
      </p:sp>
      <p:sp>
        <p:nvSpPr>
          <p:cNvPr id="54" name="Text 52"/>
          <p:cNvSpPr/>
          <p:nvPr/>
        </p:nvSpPr>
        <p:spPr>
          <a:xfrm>
            <a:off x="8595360" y="5495544"/>
            <a:ext cx="3200400" cy="292608"/>
          </a:xfrm>
          <a:prstGeom prst="rect">
            <a:avLst/>
          </a:prstGeom>
          <a:noFill/>
          <a:ln/>
        </p:spPr>
        <p:txBody>
          <a:bodyPr wrap="square" rtlCol="0" anchor="ctr"/>
          <a:lstStyle/>
          <a:p>
            <a:pPr algn="l" indent="0" marL="0">
              <a:buNone/>
            </a:pPr>
            <a:r>
              <a:rPr lang="en-US" sz="1000" i="1" dirty="0">
                <a:solidFill>
                  <a:srgbClr val="6B6880"/>
                </a:solidFill>
                <a:latin typeface="Calibri" pitchFamily="34" charset="0"/>
                <a:ea typeface="Calibri" pitchFamily="34" charset="-122"/>
                <a:cs typeface="Calibri" pitchFamily="34" charset="-120"/>
              </a:rPr>
              <a:t>By end-2027 for Series B.</a:t>
            </a:r>
            <a:endParaRPr lang="en-US" sz="1000" dirty="0"/>
          </a:p>
        </p:txBody>
      </p:sp>
      <p:sp>
        <p:nvSpPr>
          <p:cNvPr id="55" name="Shape 53"/>
          <p:cNvSpPr/>
          <p:nvPr/>
        </p:nvSpPr>
        <p:spPr>
          <a:xfrm>
            <a:off x="640080" y="5815584"/>
            <a:ext cx="11155680" cy="0"/>
          </a:xfrm>
          <a:prstGeom prst="line">
            <a:avLst/>
          </a:prstGeom>
          <a:noFill/>
          <a:ln w="4445">
            <a:solidFill>
              <a:srgbClr val="E5DFF0"/>
            </a:solidFill>
            <a:prstDash val="solid"/>
          </a:ln>
        </p:spPr>
      </p:sp>
      <p:sp>
        <p:nvSpPr>
          <p:cNvPr id="56" name="Text 54"/>
          <p:cNvSpPr/>
          <p:nvPr/>
        </p:nvSpPr>
        <p:spPr>
          <a:xfrm>
            <a:off x="640080" y="5897880"/>
            <a:ext cx="11155680" cy="457200"/>
          </a:xfrm>
          <a:prstGeom prst="rect">
            <a:avLst/>
          </a:prstGeom>
          <a:noFill/>
          <a:ln/>
        </p:spPr>
        <p:txBody>
          <a:bodyPr wrap="square" rtlCol="0" anchor="ctr"/>
          <a:lstStyle/>
          <a:p>
            <a:pPr algn="l" indent="0" marL="0">
              <a:buNone/>
            </a:pPr>
            <a:r>
              <a:rPr lang="en-US" sz="1100" i="1" dirty="0">
                <a:solidFill>
                  <a:srgbClr val="6B6880"/>
                </a:solidFill>
                <a:latin typeface="Calibri" pitchFamily="34" charset="0"/>
                <a:ea typeface="Calibri" pitchFamily="34" charset="-122"/>
                <a:cs typeface="Calibri" pitchFamily="34" charset="-120"/>
              </a:rPr>
              <a:t>Highest leverage: the </a:t>
            </a:r>
            <a:pPr algn="l" indent="0" marL="0">
              <a:buNone/>
            </a:pPr>
            <a:r>
              <a:rPr lang="en-US" sz="1100" b="1" i="1" dirty="0">
                <a:solidFill>
                  <a:srgbClr val="773A96"/>
                </a:solidFill>
                <a:latin typeface="Calibri" pitchFamily="34" charset="0"/>
                <a:ea typeface="Calibri" pitchFamily="34" charset="-122"/>
                <a:cs typeface="Calibri" pitchFamily="34" charset="-120"/>
              </a:rPr>
              <a:t>Scleroderma</a:t>
            </a:r>
            <a:pPr algn="l" indent="0" marL="0">
              <a:buNone/>
            </a:pPr>
            <a:r>
              <a:rPr lang="en-US" sz="1100" i="1" dirty="0">
                <a:solidFill>
                  <a:srgbClr val="6B6880"/>
                </a:solidFill>
                <a:latin typeface="Calibri" pitchFamily="34" charset="0"/>
                <a:ea typeface="Calibri" pitchFamily="34" charset="-122"/>
                <a:cs typeface="Calibri" pitchFamily="34" charset="-120"/>
              </a:rPr>
              <a:t> cohort lift read-out (EG §5). It converts community into measurable economics.</a:t>
            </a:r>
            <a:endParaRPr lang="en-US" sz="1100" dirty="0"/>
          </a:p>
        </p:txBody>
      </p:sp>
      <p:sp>
        <p:nvSpPr>
          <p:cNvPr id="57" name="Text 55"/>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58" name="Text 56"/>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19 / 25</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4572000" cy="274320"/>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USE OF FUNDS</a:t>
            </a:r>
            <a:endParaRPr lang="en-US" sz="1000" dirty="0"/>
          </a:p>
        </p:txBody>
      </p:sp>
      <p:sp>
        <p:nvSpPr>
          <p:cNvPr id="3" name="Text 1"/>
          <p:cNvSpPr/>
          <p:nvPr/>
        </p:nvSpPr>
        <p:spPr>
          <a:xfrm>
            <a:off x="640080" y="914400"/>
            <a:ext cx="5120640" cy="2560320"/>
          </a:xfrm>
          <a:prstGeom prst="rect">
            <a:avLst/>
          </a:prstGeom>
          <a:noFill/>
          <a:ln/>
        </p:spPr>
        <p:txBody>
          <a:bodyPr wrap="square" rtlCol="0" anchor="ctr"/>
          <a:lstStyle/>
          <a:p>
            <a:pPr algn="l" indent="0" marL="0">
              <a:buNone/>
            </a:pPr>
            <a:r>
              <a:rPr lang="en-US" sz="17000" b="1" spc="-800" kern="0" dirty="0">
                <a:solidFill>
                  <a:srgbClr val="2F3241"/>
                </a:solidFill>
                <a:latin typeface="Trebuchet MS" pitchFamily="34" charset="0"/>
                <a:ea typeface="Trebuchet MS" pitchFamily="34" charset="-122"/>
                <a:cs typeface="Trebuchet MS" pitchFamily="34" charset="-120"/>
              </a:rPr>
              <a:t>$5M</a:t>
            </a:r>
            <a:endParaRPr lang="en-US" sz="17000" dirty="0"/>
          </a:p>
        </p:txBody>
      </p:sp>
      <p:sp>
        <p:nvSpPr>
          <p:cNvPr id="4" name="Shape 2"/>
          <p:cNvSpPr/>
          <p:nvPr/>
        </p:nvSpPr>
        <p:spPr>
          <a:xfrm>
            <a:off x="822960" y="3200400"/>
            <a:ext cx="1280160" cy="0"/>
          </a:xfrm>
          <a:prstGeom prst="line">
            <a:avLst/>
          </a:prstGeom>
          <a:noFill/>
          <a:ln w="28575">
            <a:solidFill>
              <a:srgbClr val="FFB01A"/>
            </a:solidFill>
            <a:prstDash val="solid"/>
          </a:ln>
        </p:spPr>
      </p:sp>
      <p:sp>
        <p:nvSpPr>
          <p:cNvPr id="5" name="Text 3"/>
          <p:cNvSpPr/>
          <p:nvPr/>
        </p:nvSpPr>
        <p:spPr>
          <a:xfrm>
            <a:off x="5852160" y="2377440"/>
            <a:ext cx="5669280" cy="731520"/>
          </a:xfrm>
          <a:prstGeom prst="rect">
            <a:avLst/>
          </a:prstGeom>
          <a:noFill/>
          <a:ln/>
        </p:spPr>
        <p:txBody>
          <a:bodyPr wrap="square" rtlCol="0" anchor="ctr"/>
          <a:lstStyle/>
          <a:p>
            <a:pPr algn="l" indent="0" marL="0">
              <a:buNone/>
            </a:pPr>
            <a:r>
              <a:rPr lang="en-US" sz="2800" spc="-30" kern="0" dirty="0">
                <a:solidFill>
                  <a:srgbClr val="773A96"/>
                </a:solidFill>
                <a:latin typeface="Trebuchet MS" pitchFamily="34" charset="0"/>
                <a:ea typeface="Trebuchet MS" pitchFamily="34" charset="-122"/>
                <a:cs typeface="Trebuchet MS" pitchFamily="34" charset="-120"/>
              </a:rPr>
              <a:t>over 18 months.</a:t>
            </a:r>
            <a:endParaRPr lang="en-US" sz="2800" dirty="0"/>
          </a:p>
        </p:txBody>
      </p:sp>
      <p:sp>
        <p:nvSpPr>
          <p:cNvPr id="6" name="Shape 4"/>
          <p:cNvSpPr/>
          <p:nvPr/>
        </p:nvSpPr>
        <p:spPr>
          <a:xfrm>
            <a:off x="640080" y="3931920"/>
            <a:ext cx="10972800" cy="0"/>
          </a:xfrm>
          <a:prstGeom prst="line">
            <a:avLst/>
          </a:prstGeom>
          <a:noFill/>
          <a:ln w="12700">
            <a:solidFill>
              <a:srgbClr val="E5DFF0"/>
            </a:solidFill>
            <a:prstDash val="solid"/>
          </a:ln>
        </p:spPr>
      </p:sp>
      <p:sp>
        <p:nvSpPr>
          <p:cNvPr id="7" name="Text 5"/>
          <p:cNvSpPr/>
          <p:nvPr/>
        </p:nvSpPr>
        <p:spPr>
          <a:xfrm>
            <a:off x="640080" y="4023360"/>
            <a:ext cx="1828800" cy="411480"/>
          </a:xfrm>
          <a:prstGeom prst="rect">
            <a:avLst/>
          </a:prstGeom>
          <a:noFill/>
          <a:ln/>
        </p:spPr>
        <p:txBody>
          <a:bodyPr wrap="square" rtlCol="0" anchor="ctr"/>
          <a:lstStyle/>
          <a:p>
            <a:pPr algn="l" indent="0" marL="0">
              <a:buNone/>
            </a:pPr>
            <a:r>
              <a:rPr lang="en-US" sz="1800" b="1" spc="-30" kern="0" dirty="0">
                <a:solidFill>
                  <a:srgbClr val="773A96"/>
                </a:solidFill>
                <a:latin typeface="Trebuchet MS" pitchFamily="34" charset="0"/>
                <a:ea typeface="Trebuchet MS" pitchFamily="34" charset="-122"/>
                <a:cs typeface="Trebuchet MS" pitchFamily="34" charset="-120"/>
              </a:rPr>
              <a:t>55–65%</a:t>
            </a:r>
            <a:endParaRPr lang="en-US" sz="1800" dirty="0"/>
          </a:p>
        </p:txBody>
      </p:sp>
      <p:sp>
        <p:nvSpPr>
          <p:cNvPr id="8" name="Text 6"/>
          <p:cNvSpPr/>
          <p:nvPr/>
        </p:nvSpPr>
        <p:spPr>
          <a:xfrm>
            <a:off x="640080" y="4389120"/>
            <a:ext cx="2011680" cy="320040"/>
          </a:xfrm>
          <a:prstGeom prst="rect">
            <a:avLst/>
          </a:prstGeom>
          <a:noFill/>
          <a:ln/>
        </p:spPr>
        <p:txBody>
          <a:bodyPr wrap="square" rtlCol="0" anchor="ctr"/>
          <a:lstStyle/>
          <a:p>
            <a:pPr algn="l" indent="0" marL="0">
              <a:buNone/>
            </a:pPr>
            <a:r>
              <a:rPr lang="en-US" sz="1100" dirty="0">
                <a:solidFill>
                  <a:srgbClr val="6B6880"/>
                </a:solidFill>
                <a:latin typeface="Calibri" pitchFamily="34" charset="0"/>
                <a:ea typeface="Calibri" pitchFamily="34" charset="-122"/>
                <a:cs typeface="Calibri" pitchFamily="34" charset="-120"/>
              </a:rPr>
              <a:t>$2.75–3.25M</a:t>
            </a:r>
            <a:endParaRPr lang="en-US" sz="1100" dirty="0"/>
          </a:p>
        </p:txBody>
      </p:sp>
      <p:sp>
        <p:nvSpPr>
          <p:cNvPr id="9" name="Text 7"/>
          <p:cNvSpPr/>
          <p:nvPr/>
        </p:nvSpPr>
        <p:spPr>
          <a:xfrm>
            <a:off x="2926080" y="4023360"/>
            <a:ext cx="8778240" cy="777240"/>
          </a:xfrm>
          <a:prstGeom prst="rect">
            <a:avLst/>
          </a:prstGeom>
          <a:noFill/>
          <a:ln/>
        </p:spPr>
        <p:txBody>
          <a:bodyPr wrap="square" rtlCol="0" anchor="ctr"/>
          <a:lstStyle/>
          <a:p>
            <a:pPr algn="l" indent="0" marL="0">
              <a:lnSpc>
                <a:spcPct val="140000"/>
              </a:lnSpc>
              <a:buNone/>
            </a:pPr>
            <a:r>
              <a:rPr lang="en-US" sz="1200" dirty="0">
                <a:solidFill>
                  <a:srgbClr val="2F3241"/>
                </a:solidFill>
                <a:latin typeface="Calibri" pitchFamily="34" charset="0"/>
                <a:ea typeface="Calibri" pitchFamily="34" charset="-122"/>
                <a:cs typeface="Calibri" pitchFamily="34" charset="-120"/>
              </a:rPr>
              <a:t>Commercial &amp; platform — US Head of Sponsor Partnerships, Head of CRO Partnerships, 3–4 AEs, Medical Affairs, API/CTMS integrations, analytics, and business-rules-engine scale.</a:t>
            </a:r>
            <a:endParaRPr lang="en-US" sz="1200" dirty="0"/>
          </a:p>
        </p:txBody>
      </p:sp>
      <p:sp>
        <p:nvSpPr>
          <p:cNvPr id="10" name="Shape 8"/>
          <p:cNvSpPr/>
          <p:nvPr/>
        </p:nvSpPr>
        <p:spPr>
          <a:xfrm>
            <a:off x="640080" y="4800600"/>
            <a:ext cx="10972800" cy="0"/>
          </a:xfrm>
          <a:prstGeom prst="line">
            <a:avLst/>
          </a:prstGeom>
          <a:noFill/>
          <a:ln w="6350">
            <a:solidFill>
              <a:srgbClr val="E5DFF0"/>
            </a:solidFill>
            <a:prstDash val="solid"/>
          </a:ln>
        </p:spPr>
      </p:sp>
      <p:sp>
        <p:nvSpPr>
          <p:cNvPr id="11" name="Text 9"/>
          <p:cNvSpPr/>
          <p:nvPr/>
        </p:nvSpPr>
        <p:spPr>
          <a:xfrm>
            <a:off x="640080" y="4846320"/>
            <a:ext cx="1828800" cy="411480"/>
          </a:xfrm>
          <a:prstGeom prst="rect">
            <a:avLst/>
          </a:prstGeom>
          <a:noFill/>
          <a:ln/>
        </p:spPr>
        <p:txBody>
          <a:bodyPr wrap="square" rtlCol="0" anchor="ctr"/>
          <a:lstStyle/>
          <a:p>
            <a:pPr algn="l" indent="0" marL="0">
              <a:buNone/>
            </a:pPr>
            <a:r>
              <a:rPr lang="en-US" sz="1800" b="1" spc="-30" kern="0" dirty="0">
                <a:solidFill>
                  <a:srgbClr val="773A96"/>
                </a:solidFill>
                <a:latin typeface="Trebuchet MS" pitchFamily="34" charset="0"/>
                <a:ea typeface="Trebuchet MS" pitchFamily="34" charset="-122"/>
                <a:cs typeface="Trebuchet MS" pitchFamily="34" charset="-120"/>
              </a:rPr>
              <a:t>25–32%</a:t>
            </a:r>
            <a:endParaRPr lang="en-US" sz="1800" dirty="0"/>
          </a:p>
        </p:txBody>
      </p:sp>
      <p:sp>
        <p:nvSpPr>
          <p:cNvPr id="12" name="Text 10"/>
          <p:cNvSpPr/>
          <p:nvPr/>
        </p:nvSpPr>
        <p:spPr>
          <a:xfrm>
            <a:off x="640080" y="5212080"/>
            <a:ext cx="2011680" cy="320040"/>
          </a:xfrm>
          <a:prstGeom prst="rect">
            <a:avLst/>
          </a:prstGeom>
          <a:noFill/>
          <a:ln/>
        </p:spPr>
        <p:txBody>
          <a:bodyPr wrap="square" rtlCol="0" anchor="ctr"/>
          <a:lstStyle/>
          <a:p>
            <a:pPr algn="l" indent="0" marL="0">
              <a:buNone/>
            </a:pPr>
            <a:r>
              <a:rPr lang="en-US" sz="1100" dirty="0">
                <a:solidFill>
                  <a:srgbClr val="6B6880"/>
                </a:solidFill>
                <a:latin typeface="Calibri" pitchFamily="34" charset="0"/>
                <a:ea typeface="Calibri" pitchFamily="34" charset="-122"/>
                <a:cs typeface="Calibri" pitchFamily="34" charset="-120"/>
              </a:rPr>
              <a:t>$1.25–1.60M</a:t>
            </a:r>
            <a:endParaRPr lang="en-US" sz="1100" dirty="0"/>
          </a:p>
        </p:txBody>
      </p:sp>
      <p:sp>
        <p:nvSpPr>
          <p:cNvPr id="13" name="Text 11"/>
          <p:cNvSpPr/>
          <p:nvPr/>
        </p:nvSpPr>
        <p:spPr>
          <a:xfrm>
            <a:off x="2926080" y="4846320"/>
            <a:ext cx="8778240" cy="777240"/>
          </a:xfrm>
          <a:prstGeom prst="rect">
            <a:avLst/>
          </a:prstGeom>
          <a:noFill/>
          <a:ln/>
        </p:spPr>
        <p:txBody>
          <a:bodyPr wrap="square" rtlCol="0" anchor="ctr"/>
          <a:lstStyle/>
          <a:p>
            <a:pPr algn="l" indent="0" marL="0">
              <a:lnSpc>
                <a:spcPct val="140000"/>
              </a:lnSpc>
              <a:buNone/>
            </a:pPr>
            <a:r>
              <a:rPr lang="en-US" sz="1200" dirty="0">
                <a:solidFill>
                  <a:srgbClr val="2F3241"/>
                </a:solidFill>
                <a:latin typeface="Calibri" pitchFamily="34" charset="0"/>
                <a:ea typeface="Calibri" pitchFamily="34" charset="-122"/>
                <a:cs typeface="Calibri" pitchFamily="34" charset="-120"/>
              </a:rPr>
              <a:t>Data intelligence &amp; community — pre-screening add-ons, premium sponsor modules, Custom TrialFinders, and 3–4 Research Friends communities by end-2027 including a Head of Community Programs.</a:t>
            </a:r>
            <a:endParaRPr lang="en-US" sz="1200" dirty="0"/>
          </a:p>
        </p:txBody>
      </p:sp>
      <p:sp>
        <p:nvSpPr>
          <p:cNvPr id="14" name="Shape 12"/>
          <p:cNvSpPr/>
          <p:nvPr/>
        </p:nvSpPr>
        <p:spPr>
          <a:xfrm>
            <a:off x="640080" y="5623560"/>
            <a:ext cx="10972800" cy="0"/>
          </a:xfrm>
          <a:prstGeom prst="line">
            <a:avLst/>
          </a:prstGeom>
          <a:noFill/>
          <a:ln w="6350">
            <a:solidFill>
              <a:srgbClr val="E5DFF0"/>
            </a:solidFill>
            <a:prstDash val="solid"/>
          </a:ln>
        </p:spPr>
      </p:sp>
      <p:sp>
        <p:nvSpPr>
          <p:cNvPr id="15" name="Text 13"/>
          <p:cNvSpPr/>
          <p:nvPr/>
        </p:nvSpPr>
        <p:spPr>
          <a:xfrm>
            <a:off x="640080" y="5669280"/>
            <a:ext cx="1828800" cy="411480"/>
          </a:xfrm>
          <a:prstGeom prst="rect">
            <a:avLst/>
          </a:prstGeom>
          <a:noFill/>
          <a:ln/>
        </p:spPr>
        <p:txBody>
          <a:bodyPr wrap="square" rtlCol="0" anchor="ctr"/>
          <a:lstStyle/>
          <a:p>
            <a:pPr algn="l" indent="0" marL="0">
              <a:buNone/>
            </a:pPr>
            <a:r>
              <a:rPr lang="en-US" sz="1800" b="1" spc="-30" kern="0" dirty="0">
                <a:solidFill>
                  <a:srgbClr val="773A96"/>
                </a:solidFill>
                <a:latin typeface="Trebuchet MS" pitchFamily="34" charset="0"/>
                <a:ea typeface="Trebuchet MS" pitchFamily="34" charset="-122"/>
                <a:cs typeface="Trebuchet MS" pitchFamily="34" charset="-120"/>
              </a:rPr>
              <a:t>10–15%</a:t>
            </a:r>
            <a:endParaRPr lang="en-US" sz="1800" dirty="0"/>
          </a:p>
        </p:txBody>
      </p:sp>
      <p:sp>
        <p:nvSpPr>
          <p:cNvPr id="16" name="Text 14"/>
          <p:cNvSpPr/>
          <p:nvPr/>
        </p:nvSpPr>
        <p:spPr>
          <a:xfrm>
            <a:off x="640080" y="6035040"/>
            <a:ext cx="2011680" cy="320040"/>
          </a:xfrm>
          <a:prstGeom prst="rect">
            <a:avLst/>
          </a:prstGeom>
          <a:noFill/>
          <a:ln/>
        </p:spPr>
        <p:txBody>
          <a:bodyPr wrap="square" rtlCol="0" anchor="ctr"/>
          <a:lstStyle/>
          <a:p>
            <a:pPr algn="l" indent="0" marL="0">
              <a:buNone/>
            </a:pPr>
            <a:r>
              <a:rPr lang="en-US" sz="1100" dirty="0">
                <a:solidFill>
                  <a:srgbClr val="6B6880"/>
                </a:solidFill>
                <a:latin typeface="Calibri" pitchFamily="34" charset="0"/>
                <a:ea typeface="Calibri" pitchFamily="34" charset="-122"/>
                <a:cs typeface="Calibri" pitchFamily="34" charset="-120"/>
              </a:rPr>
              <a:t>$0.50–0.75M</a:t>
            </a:r>
            <a:endParaRPr lang="en-US" sz="1100" dirty="0"/>
          </a:p>
        </p:txBody>
      </p:sp>
      <p:sp>
        <p:nvSpPr>
          <p:cNvPr id="17" name="Text 15"/>
          <p:cNvSpPr/>
          <p:nvPr/>
        </p:nvSpPr>
        <p:spPr>
          <a:xfrm>
            <a:off x="2926080" y="5669280"/>
            <a:ext cx="8778240" cy="777240"/>
          </a:xfrm>
          <a:prstGeom prst="rect">
            <a:avLst/>
          </a:prstGeom>
          <a:noFill/>
          <a:ln/>
        </p:spPr>
        <p:txBody>
          <a:bodyPr wrap="square" rtlCol="0" anchor="ctr"/>
          <a:lstStyle/>
          <a:p>
            <a:pPr algn="l" indent="0" marL="0">
              <a:lnSpc>
                <a:spcPct val="140000"/>
              </a:lnSpc>
              <a:buNone/>
            </a:pPr>
            <a:r>
              <a:rPr lang="en-US" sz="1200" dirty="0">
                <a:solidFill>
                  <a:srgbClr val="2F3241"/>
                </a:solidFill>
                <a:latin typeface="Calibri" pitchFamily="34" charset="0"/>
                <a:ea typeface="Calibri" pitchFamily="34" charset="-122"/>
                <a:cs typeface="Calibri" pitchFamily="34" charset="-120"/>
              </a:rPr>
              <a:t>Compliance &amp; reserves — SOC 2 Type I → II, HIPAA, GDPR, ISO 27001 prep, EU AI Act readiness, and a reserve for hiring slippage or opportunistic partnerships.</a:t>
            </a:r>
            <a:endParaRPr lang="en-US" sz="1200" dirty="0"/>
          </a:p>
        </p:txBody>
      </p:sp>
      <p:sp>
        <p:nvSpPr>
          <p:cNvPr id="18" name="Shape 16"/>
          <p:cNvSpPr/>
          <p:nvPr/>
        </p:nvSpPr>
        <p:spPr>
          <a:xfrm>
            <a:off x="640080" y="6446520"/>
            <a:ext cx="10972800" cy="0"/>
          </a:xfrm>
          <a:prstGeom prst="line">
            <a:avLst/>
          </a:prstGeom>
          <a:noFill/>
          <a:ln w="6350">
            <a:solidFill>
              <a:srgbClr val="E5DFF0"/>
            </a:solidFill>
            <a:prstDash val="solid"/>
          </a:ln>
        </p:spPr>
      </p:sp>
      <p:sp>
        <p:nvSpPr>
          <p:cNvPr id="19" name="Text 17"/>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20" name="Text 18"/>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20 / 25</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502920"/>
          </a:xfrm>
          <a:prstGeom prst="rect">
            <a:avLst/>
          </a:prstGeom>
          <a:noFill/>
          <a:ln/>
        </p:spPr>
        <p:txBody>
          <a:bodyPr wrap="square" rtlCol="0" anchor="ctr"/>
          <a:lstStyle/>
          <a:p>
            <a:pPr algn="l" indent="0" marL="0">
              <a:buNone/>
            </a:pPr>
            <a:r>
              <a:rPr lang="en-US" sz="2600" b="1" spc="-50" kern="0" dirty="0">
                <a:solidFill>
                  <a:srgbClr val="2F3241"/>
                </a:solidFill>
                <a:latin typeface="Trebuchet MS" pitchFamily="34" charset="0"/>
                <a:ea typeface="Trebuchet MS" pitchFamily="34" charset="-122"/>
                <a:cs typeface="Trebuchet MS" pitchFamily="34" charset="-120"/>
              </a:rPr>
              <a:t>18-month plan.</a:t>
            </a:r>
            <a:endParaRPr lang="en-US" sz="2600" dirty="0"/>
          </a:p>
        </p:txBody>
      </p:sp>
      <p:sp>
        <p:nvSpPr>
          <p:cNvPr id="3" name="Text 1"/>
          <p:cNvSpPr/>
          <p:nvPr/>
        </p:nvSpPr>
        <p:spPr>
          <a:xfrm>
            <a:off x="640080" y="914400"/>
            <a:ext cx="10972800" cy="274320"/>
          </a:xfrm>
          <a:prstGeom prst="rect">
            <a:avLst/>
          </a:prstGeom>
          <a:noFill/>
          <a:ln/>
        </p:spPr>
        <p:txBody>
          <a:bodyPr wrap="square" rtlCol="0" anchor="ctr"/>
          <a:lstStyle/>
          <a:p>
            <a:pPr algn="l" indent="0" marL="0">
              <a:buNone/>
            </a:pPr>
            <a:r>
              <a:rPr lang="en-US" sz="1100" i="1" dirty="0">
                <a:solidFill>
                  <a:srgbClr val="6B6880"/>
                </a:solidFill>
                <a:latin typeface="Calibri" pitchFamily="34" charset="0"/>
                <a:ea typeface="Calibri" pitchFamily="34" charset="-122"/>
                <a:cs typeface="Calibri" pitchFamily="34" charset="-120"/>
              </a:rPr>
              <a:t>Specific. Bottoms-up. Not “scale.”</a:t>
            </a:r>
            <a:endParaRPr lang="en-US" sz="1100" dirty="0"/>
          </a:p>
        </p:txBody>
      </p:sp>
      <p:sp>
        <p:nvSpPr>
          <p:cNvPr id="4" name="Text 2"/>
          <p:cNvSpPr/>
          <p:nvPr/>
        </p:nvSpPr>
        <p:spPr>
          <a:xfrm>
            <a:off x="640080" y="1371600"/>
            <a:ext cx="3108960" cy="274320"/>
          </a:xfrm>
          <a:prstGeom prst="rect">
            <a:avLst/>
          </a:prstGeom>
          <a:noFill/>
          <a:ln/>
        </p:spPr>
        <p:txBody>
          <a:bodyPr wrap="square" rtlCol="0" anchor="ctr"/>
          <a:lstStyle/>
          <a:p>
            <a:pPr indent="0" marL="0">
              <a:buNone/>
            </a:pPr>
            <a:r>
              <a:rPr lang="en-US" sz="900" b="1" spc="300" kern="0" dirty="0">
                <a:solidFill>
                  <a:srgbClr val="6B6880"/>
                </a:solidFill>
                <a:latin typeface="Calibri" pitchFamily="34" charset="0"/>
                <a:ea typeface="Calibri" pitchFamily="34" charset="-122"/>
                <a:cs typeface="Calibri" pitchFamily="34" charset="-120"/>
              </a:rPr>
              <a:t>METRIC</a:t>
            </a:r>
            <a:endParaRPr lang="en-US" sz="900" dirty="0"/>
          </a:p>
        </p:txBody>
      </p:sp>
      <p:sp>
        <p:nvSpPr>
          <p:cNvPr id="5" name="Text 3"/>
          <p:cNvSpPr/>
          <p:nvPr/>
        </p:nvSpPr>
        <p:spPr>
          <a:xfrm>
            <a:off x="3931920" y="1371600"/>
            <a:ext cx="3840480" cy="274320"/>
          </a:xfrm>
          <a:prstGeom prst="rect">
            <a:avLst/>
          </a:prstGeom>
          <a:noFill/>
          <a:ln/>
        </p:spPr>
        <p:txBody>
          <a:bodyPr wrap="square" rtlCol="0" anchor="ctr"/>
          <a:lstStyle/>
          <a:p>
            <a:pPr indent="0" marL="0">
              <a:buNone/>
            </a:pPr>
            <a:r>
              <a:rPr lang="en-US" sz="900" b="1" spc="300" kern="0" dirty="0">
                <a:solidFill>
                  <a:srgbClr val="6B6880"/>
                </a:solidFill>
                <a:latin typeface="Calibri" pitchFamily="34" charset="0"/>
                <a:ea typeface="Calibri" pitchFamily="34" charset="-122"/>
                <a:cs typeface="Calibri" pitchFamily="34" charset="-120"/>
              </a:rPr>
              <a:t>TODAY</a:t>
            </a:r>
            <a:endParaRPr lang="en-US" sz="900" dirty="0"/>
          </a:p>
        </p:txBody>
      </p:sp>
      <p:sp>
        <p:nvSpPr>
          <p:cNvPr id="6" name="Text 4"/>
          <p:cNvSpPr/>
          <p:nvPr/>
        </p:nvSpPr>
        <p:spPr>
          <a:xfrm>
            <a:off x="7955280" y="1371600"/>
            <a:ext cx="3840480" cy="274320"/>
          </a:xfrm>
          <a:prstGeom prst="rect">
            <a:avLst/>
          </a:prstGeom>
          <a:noFill/>
          <a:ln/>
        </p:spPr>
        <p:txBody>
          <a:bodyPr wrap="square" rtlCol="0" anchor="ctr"/>
          <a:lstStyle/>
          <a:p>
            <a:pPr indent="0" marL="0">
              <a:buNone/>
            </a:pPr>
            <a:r>
              <a:rPr lang="en-US" sz="900" b="1" spc="300" kern="0" dirty="0">
                <a:solidFill>
                  <a:srgbClr val="6B6880"/>
                </a:solidFill>
                <a:latin typeface="Calibri" pitchFamily="34" charset="0"/>
                <a:ea typeface="Calibri" pitchFamily="34" charset="-122"/>
                <a:cs typeface="Calibri" pitchFamily="34" charset="-120"/>
              </a:rPr>
              <a:t>END-2027 TARGET</a:t>
            </a:r>
            <a:endParaRPr lang="en-US" sz="900" dirty="0"/>
          </a:p>
        </p:txBody>
      </p:sp>
      <p:sp>
        <p:nvSpPr>
          <p:cNvPr id="7" name="Shape 5"/>
          <p:cNvSpPr/>
          <p:nvPr/>
        </p:nvSpPr>
        <p:spPr>
          <a:xfrm>
            <a:off x="640080" y="1673352"/>
            <a:ext cx="11155680" cy="0"/>
          </a:xfrm>
          <a:prstGeom prst="line">
            <a:avLst/>
          </a:prstGeom>
          <a:noFill/>
          <a:ln w="12700">
            <a:solidFill>
              <a:srgbClr val="E5DFF0"/>
            </a:solidFill>
            <a:prstDash val="solid"/>
          </a:ln>
        </p:spPr>
      </p:sp>
      <p:sp>
        <p:nvSpPr>
          <p:cNvPr id="8" name="Text 6"/>
          <p:cNvSpPr/>
          <p:nvPr/>
        </p:nvSpPr>
        <p:spPr>
          <a:xfrm>
            <a:off x="640080" y="1755648"/>
            <a:ext cx="3108960" cy="41148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Paid lead volume</a:t>
            </a:r>
            <a:endParaRPr lang="en-US" sz="1200" dirty="0"/>
          </a:p>
        </p:txBody>
      </p:sp>
      <p:sp>
        <p:nvSpPr>
          <p:cNvPr id="9" name="Text 7"/>
          <p:cNvSpPr/>
          <p:nvPr/>
        </p:nvSpPr>
        <p:spPr>
          <a:xfrm>
            <a:off x="3931920" y="1755648"/>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~600 / month (20 / day)</a:t>
            </a:r>
            <a:endParaRPr lang="en-US" sz="1200" dirty="0"/>
          </a:p>
        </p:txBody>
      </p:sp>
      <p:sp>
        <p:nvSpPr>
          <p:cNvPr id="10" name="Text 8"/>
          <p:cNvSpPr/>
          <p:nvPr/>
        </p:nvSpPr>
        <p:spPr>
          <a:xfrm>
            <a:off x="7955280" y="1755648"/>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2,000–2,500 / month</a:t>
            </a:r>
            <a:endParaRPr lang="en-US" sz="1200" dirty="0"/>
          </a:p>
        </p:txBody>
      </p:sp>
      <p:sp>
        <p:nvSpPr>
          <p:cNvPr id="11" name="Shape 9"/>
          <p:cNvSpPr/>
          <p:nvPr/>
        </p:nvSpPr>
        <p:spPr>
          <a:xfrm>
            <a:off x="640080" y="2194560"/>
            <a:ext cx="11155680" cy="0"/>
          </a:xfrm>
          <a:prstGeom prst="line">
            <a:avLst/>
          </a:prstGeom>
          <a:noFill/>
          <a:ln w="4445">
            <a:solidFill>
              <a:srgbClr val="E5DFF0"/>
            </a:solidFill>
            <a:prstDash val="solid"/>
          </a:ln>
        </p:spPr>
      </p:sp>
      <p:sp>
        <p:nvSpPr>
          <p:cNvPr id="12" name="Text 10"/>
          <p:cNvSpPr/>
          <p:nvPr/>
        </p:nvSpPr>
        <p:spPr>
          <a:xfrm>
            <a:off x="640080" y="2221992"/>
            <a:ext cx="3108960" cy="41148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ARR</a:t>
            </a:r>
            <a:endParaRPr lang="en-US" sz="1200" dirty="0"/>
          </a:p>
        </p:txBody>
      </p:sp>
      <p:sp>
        <p:nvSpPr>
          <p:cNvPr id="13" name="Text 11"/>
          <p:cNvSpPr/>
          <p:nvPr/>
        </p:nvSpPr>
        <p:spPr>
          <a:xfrm>
            <a:off x="3931920" y="2221992"/>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~$1M</a:t>
            </a:r>
            <a:endParaRPr lang="en-US" sz="1200" dirty="0"/>
          </a:p>
        </p:txBody>
      </p:sp>
      <p:sp>
        <p:nvSpPr>
          <p:cNvPr id="14" name="Text 12"/>
          <p:cNvSpPr/>
          <p:nvPr/>
        </p:nvSpPr>
        <p:spPr>
          <a:xfrm>
            <a:off x="7955280" y="2221992"/>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$4–6M</a:t>
            </a:r>
            <a:endParaRPr lang="en-US" sz="1200" dirty="0"/>
          </a:p>
        </p:txBody>
      </p:sp>
      <p:sp>
        <p:nvSpPr>
          <p:cNvPr id="15" name="Shape 13"/>
          <p:cNvSpPr/>
          <p:nvPr/>
        </p:nvSpPr>
        <p:spPr>
          <a:xfrm>
            <a:off x="640080" y="2660904"/>
            <a:ext cx="11155680" cy="0"/>
          </a:xfrm>
          <a:prstGeom prst="line">
            <a:avLst/>
          </a:prstGeom>
          <a:noFill/>
          <a:ln w="4445">
            <a:solidFill>
              <a:srgbClr val="E5DFF0"/>
            </a:solidFill>
            <a:prstDash val="solid"/>
          </a:ln>
        </p:spPr>
      </p:sp>
      <p:sp>
        <p:nvSpPr>
          <p:cNvPr id="16" name="Text 14"/>
          <p:cNvSpPr/>
          <p:nvPr/>
        </p:nvSpPr>
        <p:spPr>
          <a:xfrm>
            <a:off x="640080" y="2688336"/>
            <a:ext cx="3108960" cy="41148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Sponsor / CRO accounts</a:t>
            </a:r>
            <a:endParaRPr lang="en-US" sz="1200" dirty="0"/>
          </a:p>
        </p:txBody>
      </p:sp>
      <p:sp>
        <p:nvSpPr>
          <p:cNvPr id="17" name="Text 15"/>
          <p:cNvSpPr/>
          <p:nvPr/>
        </p:nvSpPr>
        <p:spPr>
          <a:xfrm>
            <a:off x="3931920" y="2688336"/>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Revenue-generating across set</a:t>
            </a:r>
            <a:endParaRPr lang="en-US" sz="1200" dirty="0"/>
          </a:p>
        </p:txBody>
      </p:sp>
      <p:sp>
        <p:nvSpPr>
          <p:cNvPr id="18" name="Text 16"/>
          <p:cNvSpPr/>
          <p:nvPr/>
        </p:nvSpPr>
        <p:spPr>
          <a:xfrm>
            <a:off x="7955280" y="2688336"/>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30–50, incl. 3–5 top-20 pharma</a:t>
            </a:r>
            <a:endParaRPr lang="en-US" sz="1200" dirty="0"/>
          </a:p>
        </p:txBody>
      </p:sp>
      <p:sp>
        <p:nvSpPr>
          <p:cNvPr id="19" name="Shape 17"/>
          <p:cNvSpPr/>
          <p:nvPr/>
        </p:nvSpPr>
        <p:spPr>
          <a:xfrm>
            <a:off x="640080" y="3127248"/>
            <a:ext cx="11155680" cy="0"/>
          </a:xfrm>
          <a:prstGeom prst="line">
            <a:avLst/>
          </a:prstGeom>
          <a:noFill/>
          <a:ln w="4445">
            <a:solidFill>
              <a:srgbClr val="E5DFF0"/>
            </a:solidFill>
            <a:prstDash val="solid"/>
          </a:ln>
        </p:spPr>
      </p:sp>
      <p:sp>
        <p:nvSpPr>
          <p:cNvPr id="20" name="Text 18"/>
          <p:cNvSpPr/>
          <p:nvPr/>
        </p:nvSpPr>
        <p:spPr>
          <a:xfrm>
            <a:off x="640080" y="3154680"/>
            <a:ext cx="3108960" cy="41148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Research Friends</a:t>
            </a:r>
            <a:endParaRPr lang="en-US" sz="1200" dirty="0"/>
          </a:p>
        </p:txBody>
      </p:sp>
      <p:sp>
        <p:nvSpPr>
          <p:cNvPr id="21" name="Text 19"/>
          <p:cNvSpPr/>
          <p:nvPr/>
        </p:nvSpPr>
        <p:spPr>
          <a:xfrm>
            <a:off x="3931920" y="3154680"/>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1 (Scleroderma, live)</a:t>
            </a:r>
            <a:endParaRPr lang="en-US" sz="1200" dirty="0"/>
          </a:p>
        </p:txBody>
      </p:sp>
      <p:sp>
        <p:nvSpPr>
          <p:cNvPr id="22" name="Text 20"/>
          <p:cNvSpPr/>
          <p:nvPr/>
        </p:nvSpPr>
        <p:spPr>
          <a:xfrm>
            <a:off x="7955280" y="3154680"/>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3–4 named advocacy partners</a:t>
            </a:r>
            <a:endParaRPr lang="en-US" sz="1200" dirty="0"/>
          </a:p>
        </p:txBody>
      </p:sp>
      <p:sp>
        <p:nvSpPr>
          <p:cNvPr id="23" name="Shape 21"/>
          <p:cNvSpPr/>
          <p:nvPr/>
        </p:nvSpPr>
        <p:spPr>
          <a:xfrm>
            <a:off x="640080" y="3593592"/>
            <a:ext cx="11155680" cy="0"/>
          </a:xfrm>
          <a:prstGeom prst="line">
            <a:avLst/>
          </a:prstGeom>
          <a:noFill/>
          <a:ln w="4445">
            <a:solidFill>
              <a:srgbClr val="E5DFF0"/>
            </a:solidFill>
            <a:prstDash val="solid"/>
          </a:ln>
        </p:spPr>
      </p:sp>
      <p:sp>
        <p:nvSpPr>
          <p:cNvPr id="24" name="Text 22"/>
          <p:cNvSpPr/>
          <p:nvPr/>
        </p:nvSpPr>
        <p:spPr>
          <a:xfrm>
            <a:off x="640080" y="3621024"/>
            <a:ext cx="3108960" cy="41148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NRR</a:t>
            </a:r>
            <a:endParaRPr lang="en-US" sz="1200" dirty="0"/>
          </a:p>
        </p:txBody>
      </p:sp>
      <p:sp>
        <p:nvSpPr>
          <p:cNvPr id="25" name="Text 23"/>
          <p:cNvSpPr/>
          <p:nvPr/>
        </p:nvSpPr>
        <p:spPr>
          <a:xfrm>
            <a:off x="3931920" y="3621024"/>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Cohort read-out pre-close</a:t>
            </a:r>
            <a:endParaRPr lang="en-US" sz="1200" dirty="0"/>
          </a:p>
        </p:txBody>
      </p:sp>
      <p:sp>
        <p:nvSpPr>
          <p:cNvPr id="26" name="Text 24"/>
          <p:cNvSpPr/>
          <p:nvPr/>
        </p:nvSpPr>
        <p:spPr>
          <a:xfrm>
            <a:off x="7955280" y="3621024"/>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≥110%</a:t>
            </a:r>
            <a:endParaRPr lang="en-US" sz="1200" dirty="0"/>
          </a:p>
        </p:txBody>
      </p:sp>
      <p:sp>
        <p:nvSpPr>
          <p:cNvPr id="27" name="Shape 25"/>
          <p:cNvSpPr/>
          <p:nvPr/>
        </p:nvSpPr>
        <p:spPr>
          <a:xfrm>
            <a:off x="640080" y="4059936"/>
            <a:ext cx="11155680" cy="0"/>
          </a:xfrm>
          <a:prstGeom prst="line">
            <a:avLst/>
          </a:prstGeom>
          <a:noFill/>
          <a:ln w="4445">
            <a:solidFill>
              <a:srgbClr val="E5DFF0"/>
            </a:solidFill>
            <a:prstDash val="solid"/>
          </a:ln>
        </p:spPr>
      </p:sp>
      <p:sp>
        <p:nvSpPr>
          <p:cNvPr id="28" name="Text 26"/>
          <p:cNvSpPr/>
          <p:nvPr/>
        </p:nvSpPr>
        <p:spPr>
          <a:xfrm>
            <a:off x="640080" y="4087368"/>
            <a:ext cx="3108960" cy="41148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CAC payback</a:t>
            </a:r>
            <a:endParaRPr lang="en-US" sz="1200" dirty="0"/>
          </a:p>
        </p:txBody>
      </p:sp>
      <p:sp>
        <p:nvSpPr>
          <p:cNvPr id="29" name="Text 27"/>
          <p:cNvSpPr/>
          <p:nvPr/>
        </p:nvSpPr>
        <p:spPr>
          <a:xfrm>
            <a:off x="3931920" y="4087368"/>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Pre-close</a:t>
            </a:r>
            <a:endParaRPr lang="en-US" sz="1200" dirty="0"/>
          </a:p>
        </p:txBody>
      </p:sp>
      <p:sp>
        <p:nvSpPr>
          <p:cNvPr id="30" name="Text 28"/>
          <p:cNvSpPr/>
          <p:nvPr/>
        </p:nvSpPr>
        <p:spPr>
          <a:xfrm>
            <a:off x="7955280" y="4087368"/>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&lt;18 months</a:t>
            </a:r>
            <a:endParaRPr lang="en-US" sz="1200" dirty="0"/>
          </a:p>
        </p:txBody>
      </p:sp>
      <p:sp>
        <p:nvSpPr>
          <p:cNvPr id="31" name="Shape 29"/>
          <p:cNvSpPr/>
          <p:nvPr/>
        </p:nvSpPr>
        <p:spPr>
          <a:xfrm>
            <a:off x="640080" y="4526280"/>
            <a:ext cx="11155680" cy="0"/>
          </a:xfrm>
          <a:prstGeom prst="line">
            <a:avLst/>
          </a:prstGeom>
          <a:noFill/>
          <a:ln w="4445">
            <a:solidFill>
              <a:srgbClr val="E5DFF0"/>
            </a:solidFill>
            <a:prstDash val="solid"/>
          </a:ln>
        </p:spPr>
      </p:sp>
      <p:sp>
        <p:nvSpPr>
          <p:cNvPr id="32" name="Text 30"/>
          <p:cNvSpPr/>
          <p:nvPr/>
        </p:nvSpPr>
        <p:spPr>
          <a:xfrm>
            <a:off x="640080" y="4553712"/>
            <a:ext cx="3108960" cy="41148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Compliance</a:t>
            </a:r>
            <a:endParaRPr lang="en-US" sz="1200" dirty="0"/>
          </a:p>
        </p:txBody>
      </p:sp>
      <p:sp>
        <p:nvSpPr>
          <p:cNvPr id="33" name="Text 31"/>
          <p:cNvSpPr/>
          <p:nvPr/>
        </p:nvSpPr>
        <p:spPr>
          <a:xfrm>
            <a:off x="3931920" y="4553712"/>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In progress</a:t>
            </a:r>
            <a:endParaRPr lang="en-US" sz="1200" dirty="0"/>
          </a:p>
        </p:txBody>
      </p:sp>
      <p:sp>
        <p:nvSpPr>
          <p:cNvPr id="34" name="Text 32"/>
          <p:cNvSpPr/>
          <p:nvPr/>
        </p:nvSpPr>
        <p:spPr>
          <a:xfrm>
            <a:off x="7955280" y="4553712"/>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SOC 2 Type II; HIPAA; GDPR; EU AI Act ready</a:t>
            </a:r>
            <a:endParaRPr lang="en-US" sz="1200" dirty="0"/>
          </a:p>
        </p:txBody>
      </p:sp>
      <p:sp>
        <p:nvSpPr>
          <p:cNvPr id="35" name="Shape 33"/>
          <p:cNvSpPr/>
          <p:nvPr/>
        </p:nvSpPr>
        <p:spPr>
          <a:xfrm>
            <a:off x="640080" y="4992624"/>
            <a:ext cx="11155680" cy="0"/>
          </a:xfrm>
          <a:prstGeom prst="line">
            <a:avLst/>
          </a:prstGeom>
          <a:noFill/>
          <a:ln w="4445">
            <a:solidFill>
              <a:srgbClr val="E5DFF0"/>
            </a:solidFill>
            <a:prstDash val="solid"/>
          </a:ln>
        </p:spPr>
      </p:sp>
      <p:sp>
        <p:nvSpPr>
          <p:cNvPr id="36" name="Text 34"/>
          <p:cNvSpPr/>
          <p:nvPr/>
        </p:nvSpPr>
        <p:spPr>
          <a:xfrm>
            <a:off x="640080" y="5020056"/>
            <a:ext cx="3108960" cy="41148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Case studies</a:t>
            </a:r>
            <a:endParaRPr lang="en-US" sz="1200" dirty="0"/>
          </a:p>
        </p:txBody>
      </p:sp>
      <p:sp>
        <p:nvSpPr>
          <p:cNvPr id="37" name="Text 35"/>
          <p:cNvSpPr/>
          <p:nvPr/>
        </p:nvSpPr>
        <p:spPr>
          <a:xfrm>
            <a:off x="3931920" y="5020056"/>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Scleroderma pilot + SCOPE</a:t>
            </a:r>
            <a:endParaRPr lang="en-US" sz="1200" dirty="0"/>
          </a:p>
        </p:txBody>
      </p:sp>
      <p:sp>
        <p:nvSpPr>
          <p:cNvPr id="38" name="Text 36"/>
          <p:cNvSpPr/>
          <p:nvPr/>
        </p:nvSpPr>
        <p:spPr>
          <a:xfrm>
            <a:off x="7955280" y="5020056"/>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3 quantified sponsor case studies</a:t>
            </a:r>
            <a:endParaRPr lang="en-US" sz="1200" dirty="0"/>
          </a:p>
        </p:txBody>
      </p:sp>
      <p:sp>
        <p:nvSpPr>
          <p:cNvPr id="39" name="Shape 37"/>
          <p:cNvSpPr/>
          <p:nvPr/>
        </p:nvSpPr>
        <p:spPr>
          <a:xfrm>
            <a:off x="640080" y="5458968"/>
            <a:ext cx="11155680" cy="0"/>
          </a:xfrm>
          <a:prstGeom prst="line">
            <a:avLst/>
          </a:prstGeom>
          <a:noFill/>
          <a:ln w="4445">
            <a:solidFill>
              <a:srgbClr val="E5DFF0"/>
            </a:solidFill>
            <a:prstDash val="solid"/>
          </a:ln>
        </p:spPr>
      </p:sp>
      <p:sp>
        <p:nvSpPr>
          <p:cNvPr id="40" name="Text 38"/>
          <p:cNvSpPr/>
          <p:nvPr/>
        </p:nvSpPr>
        <p:spPr>
          <a:xfrm>
            <a:off x="640080" y="5486400"/>
            <a:ext cx="3108960" cy="411480"/>
          </a:xfrm>
          <a:prstGeom prst="rect">
            <a:avLst/>
          </a:prstGeom>
          <a:noFill/>
          <a:ln/>
        </p:spPr>
        <p:txBody>
          <a:bodyPr wrap="square" rtlCol="0" anchor="ctr"/>
          <a:lstStyle/>
          <a:p>
            <a:pPr algn="l" indent="0" marL="0">
              <a:buNone/>
            </a:pPr>
            <a:r>
              <a:rPr lang="en-US" sz="1200" b="1" dirty="0">
                <a:solidFill>
                  <a:srgbClr val="2F3241"/>
                </a:solidFill>
                <a:latin typeface="Calibri" pitchFamily="34" charset="0"/>
                <a:ea typeface="Calibri" pitchFamily="34" charset="-122"/>
                <a:cs typeface="Calibri" pitchFamily="34" charset="-120"/>
              </a:rPr>
              <a:t>Series B posture</a:t>
            </a:r>
            <a:endParaRPr lang="en-US" sz="1200" dirty="0"/>
          </a:p>
        </p:txBody>
      </p:sp>
      <p:sp>
        <p:nvSpPr>
          <p:cNvPr id="41" name="Text 39"/>
          <p:cNvSpPr/>
          <p:nvPr/>
        </p:nvSpPr>
        <p:spPr>
          <a:xfrm>
            <a:off x="3931920" y="5486400"/>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a:t>
            </a:r>
            <a:endParaRPr lang="en-US" sz="1200" dirty="0"/>
          </a:p>
        </p:txBody>
      </p:sp>
      <p:sp>
        <p:nvSpPr>
          <p:cNvPr id="42" name="Text 40"/>
          <p:cNvSpPr/>
          <p:nvPr/>
        </p:nvSpPr>
        <p:spPr>
          <a:xfrm>
            <a:off x="7955280" y="5486400"/>
            <a:ext cx="3840480" cy="411480"/>
          </a:xfrm>
          <a:prstGeom prst="rect">
            <a:avLst/>
          </a:prstGeom>
          <a:noFill/>
          <a:ln/>
        </p:spPr>
        <p:txBody>
          <a:bodyPr wrap="square" rtlCol="0" anchor="ctr"/>
          <a:lstStyle/>
          <a:p>
            <a:pPr algn="l" indent="0" marL="0">
              <a:buNone/>
            </a:pPr>
            <a:r>
              <a:rPr lang="en-US" sz="1200" dirty="0">
                <a:solidFill>
                  <a:srgbClr val="2F3241"/>
                </a:solidFill>
                <a:latin typeface="Calibri" pitchFamily="34" charset="0"/>
                <a:ea typeface="Calibri" pitchFamily="34" charset="-122"/>
                <a:cs typeface="Calibri" pitchFamily="34" charset="-120"/>
              </a:rPr>
              <a:t>$15–30M at $60–120M post</a:t>
            </a:r>
            <a:endParaRPr lang="en-US" sz="1200" dirty="0"/>
          </a:p>
        </p:txBody>
      </p:sp>
      <p:sp>
        <p:nvSpPr>
          <p:cNvPr id="43" name="Shape 41"/>
          <p:cNvSpPr/>
          <p:nvPr/>
        </p:nvSpPr>
        <p:spPr>
          <a:xfrm>
            <a:off x="640080" y="5925312"/>
            <a:ext cx="11155680" cy="0"/>
          </a:xfrm>
          <a:prstGeom prst="line">
            <a:avLst/>
          </a:prstGeom>
          <a:noFill/>
          <a:ln w="4445">
            <a:solidFill>
              <a:srgbClr val="E5DFF0"/>
            </a:solidFill>
            <a:prstDash val="solid"/>
          </a:ln>
        </p:spPr>
      </p:sp>
      <p:sp>
        <p:nvSpPr>
          <p:cNvPr id="44" name="Text 42"/>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45" name="Text 43"/>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21 / 25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F3241"/>
        </a:solidFill>
      </p:bgPr>
    </p:bg>
    <p:spTree>
      <p:nvGrpSpPr>
        <p:cNvPr id="1" name=""/>
        <p:cNvGrpSpPr/>
        <p:nvPr/>
      </p:nvGrpSpPr>
      <p:grpSpPr>
        <a:xfrm>
          <a:off x="0" y="0"/>
          <a:ext cx="0" cy="0"/>
          <a:chOff x="0" y="0"/>
          <a:chExt cx="0" cy="0"/>
        </a:xfrm>
      </p:grpSpPr>
      <p:sp>
        <p:nvSpPr>
          <p:cNvPr id="2" name="Text 0"/>
          <p:cNvSpPr/>
          <p:nvPr/>
        </p:nvSpPr>
        <p:spPr>
          <a:xfrm>
            <a:off x="640080" y="548640"/>
            <a:ext cx="7315200" cy="320040"/>
          </a:xfrm>
          <a:prstGeom prst="rect">
            <a:avLst/>
          </a:prstGeom>
          <a:noFill/>
          <a:ln/>
        </p:spPr>
        <p:txBody>
          <a:bodyPr wrap="square" rtlCol="0" anchor="ctr"/>
          <a:lstStyle/>
          <a:p>
            <a:pPr indent="0" marL="0">
              <a:buNone/>
            </a:pPr>
            <a:r>
              <a:rPr lang="en-US" sz="1000" b="1" spc="400" kern="0" dirty="0">
                <a:solidFill>
                  <a:srgbClr val="B9B5C8"/>
                </a:solidFill>
                <a:latin typeface="Calibri" pitchFamily="34" charset="0"/>
                <a:ea typeface="Calibri" pitchFamily="34" charset="-122"/>
                <a:cs typeface="Calibri" pitchFamily="34" charset="-120"/>
              </a:rPr>
              <a:t>SERIES B READY</a:t>
            </a:r>
            <a:endParaRPr lang="en-US" sz="1000" dirty="0"/>
          </a:p>
        </p:txBody>
      </p:sp>
      <p:sp>
        <p:nvSpPr>
          <p:cNvPr id="3" name="Text 1"/>
          <p:cNvSpPr/>
          <p:nvPr/>
        </p:nvSpPr>
        <p:spPr>
          <a:xfrm>
            <a:off x="914400" y="1645920"/>
            <a:ext cx="10332720" cy="4114800"/>
          </a:xfrm>
          <a:prstGeom prst="rect">
            <a:avLst/>
          </a:prstGeom>
          <a:noFill/>
          <a:ln/>
        </p:spPr>
        <p:txBody>
          <a:bodyPr wrap="square" rtlCol="0" anchor="ctr"/>
          <a:lstStyle/>
          <a:p>
            <a:pPr algn="l" indent="0" marL="0">
              <a:lnSpc>
                <a:spcPct val="125000"/>
              </a:lnSpc>
              <a:buNone/>
            </a:pPr>
            <a:r>
              <a:rPr lang="en-US" sz="4200" spc="-100" kern="0" dirty="0">
                <a:solidFill>
                  <a:srgbClr val="FFFFFF"/>
                </a:solidFill>
                <a:latin typeface="Trebuchet MS" pitchFamily="34" charset="0"/>
                <a:ea typeface="Trebuchet MS" pitchFamily="34" charset="-122"/>
                <a:cs typeface="Trebuchet MS" pitchFamily="34" charset="-120"/>
              </a:rPr>
              <a:t>Ready for a </a:t>
            </a:r>
            <a:pPr algn="l" indent="0" marL="0">
              <a:lnSpc>
                <a:spcPct val="125000"/>
              </a:lnSpc>
              <a:buNone/>
            </a:pPr>
            <a:r>
              <a:rPr lang="en-US" sz="4200" b="1" spc="-100" kern="0" dirty="0">
                <a:solidFill>
                  <a:srgbClr val="FFFFFF"/>
                </a:solidFill>
                <a:latin typeface="Trebuchet MS" pitchFamily="34" charset="0"/>
                <a:ea typeface="Trebuchet MS" pitchFamily="34" charset="-122"/>
                <a:cs typeface="Trebuchet MS" pitchFamily="34" charset="-120"/>
              </a:rPr>
              <a:t>$15–30M Series B</a:t>
            </a:r>
            <a:pPr algn="l" indent="0" marL="0">
              <a:lnSpc>
                <a:spcPct val="125000"/>
              </a:lnSpc>
              <a:buNone/>
            </a:pPr>
            <a:r>
              <a:rPr lang="en-US" sz="4200" spc="-100" kern="0" dirty="0">
                <a:solidFill>
                  <a:srgbClr val="FFFFFF"/>
                </a:solidFill>
                <a:latin typeface="Trebuchet MS" pitchFamily="34" charset="0"/>
                <a:ea typeface="Trebuchet MS" pitchFamily="34" charset="-122"/>
                <a:cs typeface="Trebuchet MS" pitchFamily="34" charset="-120"/>
              </a:rPr>
              <a:t>:</a:t>
            </a:r>
            <a:endParaRPr lang="en-US" sz="4200" dirty="0"/>
          </a:p>
          <a:p>
            <a:pPr algn="l" indent="0" marL="0">
              <a:lnSpc>
                <a:spcPct val="125000"/>
              </a:lnSpc>
              <a:buNone/>
            </a:pPr>
            <a:r>
              <a:rPr lang="en-US" sz="4200" spc="-100" kern="0" dirty="0">
                <a:solidFill>
                  <a:srgbClr val="FFFFFF"/>
                </a:solidFill>
                <a:latin typeface="Trebuchet MS" pitchFamily="34" charset="0"/>
                <a:ea typeface="Trebuchet MS" pitchFamily="34" charset="-122"/>
                <a:cs typeface="Trebuchet MS" pitchFamily="34" charset="-120"/>
              </a:rPr>
              <a:t>NRR ≥110%, CAC payback &lt;18 months,</a:t>
            </a:r>
            <a:endParaRPr lang="en-US" sz="4200" dirty="0"/>
          </a:p>
          <a:p>
            <a:pPr algn="l" indent="0" marL="0">
              <a:lnSpc>
                <a:spcPct val="125000"/>
              </a:lnSpc>
              <a:buNone/>
            </a:pPr>
            <a:r>
              <a:rPr lang="en-US" sz="4200" spc="-100" kern="0" dirty="0">
                <a:solidFill>
                  <a:srgbClr val="FFFFFF"/>
                </a:solidFill>
                <a:latin typeface="Trebuchet MS" pitchFamily="34" charset="0"/>
                <a:ea typeface="Trebuchet MS" pitchFamily="34" charset="-122"/>
                <a:cs typeface="Trebuchet MS" pitchFamily="34" charset="-120"/>
              </a:rPr>
              <a:t>three quantified sponsor case studies.</a:t>
            </a:r>
            <a:endParaRPr lang="en-US" sz="4200" dirty="0"/>
          </a:p>
        </p:txBody>
      </p:sp>
      <p:sp>
        <p:nvSpPr>
          <p:cNvPr id="4" name="Text 2"/>
          <p:cNvSpPr/>
          <p:nvPr/>
        </p:nvSpPr>
        <p:spPr>
          <a:xfrm>
            <a:off x="914400" y="5760720"/>
            <a:ext cx="10332720" cy="365760"/>
          </a:xfrm>
          <a:prstGeom prst="rect">
            <a:avLst/>
          </a:prstGeom>
          <a:noFill/>
          <a:ln/>
        </p:spPr>
        <p:txBody>
          <a:bodyPr wrap="square" rtlCol="0" anchor="ctr"/>
          <a:lstStyle/>
          <a:p>
            <a:pPr algn="l" indent="0" marL="0">
              <a:buNone/>
            </a:pPr>
            <a:r>
              <a:rPr lang="en-US" sz="1300" i="1" dirty="0">
                <a:solidFill>
                  <a:srgbClr val="A8A3B8"/>
                </a:solidFill>
                <a:latin typeface="Calibri" pitchFamily="34" charset="0"/>
                <a:ea typeface="Calibri" pitchFamily="34" charset="-122"/>
                <a:cs typeface="Calibri" pitchFamily="34" charset="-120"/>
              </a:rPr>
              <a:t>The quiet end-state of this round.</a:t>
            </a:r>
            <a:endParaRPr lang="en-US" sz="1300" dirty="0"/>
          </a:p>
        </p:txBody>
      </p:sp>
      <p:sp>
        <p:nvSpPr>
          <p:cNvPr id="5" name="Text 3"/>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666680"/>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6" name="Text 4"/>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666680"/>
                </a:solidFill>
                <a:latin typeface="Calibri" pitchFamily="34" charset="0"/>
                <a:ea typeface="Calibri" pitchFamily="34" charset="-122"/>
                <a:cs typeface="Calibri" pitchFamily="34" charset="-120"/>
              </a:rPr>
              <a:t>22 / 25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822960"/>
            <a:ext cx="10972800" cy="1097280"/>
          </a:xfrm>
          <a:prstGeom prst="rect">
            <a:avLst/>
          </a:prstGeom>
          <a:noFill/>
          <a:ln/>
        </p:spPr>
        <p:txBody>
          <a:bodyPr wrap="square" rtlCol="0" anchor="ctr"/>
          <a:lstStyle/>
          <a:p>
            <a:pPr algn="l" indent="0" marL="0">
              <a:buNone/>
            </a:pPr>
            <a:r>
              <a:rPr lang="en-US" sz="7200" b="1" spc="-200" kern="0" dirty="0">
                <a:solidFill>
                  <a:srgbClr val="773A96"/>
                </a:solidFill>
                <a:latin typeface="Trebuchet MS" pitchFamily="34" charset="0"/>
                <a:ea typeface="Trebuchet MS" pitchFamily="34" charset="-122"/>
                <a:cs typeface="Trebuchet MS" pitchFamily="34" charset="-120"/>
              </a:rPr>
              <a:t>The ask.</a:t>
            </a:r>
            <a:endParaRPr lang="en-US" sz="7200" dirty="0"/>
          </a:p>
        </p:txBody>
      </p:sp>
      <p:sp>
        <p:nvSpPr>
          <p:cNvPr id="3" name="Text 1"/>
          <p:cNvSpPr/>
          <p:nvPr/>
        </p:nvSpPr>
        <p:spPr>
          <a:xfrm>
            <a:off x="640080" y="2286000"/>
            <a:ext cx="10881360" cy="3108960"/>
          </a:xfrm>
          <a:prstGeom prst="rect">
            <a:avLst/>
          </a:prstGeom>
          <a:noFill/>
          <a:ln/>
        </p:spPr>
        <p:txBody>
          <a:bodyPr wrap="square" rtlCol="0" anchor="t"/>
          <a:lstStyle/>
          <a:p>
            <a:pPr algn="l" indent="0" marL="0">
              <a:lnSpc>
                <a:spcPct val="150000"/>
              </a:lnSpc>
              <a:buNone/>
            </a:pPr>
            <a:r>
              <a:rPr lang="en-US" sz="2400" b="1" dirty="0">
                <a:solidFill>
                  <a:srgbClr val="2F3241"/>
                </a:solidFill>
                <a:latin typeface="Calibri" pitchFamily="34" charset="0"/>
                <a:ea typeface="Calibri" pitchFamily="34" charset="-122"/>
                <a:cs typeface="Calibri" pitchFamily="34" charset="-120"/>
              </a:rPr>
              <a:t>$5M</a:t>
            </a:r>
            <a:pPr algn="l" indent="0" marL="0">
              <a:lnSpc>
                <a:spcPct val="150000"/>
              </a:lnSpc>
              <a:buNone/>
            </a:pPr>
            <a:r>
              <a:rPr lang="en-US" sz="2400" dirty="0">
                <a:solidFill>
                  <a:srgbClr val="2F3241"/>
                </a:solidFill>
                <a:latin typeface="Calibri" pitchFamily="34" charset="0"/>
                <a:ea typeface="Calibri" pitchFamily="34" charset="-122"/>
                <a:cs typeface="Calibri" pitchFamily="34" charset="-120"/>
              </a:rPr>
              <a:t> at </a:t>
            </a:r>
            <a:pPr algn="l" indent="0" marL="0">
              <a:lnSpc>
                <a:spcPct val="150000"/>
              </a:lnSpc>
              <a:buNone/>
            </a:pPr>
            <a:r>
              <a:rPr lang="en-US" sz="2400" b="1" dirty="0">
                <a:solidFill>
                  <a:srgbClr val="2F3241"/>
                </a:solidFill>
                <a:latin typeface="Calibri" pitchFamily="34" charset="0"/>
                <a:ea typeface="Calibri" pitchFamily="34" charset="-122"/>
                <a:cs typeface="Calibri" pitchFamily="34" charset="-120"/>
              </a:rPr>
              <a:t>$15M pre-money</a:t>
            </a:r>
            <a:pPr algn="l" indent="0" marL="0">
              <a:lnSpc>
                <a:spcPct val="150000"/>
              </a:lnSpc>
              <a:buNone/>
            </a:pPr>
            <a:r>
              <a:rPr lang="en-US" sz="2400" dirty="0">
                <a:solidFill>
                  <a:srgbClr val="2F3241"/>
                </a:solidFill>
                <a:latin typeface="Calibri" pitchFamily="34" charset="0"/>
                <a:ea typeface="Calibri" pitchFamily="34" charset="-122"/>
                <a:cs typeface="Calibri" pitchFamily="34" charset="-120"/>
              </a:rPr>
              <a:t>, </a:t>
            </a:r>
            <a:pPr algn="l" indent="0" marL="0">
              <a:lnSpc>
                <a:spcPct val="150000"/>
              </a:lnSpc>
              <a:buNone/>
            </a:pPr>
            <a:r>
              <a:rPr lang="en-US" sz="2400" b="1" dirty="0">
                <a:solidFill>
                  <a:srgbClr val="2F3241"/>
                </a:solidFill>
                <a:latin typeface="Calibri" pitchFamily="34" charset="0"/>
                <a:ea typeface="Calibri" pitchFamily="34" charset="-122"/>
                <a:cs typeface="Calibri" pitchFamily="34" charset="-120"/>
              </a:rPr>
              <a:t>$20M post</a:t>
            </a:r>
            <a:pPr algn="l" indent="0" marL="0">
              <a:lnSpc>
                <a:spcPct val="150000"/>
              </a:lnSpc>
              <a:buNone/>
            </a:pPr>
            <a:r>
              <a:rPr lang="en-US" sz="2400" dirty="0">
                <a:solidFill>
                  <a:srgbClr val="2F3241"/>
                </a:solidFill>
                <a:latin typeface="Calibri" pitchFamily="34" charset="0"/>
                <a:ea typeface="Calibri" pitchFamily="34" charset="-122"/>
                <a:cs typeface="Calibri" pitchFamily="34" charset="-120"/>
              </a:rPr>
              <a:t>. Over-allotment to </a:t>
            </a:r>
            <a:pPr algn="l" indent="0" marL="0">
              <a:lnSpc>
                <a:spcPct val="150000"/>
              </a:lnSpc>
              <a:buNone/>
            </a:pPr>
            <a:r>
              <a:rPr lang="en-US" sz="2400" b="1" dirty="0">
                <a:solidFill>
                  <a:srgbClr val="2F3241"/>
                </a:solidFill>
                <a:latin typeface="Calibri" pitchFamily="34" charset="0"/>
                <a:ea typeface="Calibri" pitchFamily="34" charset="-122"/>
                <a:cs typeface="Calibri" pitchFamily="34" charset="-120"/>
              </a:rPr>
              <a:t>$7M at $17.5M pre</a:t>
            </a:r>
            <a:pPr algn="l" indent="0" marL="0">
              <a:lnSpc>
                <a:spcPct val="150000"/>
              </a:lnSpc>
              <a:buNone/>
            </a:pPr>
            <a:r>
              <a:rPr lang="en-US" sz="2400" dirty="0">
                <a:solidFill>
                  <a:srgbClr val="2F3241"/>
                </a:solidFill>
                <a:latin typeface="Calibri" pitchFamily="34" charset="0"/>
                <a:ea typeface="Calibri" pitchFamily="34" charset="-122"/>
                <a:cs typeface="Calibri" pitchFamily="34" charset="-120"/>
              </a:rPr>
              <a:t>. Convertible bridge available at a </a:t>
            </a:r>
            <a:pPr algn="l" indent="0" marL="0">
              <a:lnSpc>
                <a:spcPct val="150000"/>
              </a:lnSpc>
              <a:buNone/>
            </a:pPr>
            <a:r>
              <a:rPr lang="en-US" sz="2400" b="1" dirty="0">
                <a:solidFill>
                  <a:srgbClr val="2F3241"/>
                </a:solidFill>
                <a:latin typeface="Calibri" pitchFamily="34" charset="0"/>
                <a:ea typeface="Calibri" pitchFamily="34" charset="-122"/>
                <a:cs typeface="Calibri" pitchFamily="34" charset="-120"/>
              </a:rPr>
              <a:t>20% discount, 8% interest</a:t>
            </a:r>
            <a:pPr algn="l" indent="0" marL="0">
              <a:lnSpc>
                <a:spcPct val="150000"/>
              </a:lnSpc>
              <a:buNone/>
            </a:pPr>
            <a:r>
              <a:rPr lang="en-US" sz="2400" dirty="0">
                <a:solidFill>
                  <a:srgbClr val="2F3241"/>
                </a:solidFill>
                <a:latin typeface="Calibri" pitchFamily="34" charset="0"/>
                <a:ea typeface="Calibri" pitchFamily="34" charset="-122"/>
                <a:cs typeface="Calibri" pitchFamily="34" charset="-120"/>
              </a:rPr>
              <a:t>, same economic terms on conversion. Close </a:t>
            </a:r>
            <a:pPr algn="l" indent="0" marL="0">
              <a:lnSpc>
                <a:spcPct val="150000"/>
              </a:lnSpc>
              <a:buNone/>
            </a:pPr>
            <a:r>
              <a:rPr lang="en-US" sz="2400" b="1" dirty="0">
                <a:solidFill>
                  <a:srgbClr val="2F3241"/>
                </a:solidFill>
                <a:latin typeface="Calibri" pitchFamily="34" charset="0"/>
                <a:ea typeface="Calibri" pitchFamily="34" charset="-122"/>
                <a:cs typeface="Calibri" pitchFamily="34" charset="-120"/>
              </a:rPr>
              <a:t>30 May 2026</a:t>
            </a:r>
            <a:pPr algn="l" indent="0" marL="0">
              <a:lnSpc>
                <a:spcPct val="150000"/>
              </a:lnSpc>
              <a:buNone/>
            </a:pPr>
            <a:r>
              <a:rPr lang="en-US" sz="2400" dirty="0">
                <a:solidFill>
                  <a:srgbClr val="2F3241"/>
                </a:solidFill>
                <a:latin typeface="Calibri" pitchFamily="34" charset="0"/>
                <a:ea typeface="Calibri" pitchFamily="34" charset="-122"/>
                <a:cs typeface="Calibri" pitchFamily="34" charset="-120"/>
              </a:rPr>
              <a:t>. Floor: </a:t>
            </a:r>
            <a:pPr algn="l" indent="0" marL="0">
              <a:lnSpc>
                <a:spcPct val="150000"/>
              </a:lnSpc>
              <a:buNone/>
            </a:pPr>
            <a:r>
              <a:rPr lang="en-US" sz="2400" b="1" dirty="0">
                <a:solidFill>
                  <a:srgbClr val="C43C96"/>
                </a:solidFill>
                <a:latin typeface="Calibri" pitchFamily="34" charset="0"/>
                <a:ea typeface="Calibri" pitchFamily="34" charset="-122"/>
                <a:cs typeface="Calibri" pitchFamily="34" charset="-120"/>
              </a:rPr>
              <a:t>$12M pre</a:t>
            </a:r>
            <a:pPr algn="l" indent="0" marL="0">
              <a:lnSpc>
                <a:spcPct val="150000"/>
              </a:lnSpc>
              <a:buNone/>
            </a:pPr>
            <a:r>
              <a:rPr lang="en-US" sz="2400" dirty="0">
                <a:solidFill>
                  <a:srgbClr val="2F3241"/>
                </a:solidFill>
                <a:latin typeface="Calibri" pitchFamily="34" charset="0"/>
                <a:ea typeface="Calibri" pitchFamily="34" charset="-122"/>
                <a:cs typeface="Calibri" pitchFamily="34" charset="-120"/>
              </a:rPr>
              <a:t>.</a:t>
            </a:r>
            <a:endParaRPr lang="en-US" sz="2400" dirty="0"/>
          </a:p>
        </p:txBody>
      </p:sp>
      <p:sp>
        <p:nvSpPr>
          <p:cNvPr id="4" name="Text 2"/>
          <p:cNvSpPr/>
          <p:nvPr/>
        </p:nvSpPr>
        <p:spPr>
          <a:xfrm>
            <a:off x="640080" y="5577840"/>
            <a:ext cx="10972800" cy="777240"/>
          </a:xfrm>
          <a:prstGeom prst="rect">
            <a:avLst/>
          </a:prstGeom>
          <a:noFill/>
          <a:ln/>
        </p:spPr>
        <p:txBody>
          <a:bodyPr wrap="square" rtlCol="0" anchor="t"/>
          <a:lstStyle/>
          <a:p>
            <a:pPr algn="l" indent="0" marL="0">
              <a:lnSpc>
                <a:spcPct val="140000"/>
              </a:lnSpc>
              <a:buNone/>
            </a:pPr>
            <a:r>
              <a:rPr lang="en-US" sz="1200" i="1" dirty="0">
                <a:solidFill>
                  <a:srgbClr val="6B6880"/>
                </a:solidFill>
                <a:latin typeface="Calibri" pitchFamily="34" charset="0"/>
                <a:ea typeface="Calibri" pitchFamily="34" charset="-122"/>
                <a:cs typeface="Calibri" pitchFamily="34" charset="-120"/>
              </a:rPr>
              <a:t>Implied: ~15× current ~$1M ARR; 3–5× forward 2027 ARR at plan. Inside the Nelson Advisors 6–8× band for AI-enabled healthtech with a data moat.</a:t>
            </a:r>
            <a:endParaRPr lang="en-US" sz="1200" dirty="0"/>
          </a:p>
        </p:txBody>
      </p:sp>
      <p:sp>
        <p:nvSpPr>
          <p:cNvPr id="5" name="Text 3"/>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6" name="Text 4"/>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23 / 25</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31520"/>
            <a:ext cx="4572000" cy="292608"/>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INGESTED REGISTRIES</a:t>
            </a:r>
            <a:endParaRPr lang="en-US" sz="1000" dirty="0"/>
          </a:p>
        </p:txBody>
      </p:sp>
      <p:sp>
        <p:nvSpPr>
          <p:cNvPr id="3" name="Text 1"/>
          <p:cNvSpPr/>
          <p:nvPr/>
        </p:nvSpPr>
        <p:spPr>
          <a:xfrm>
            <a:off x="640080" y="1097280"/>
            <a:ext cx="4572000" cy="2560320"/>
          </a:xfrm>
          <a:prstGeom prst="rect">
            <a:avLst/>
          </a:prstGeom>
          <a:noFill/>
          <a:ln/>
        </p:spPr>
        <p:txBody>
          <a:bodyPr wrap="square" rtlCol="0" anchor="t"/>
          <a:lstStyle/>
          <a:p>
            <a:pPr algn="l" indent="0" marL="0">
              <a:lnSpc>
                <a:spcPct val="150000"/>
              </a:lnSpc>
              <a:buNone/>
            </a:pPr>
            <a:r>
              <a:rPr lang="en-US" sz="2200" b="1" spc="-30" kern="0" dirty="0">
                <a:solidFill>
                  <a:srgbClr val="2F3241"/>
                </a:solidFill>
                <a:latin typeface="Trebuchet MS" pitchFamily="34" charset="0"/>
                <a:ea typeface="Trebuchet MS" pitchFamily="34" charset="-122"/>
                <a:cs typeface="Trebuchet MS" pitchFamily="34" charset="-120"/>
              </a:rPr>
              <a:t>ClinicalTrials.gov</a:t>
            </a:r>
            <a:endParaRPr lang="en-US" sz="2200" dirty="0"/>
          </a:p>
          <a:p>
            <a:pPr algn="l" indent="0" marL="0">
              <a:lnSpc>
                <a:spcPct val="150000"/>
              </a:lnSpc>
              <a:buNone/>
            </a:pPr>
            <a:r>
              <a:rPr lang="en-US" sz="2200" b="1" spc="-30" kern="0" dirty="0">
                <a:solidFill>
                  <a:srgbClr val="2F3241"/>
                </a:solidFill>
                <a:latin typeface="Trebuchet MS" pitchFamily="34" charset="0"/>
                <a:ea typeface="Trebuchet MS" pitchFamily="34" charset="-122"/>
                <a:cs typeface="Trebuchet MS" pitchFamily="34" charset="-120"/>
              </a:rPr>
              <a:t>EU CTR</a:t>
            </a:r>
            <a:endParaRPr lang="en-US" sz="2200" dirty="0"/>
          </a:p>
          <a:p>
            <a:pPr algn="l" indent="0" marL="0">
              <a:lnSpc>
                <a:spcPct val="150000"/>
              </a:lnSpc>
              <a:buNone/>
            </a:pPr>
            <a:r>
              <a:rPr lang="en-US" sz="2200" b="1" spc="-30" kern="0" dirty="0">
                <a:solidFill>
                  <a:srgbClr val="2F3241"/>
                </a:solidFill>
                <a:latin typeface="Trebuchet MS" pitchFamily="34" charset="0"/>
                <a:ea typeface="Trebuchet MS" pitchFamily="34" charset="-122"/>
                <a:cs typeface="Trebuchet MS" pitchFamily="34" charset="-120"/>
              </a:rPr>
              <a:t>ISRCTN (UK)</a:t>
            </a:r>
            <a:endParaRPr lang="en-US" sz="2200" dirty="0"/>
          </a:p>
          <a:p>
            <a:pPr algn="l" indent="0" marL="0">
              <a:lnSpc>
                <a:spcPct val="150000"/>
              </a:lnSpc>
              <a:buNone/>
            </a:pPr>
            <a:r>
              <a:rPr lang="en-US" sz="2200" b="1" spc="-30" kern="0" dirty="0">
                <a:solidFill>
                  <a:srgbClr val="2F3241"/>
                </a:solidFill>
                <a:latin typeface="Trebuchet MS" pitchFamily="34" charset="0"/>
                <a:ea typeface="Trebuchet MS" pitchFamily="34" charset="-122"/>
                <a:cs typeface="Trebuchet MS" pitchFamily="34" charset="-120"/>
              </a:rPr>
              <a:t>ANZCTR</a:t>
            </a:r>
            <a:endParaRPr lang="en-US" sz="2200" dirty="0"/>
          </a:p>
          <a:p>
            <a:pPr algn="l" indent="0" marL="0">
              <a:lnSpc>
                <a:spcPct val="150000"/>
              </a:lnSpc>
              <a:buNone/>
            </a:pPr>
            <a:r>
              <a:rPr lang="en-US" sz="2200" b="1" spc="-30" kern="0" dirty="0">
                <a:solidFill>
                  <a:srgbClr val="2F3241"/>
                </a:solidFill>
                <a:latin typeface="Trebuchet MS" pitchFamily="34" charset="0"/>
                <a:ea typeface="Trebuchet MS" pitchFamily="34" charset="-122"/>
                <a:cs typeface="Trebuchet MS" pitchFamily="34" charset="-120"/>
              </a:rPr>
              <a:t>ChiCTR</a:t>
            </a:r>
            <a:endParaRPr lang="en-US" sz="2200" dirty="0"/>
          </a:p>
        </p:txBody>
      </p:sp>
      <p:sp>
        <p:nvSpPr>
          <p:cNvPr id="4" name="Text 2"/>
          <p:cNvSpPr/>
          <p:nvPr/>
        </p:nvSpPr>
        <p:spPr>
          <a:xfrm>
            <a:off x="6583680" y="731520"/>
            <a:ext cx="5029200" cy="292608"/>
          </a:xfrm>
          <a:prstGeom prst="rect">
            <a:avLst/>
          </a:prstGeom>
          <a:noFill/>
          <a:ln/>
        </p:spPr>
        <p:txBody>
          <a:bodyPr wrap="square" rtlCol="0" anchor="ctr"/>
          <a:lstStyle/>
          <a:p>
            <a:pPr indent="0" marL="0">
              <a:buNone/>
            </a:pPr>
            <a:r>
              <a:rPr lang="en-US" sz="1000" b="1" spc="400" kern="0" dirty="0">
                <a:solidFill>
                  <a:srgbClr val="773A96"/>
                </a:solidFill>
                <a:latin typeface="Calibri" pitchFamily="34" charset="0"/>
                <a:ea typeface="Calibri" pitchFamily="34" charset="-122"/>
                <a:cs typeface="Calibri" pitchFamily="34" charset="-120"/>
              </a:rPr>
              <a:t>DISCOVERY SURFACES</a:t>
            </a:r>
            <a:endParaRPr lang="en-US" sz="1000" dirty="0"/>
          </a:p>
        </p:txBody>
      </p:sp>
      <p:sp>
        <p:nvSpPr>
          <p:cNvPr id="5" name="Text 3"/>
          <p:cNvSpPr/>
          <p:nvPr/>
        </p:nvSpPr>
        <p:spPr>
          <a:xfrm>
            <a:off x="6583680" y="1097280"/>
            <a:ext cx="5029200" cy="3291840"/>
          </a:xfrm>
          <a:prstGeom prst="rect">
            <a:avLst/>
          </a:prstGeom>
          <a:noFill/>
          <a:ln/>
        </p:spPr>
        <p:txBody>
          <a:bodyPr wrap="square" rtlCol="0" anchor="t"/>
          <a:lstStyle/>
          <a:p>
            <a:pPr algn="l" indent="0" marL="0">
              <a:lnSpc>
                <a:spcPct val="150000"/>
              </a:lnSpc>
              <a:buNone/>
            </a:pPr>
            <a:r>
              <a:rPr lang="en-US" sz="1300" dirty="0">
                <a:solidFill>
                  <a:srgbClr val="2F3241"/>
                </a:solidFill>
                <a:latin typeface="Calibri" pitchFamily="34" charset="0"/>
                <a:ea typeface="Calibri" pitchFamily="34" charset="-122"/>
                <a:cs typeface="Calibri" pitchFamily="34" charset="-120"/>
              </a:rPr>
              <a:t>TrialScreen.org primary consumer search. MedicalHeroes for patient stories and long-tail SEO. Institutions as health-system-branded widgets. Research Friends as co-branded advocacy communities. SubGroup for micro-communities in rare disease and diversity-defined populations.</a:t>
            </a:r>
            <a:endParaRPr lang="en-US" sz="1300" dirty="0"/>
          </a:p>
        </p:txBody>
      </p:sp>
      <p:sp>
        <p:nvSpPr>
          <p:cNvPr id="6" name="Shape 4"/>
          <p:cNvSpPr/>
          <p:nvPr/>
        </p:nvSpPr>
        <p:spPr>
          <a:xfrm>
            <a:off x="640080" y="4389120"/>
            <a:ext cx="10972800" cy="0"/>
          </a:xfrm>
          <a:prstGeom prst="line">
            <a:avLst/>
          </a:prstGeom>
          <a:noFill/>
          <a:ln w="9525">
            <a:solidFill>
              <a:srgbClr val="D8D2E4"/>
            </a:solidFill>
            <a:prstDash val="solid"/>
          </a:ln>
        </p:spPr>
      </p:sp>
      <p:sp>
        <p:nvSpPr>
          <p:cNvPr id="7" name="Text 5"/>
          <p:cNvSpPr/>
          <p:nvPr/>
        </p:nvSpPr>
        <p:spPr>
          <a:xfrm>
            <a:off x="640080" y="4617720"/>
            <a:ext cx="5486400" cy="292608"/>
          </a:xfrm>
          <a:prstGeom prst="rect">
            <a:avLst/>
          </a:prstGeom>
          <a:noFill/>
          <a:ln/>
        </p:spPr>
        <p:txBody>
          <a:bodyPr wrap="square" rtlCol="0" anchor="ctr"/>
          <a:lstStyle/>
          <a:p>
            <a:pPr indent="0" marL="0">
              <a:buNone/>
            </a:pPr>
            <a:r>
              <a:rPr lang="en-US" sz="1000" b="1" spc="400" kern="0" dirty="0">
                <a:solidFill>
                  <a:srgbClr val="C43C96"/>
                </a:solidFill>
                <a:latin typeface="Calibri" pitchFamily="34" charset="0"/>
                <a:ea typeface="Calibri" pitchFamily="34" charset="-122"/>
                <a:cs typeface="Calibri" pitchFamily="34" charset="-120"/>
              </a:rPr>
              <a:t>DELIVERY &amp; COMPLIANCE</a:t>
            </a:r>
            <a:endParaRPr lang="en-US" sz="1000" dirty="0"/>
          </a:p>
        </p:txBody>
      </p:sp>
      <p:sp>
        <p:nvSpPr>
          <p:cNvPr id="8" name="Text 6"/>
          <p:cNvSpPr/>
          <p:nvPr/>
        </p:nvSpPr>
        <p:spPr>
          <a:xfrm>
            <a:off x="640080" y="4983480"/>
            <a:ext cx="10972800" cy="1417320"/>
          </a:xfrm>
          <a:prstGeom prst="rect">
            <a:avLst/>
          </a:prstGeom>
          <a:noFill/>
          <a:ln/>
        </p:spPr>
        <p:txBody>
          <a:bodyPr wrap="square" rtlCol="0" anchor="t"/>
          <a:lstStyle/>
          <a:p>
            <a:pPr algn="l" indent="0" marL="0">
              <a:lnSpc>
                <a:spcPct val="145000"/>
              </a:lnSpc>
              <a:buNone/>
            </a:pPr>
            <a:r>
              <a:rPr lang="en-US" sz="1200" dirty="0">
                <a:solidFill>
                  <a:srgbClr val="2F3241"/>
                </a:solidFill>
                <a:latin typeface="Calibri" pitchFamily="34" charset="0"/>
                <a:ea typeface="Calibri" pitchFamily="34" charset="-122"/>
                <a:cs typeface="Calibri" pitchFamily="34" charset="-120"/>
              </a:rPr>
              <a:t>Delivery: secure email, TS.app, CTMS integration, API. Compliance: SOC 2 Type I in progress into Type II; HIPAA; GDPR; ISO 27001 prep; EU AI Act readiness programme funded. AI guardrails: human-in-the-loop on patient-facing content, external regulatory counsel, per-sponsor tenancy with external audit and red-team testing.</a:t>
            </a:r>
            <a:endParaRPr lang="en-US" sz="1200" dirty="0"/>
          </a:p>
        </p:txBody>
      </p:sp>
      <p:sp>
        <p:nvSpPr>
          <p:cNvPr id="9" name="Text 7"/>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9A98A8"/>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10" name="Text 8"/>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9A98A8"/>
                </a:solidFill>
                <a:latin typeface="Calibri" pitchFamily="34" charset="0"/>
                <a:ea typeface="Calibri" pitchFamily="34" charset="-122"/>
                <a:cs typeface="Calibri" pitchFamily="34" charset="-120"/>
              </a:rPr>
              <a:t>24 / 25</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F3241"/>
        </a:solidFill>
      </p:bgPr>
    </p:bg>
    <p:spTree>
      <p:nvGrpSpPr>
        <p:cNvPr id="1" name=""/>
        <p:cNvGrpSpPr/>
        <p:nvPr/>
      </p:nvGrpSpPr>
      <p:grpSpPr>
        <a:xfrm>
          <a:off x="0" y="0"/>
          <a:ext cx="0" cy="0"/>
          <a:chOff x="0" y="0"/>
          <a:chExt cx="0" cy="0"/>
        </a:xfrm>
      </p:grpSpPr>
      <p:sp>
        <p:nvSpPr>
          <p:cNvPr id="2" name="Text 0"/>
          <p:cNvSpPr/>
          <p:nvPr/>
        </p:nvSpPr>
        <p:spPr>
          <a:xfrm>
            <a:off x="640080" y="548640"/>
            <a:ext cx="6400800" cy="548640"/>
          </a:xfrm>
          <a:prstGeom prst="rect">
            <a:avLst/>
          </a:prstGeom>
          <a:noFill/>
          <a:ln/>
        </p:spPr>
        <p:txBody>
          <a:bodyPr wrap="square" rtlCol="0" anchor="ctr"/>
          <a:lstStyle/>
          <a:p>
            <a:pPr algn="l" indent="0" marL="0">
              <a:buNone/>
            </a:pPr>
            <a:r>
              <a:rPr lang="en-US" sz="2200" b="1" spc="-50" kern="0" dirty="0">
                <a:solidFill>
                  <a:srgbClr val="FFFFFF"/>
                </a:solidFill>
                <a:latin typeface="Trebuchet MS" pitchFamily="34" charset="0"/>
                <a:ea typeface="Trebuchet MS" pitchFamily="34" charset="-122"/>
                <a:cs typeface="Trebuchet MS" pitchFamily="34" charset="-120"/>
              </a:rPr>
              <a:t>TrialScreen</a:t>
            </a:r>
            <a:endParaRPr lang="en-US" sz="2200" dirty="0"/>
          </a:p>
        </p:txBody>
      </p:sp>
      <p:sp>
        <p:nvSpPr>
          <p:cNvPr id="3" name="Text 1"/>
          <p:cNvSpPr/>
          <p:nvPr/>
        </p:nvSpPr>
        <p:spPr>
          <a:xfrm>
            <a:off x="640080" y="2194560"/>
            <a:ext cx="10881360" cy="2560320"/>
          </a:xfrm>
          <a:prstGeom prst="rect">
            <a:avLst/>
          </a:prstGeom>
          <a:noFill/>
          <a:ln/>
        </p:spPr>
        <p:txBody>
          <a:bodyPr wrap="square" rtlCol="0" anchor="ctr"/>
          <a:lstStyle/>
          <a:p>
            <a:pPr algn="ctr" indent="0" marL="0">
              <a:lnSpc>
                <a:spcPct val="115000"/>
              </a:lnSpc>
              <a:buNone/>
            </a:pPr>
            <a:r>
              <a:rPr lang="en-US" sz="5400" b="1" spc="-150" kern="0" dirty="0">
                <a:solidFill>
                  <a:srgbClr val="FFFFFF"/>
                </a:solidFill>
                <a:latin typeface="Trebuchet MS" pitchFamily="34" charset="0"/>
                <a:ea typeface="Trebuchet MS" pitchFamily="34" charset="-122"/>
                <a:cs typeface="Trebuchet MS" pitchFamily="34" charset="-120"/>
              </a:rPr>
              <a:t>The infrastructure layer</a:t>
            </a:r>
            <a:endParaRPr lang="en-US" sz="5400" dirty="0"/>
          </a:p>
          <a:p>
            <a:pPr algn="ctr" indent="0" marL="0">
              <a:lnSpc>
                <a:spcPct val="115000"/>
              </a:lnSpc>
              <a:buNone/>
            </a:pPr>
            <a:r>
              <a:rPr lang="en-US" sz="5400" b="1" spc="-150" kern="0" dirty="0">
                <a:solidFill>
                  <a:srgbClr val="FFFFFF"/>
                </a:solidFill>
                <a:latin typeface="Trebuchet MS" pitchFamily="34" charset="0"/>
                <a:ea typeface="Trebuchet MS" pitchFamily="34" charset="-122"/>
                <a:cs typeface="Trebuchet MS" pitchFamily="34" charset="-120"/>
              </a:rPr>
              <a:t>for patient recruitment.</a:t>
            </a:r>
            <a:endParaRPr lang="en-US" sz="5400" dirty="0"/>
          </a:p>
        </p:txBody>
      </p:sp>
      <p:sp>
        <p:nvSpPr>
          <p:cNvPr id="4" name="Text 2"/>
          <p:cNvSpPr/>
          <p:nvPr/>
        </p:nvSpPr>
        <p:spPr>
          <a:xfrm>
            <a:off x="640080" y="5120640"/>
            <a:ext cx="10881360" cy="411480"/>
          </a:xfrm>
          <a:prstGeom prst="rect">
            <a:avLst/>
          </a:prstGeom>
          <a:noFill/>
          <a:ln/>
        </p:spPr>
        <p:txBody>
          <a:bodyPr wrap="square" rtlCol="0" anchor="ctr"/>
          <a:lstStyle/>
          <a:p>
            <a:pPr algn="ctr" indent="0" marL="0">
              <a:buNone/>
            </a:pPr>
            <a:r>
              <a:rPr lang="en-US" sz="1400" dirty="0">
                <a:solidFill>
                  <a:srgbClr val="B9B5C8"/>
                </a:solidFill>
                <a:latin typeface="Calibri" pitchFamily="34" charset="0"/>
                <a:ea typeface="Calibri" pitchFamily="34" charset="-122"/>
                <a:cs typeface="Calibri" pitchFamily="34" charset="-120"/>
              </a:rPr>
              <a:t>Hugo Stephenson  ·  [insert investor-facing contact before distribution]</a:t>
            </a:r>
            <a:endParaRPr lang="en-US" sz="1400" dirty="0"/>
          </a:p>
        </p:txBody>
      </p:sp>
      <p:sp>
        <p:nvSpPr>
          <p:cNvPr id="5" name="Text 3"/>
          <p:cNvSpPr/>
          <p:nvPr/>
        </p:nvSpPr>
        <p:spPr>
          <a:xfrm>
            <a:off x="640080" y="5669280"/>
            <a:ext cx="10881360" cy="365760"/>
          </a:xfrm>
          <a:prstGeom prst="rect">
            <a:avLst/>
          </a:prstGeom>
          <a:noFill/>
          <a:ln/>
        </p:spPr>
        <p:txBody>
          <a:bodyPr wrap="square" rtlCol="0" anchor="ctr"/>
          <a:lstStyle/>
          <a:p>
            <a:pPr algn="ctr" indent="0" marL="0">
              <a:buNone/>
            </a:pPr>
            <a:r>
              <a:rPr lang="en-US" sz="1200" dirty="0">
                <a:solidFill>
                  <a:srgbClr val="8F8AA3"/>
                </a:solidFill>
                <a:latin typeface="Calibri" pitchFamily="34" charset="0"/>
                <a:ea typeface="Calibri" pitchFamily="34" charset="-122"/>
                <a:cs typeface="Calibri" pitchFamily="34" charset="-120"/>
              </a:rPr>
              <a:t>Dr Hugo Stephenson  ·  Elisa Cascade  ·  Melissa Easy</a:t>
            </a:r>
            <a:endParaRPr lang="en-US" sz="1200" dirty="0"/>
          </a:p>
        </p:txBody>
      </p:sp>
      <p:sp>
        <p:nvSpPr>
          <p:cNvPr id="6" name="Text 4"/>
          <p:cNvSpPr/>
          <p:nvPr/>
        </p:nvSpPr>
        <p:spPr>
          <a:xfrm>
            <a:off x="457200" y="6583680"/>
            <a:ext cx="8686800" cy="201168"/>
          </a:xfrm>
          <a:prstGeom prst="rect">
            <a:avLst/>
          </a:prstGeom>
          <a:noFill/>
          <a:ln/>
        </p:spPr>
        <p:txBody>
          <a:bodyPr wrap="square" rtlCol="0" anchor="ctr"/>
          <a:lstStyle/>
          <a:p>
            <a:pPr algn="l" indent="0" marL="0">
              <a:buNone/>
            </a:pPr>
            <a:r>
              <a:rPr lang="en-US" sz="800" dirty="0">
                <a:solidFill>
                  <a:srgbClr val="666680"/>
                </a:solidFill>
                <a:latin typeface="Calibri" pitchFamily="34" charset="0"/>
                <a:ea typeface="Calibri" pitchFamily="34" charset="-122"/>
                <a:cs typeface="Calibri" pitchFamily="34" charset="-120"/>
              </a:rPr>
              <a:t>CONFIDENTIAL  ·  TrialScreen  ·  Series A  ·  Board Edition, May 2026</a:t>
            </a:r>
            <a:endParaRPr lang="en-US" sz="800" dirty="0"/>
          </a:p>
        </p:txBody>
      </p:sp>
      <p:sp>
        <p:nvSpPr>
          <p:cNvPr id="7" name="Text 5"/>
          <p:cNvSpPr/>
          <p:nvPr/>
        </p:nvSpPr>
        <p:spPr>
          <a:xfrm>
            <a:off x="11002975" y="6583680"/>
            <a:ext cx="731520" cy="201168"/>
          </a:xfrm>
          <a:prstGeom prst="rect">
            <a:avLst/>
          </a:prstGeom>
          <a:noFill/>
          <a:ln/>
        </p:spPr>
        <p:txBody>
          <a:bodyPr wrap="square" rtlCol="0" anchor="ctr"/>
          <a:lstStyle/>
          <a:p>
            <a:pPr algn="r" indent="0" marL="0">
              <a:buNone/>
            </a:pPr>
            <a:r>
              <a:rPr lang="en-US" sz="800" dirty="0">
                <a:solidFill>
                  <a:srgbClr val="666680"/>
                </a:solidFill>
                <a:latin typeface="Calibri" pitchFamily="34" charset="0"/>
                <a:ea typeface="Calibri" pitchFamily="34" charset="-122"/>
                <a:cs typeface="Calibri" pitchFamily="34" charset="-120"/>
              </a:rPr>
              <a:t>25 / 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TrialScreen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TrialScreen — Series A</dc:title>
  <dc:subject>PptxGenJS Presentation</dc:subject>
  <dc:creator>TrialScreen</dc:creator>
  <cp:lastModifiedBy>TrialScreen</cp:lastModifiedBy>
  <cp:revision>1</cp:revision>
  <dcterms:created xsi:type="dcterms:W3CDTF">2026-04-24T11:47:50Z</dcterms:created>
  <dcterms:modified xsi:type="dcterms:W3CDTF">2026-04-24T11:47:50Z</dcterms:modified>
</cp:coreProperties>
</file>