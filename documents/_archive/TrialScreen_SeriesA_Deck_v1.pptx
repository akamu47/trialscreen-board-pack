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80" r:id="rId31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notesMasterIdLst>
    <p:notesMasterId r:id="rId2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10.xml"/><Relationship Id="rId11" Type="http://schemas.openxmlformats.org/officeDocument/2006/relationships/slide" Target="slides/slide11.xml"/><Relationship Id="rId12" Type="http://schemas.openxmlformats.org/officeDocument/2006/relationships/slide" Target="slides/slide12.xml"/><Relationship Id="rId13" Type="http://schemas.openxmlformats.org/officeDocument/2006/relationships/slide" Target="slides/slide13.xml"/><Relationship Id="rId14" Type="http://schemas.openxmlformats.org/officeDocument/2006/relationships/slide" Target="slides/slide14.xml"/><Relationship Id="rId15" Type="http://schemas.openxmlformats.org/officeDocument/2006/relationships/slide" Target="slides/slide15.xml"/><Relationship Id="rId16" Type="http://schemas.openxmlformats.org/officeDocument/2006/relationships/slide" Target="slides/slide16.xml"/><Relationship Id="rId17" Type="http://schemas.openxmlformats.org/officeDocument/2006/relationships/slide" Target="slides/slide17.xml"/><Relationship Id="rId18" Type="http://schemas.openxmlformats.org/officeDocument/2006/relationships/slide" Target="slides/slide18.xml"/><Relationship Id="rId19" Type="http://schemas.openxmlformats.org/officeDocument/2006/relationships/slide" Target="slides/slide19.xml"/><Relationship Id="rId20" Type="http://schemas.openxmlformats.org/officeDocument/2006/relationships/slide" Target="slides/slide20.xml"/><Relationship Id="rId21" Type="http://schemas.openxmlformats.org/officeDocument/2006/relationships/slide" Target="slides/slide21.xml"/><Relationship Id="rId22" Type="http://schemas.openxmlformats.org/officeDocument/2006/relationships/slide" Target="slides/slide22.xml"/><Relationship Id="rId23" Type="http://schemas.openxmlformats.org/officeDocument/2006/relationships/slide" Target="slides/slide23.xml"/><Relationship Id="rId24" Type="http://schemas.openxmlformats.org/officeDocument/2006/relationships/slide" Target="slides/slide24.xml"/><Relationship Id="rId25" Type="http://schemas.openxmlformats.org/officeDocument/2006/relationships/slide" Target="slides/slide25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Relationship Id="rId31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1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C22299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109728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B0ADB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CONFIDENTIAL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22960" y="219456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TrialScreen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822960" y="338328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F9BA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infrastructure layer for patient recruitment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822960" y="39319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Twilio + Salesforce for clinical trials — one API layer, one compounding community asset.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" y="5394960"/>
            <a:ext cx="10058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Board Edition  ·  Series A roadshow  ·  Close 30 May 2026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9BA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$5M on $15M pre-money ($20M post)  ·  $7M at $17.5M pre over-allotment  ·  Convertible bridge: 20% discount, 8% interest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773A9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6B68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CONFIDENTIAL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320040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773A9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Proven founders. Category opportunity.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457200" y="109728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6B68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From the team that built and sold DrugDev to IQVIA — now building the permanent infrastructure layer for patient recruitment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7200" y="1828800"/>
            <a:ext cx="3505200" cy="3291840"/>
          </a:xfrm>
          <a:prstGeom prst="rect">
            <a:avLst/>
          </a:prstGeom>
          <a:solidFill>
            <a:srgbClr val="FCF4FB"/>
          </a:solidFill>
          <a:ln w="12700">
            <a:solidFill>
              <a:srgbClr val="E6E0E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828800"/>
            <a:ext cx="3505200" cy="91440"/>
          </a:xfrm>
          <a:prstGeom prst="rect">
            <a:avLst/>
          </a:prstGeom>
          <a:solidFill>
            <a:srgbClr val="773A96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2148840"/>
            <a:ext cx="2956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773A9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Dr. Hugo Stephenson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31520" y="2606040"/>
            <a:ext cx="2956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222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CEO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31520" y="3063240"/>
            <a:ext cx="29565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MD. Former Executive Chairman, DrugDev (sold to IQVIA). Ex-Quintiles/IQVIA. 20+ years across sponsor, site and CRO sides of clinical research.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328160" y="1828800"/>
            <a:ext cx="3505200" cy="3291840"/>
          </a:xfrm>
          <a:prstGeom prst="rect">
            <a:avLst/>
          </a:prstGeom>
          <a:solidFill>
            <a:srgbClr val="FCF4FB"/>
          </a:solidFill>
          <a:ln w="12700">
            <a:solidFill>
              <a:srgbClr val="E6E0E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328160" y="1828800"/>
            <a:ext cx="3505200" cy="91440"/>
          </a:xfrm>
          <a:prstGeom prst="rect">
            <a:avLst/>
          </a:prstGeom>
          <a:solidFill>
            <a:srgbClr val="773A96"/>
          </a:solidFill>
          <a:ln/>
        </p:spPr>
      </p:sp>
      <p:sp>
        <p:nvSpPr>
          <p:cNvPr id="13" name="Text 11"/>
          <p:cNvSpPr/>
          <p:nvPr/>
        </p:nvSpPr>
        <p:spPr>
          <a:xfrm>
            <a:off x="4602480" y="2148840"/>
            <a:ext cx="2956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773A9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Elisa Cascade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602480" y="2606040"/>
            <a:ext cx="2956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222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CGO, Head of Americas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602480" y="3063240"/>
            <a:ext cx="29565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Ex-Chief Product Officer, Advarra. Senior roles at Science 37, IQVIA/DrugDev, Clario. Past Chair of the ACRP Board of Trustees.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199120" y="1828800"/>
            <a:ext cx="3505200" cy="3291840"/>
          </a:xfrm>
          <a:prstGeom prst="rect">
            <a:avLst/>
          </a:prstGeom>
          <a:solidFill>
            <a:srgbClr val="FCF4FB"/>
          </a:solidFill>
          <a:ln w="12700">
            <a:solidFill>
              <a:srgbClr val="E6E0E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199120" y="1828800"/>
            <a:ext cx="3505200" cy="91440"/>
          </a:xfrm>
          <a:prstGeom prst="rect">
            <a:avLst/>
          </a:prstGeom>
          <a:solidFill>
            <a:srgbClr val="773A96"/>
          </a:solidFill>
          <a:ln/>
        </p:spPr>
      </p:sp>
      <p:sp>
        <p:nvSpPr>
          <p:cNvPr id="18" name="Text 16"/>
          <p:cNvSpPr/>
          <p:nvPr/>
        </p:nvSpPr>
        <p:spPr>
          <a:xfrm>
            <a:off x="8473440" y="2148840"/>
            <a:ext cx="2956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773A9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Melissa Easy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8473440" y="2606040"/>
            <a:ext cx="2956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222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COO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473440" y="3063240"/>
            <a:ext cx="29565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Operating leadership across platform, integrations, and scale delivery for sponsors, CROs and sites.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57200" y="5394960"/>
            <a:ext cx="11247120" cy="777240"/>
          </a:xfrm>
          <a:prstGeom prst="rect">
            <a:avLst/>
          </a:prstGeom>
          <a:solidFill>
            <a:srgbClr val="773A96"/>
          </a:solidFill>
          <a:ln/>
        </p:spPr>
      </p:sp>
      <p:sp>
        <p:nvSpPr>
          <p:cNvPr id="22" name="Text 20"/>
          <p:cNvSpPr/>
          <p:nvPr/>
        </p:nvSpPr>
        <p:spPr>
          <a:xfrm>
            <a:off x="640080" y="544068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9BA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INDUSTRY RECOGNITION    </a:t>
            </a:r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Site Innovation Award Winner — SCOPE, Orlando, February 2026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65760" y="653796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ADB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CONFIDENTIAL  ·  TrialScreen  ·  Board Edition, April 2026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247120" y="653796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0ADB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 / 24</a:t>
            </a:r>
            <a:endParaRPr lang="en-US" sz="900" dirty="0"/>
          </a:p>
        </p:txBody>
      </p:sp>
      <p:sp>
        <p:nvSpPr>
          <p:cNvPr id="25" name="TextBox 24"/>
          <p:cNvSpPr txBox="1"/>
          <p:nvPr/>
        </p:nvSpPr>
        <p:spPr>
          <a:xfrm>
            <a:off x="457200" y="4754880"/>
            <a:ext cx="11274552" cy="32004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l"/>
            <a:r>
              <a:rPr sz="900" b="1">
                <a:solidFill>
                  <a:srgbClr val="C22299"/>
                </a:solidFill>
                <a:latin typeface="Calibri"/>
              </a:rPr>
              <a:t>PRIOR ORGANISATIONS   </a:t>
            </a:r>
            <a:r>
              <a:rPr sz="1100">
                <a:solidFill>
                  <a:srgbClr val="6B6880"/>
                </a:solidFill>
                <a:latin typeface="Calibri"/>
              </a:rPr>
              <a:t>DrugDev  ·  IQVIA  ·  Advarra  ·  Science 37  ·  Clario  ·  Quintiles  ·  ACRP Board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773A9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6B68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CONFIDENTIAL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320040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773A9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The core bottleneck in drug development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457200" y="109728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6B68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Patient recruitment is the #1 cause of trial delay and failure. Discovery is being disrupted. Enrolment is not.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7200" y="1691640"/>
            <a:ext cx="2788920" cy="2194560"/>
          </a:xfrm>
          <a:prstGeom prst="rect">
            <a:avLst/>
          </a:prstGeom>
          <a:solidFill>
            <a:srgbClr val="FCF4FB"/>
          </a:solidFill>
          <a:ln w="12700">
            <a:solidFill>
              <a:srgbClr val="E6E0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920240"/>
            <a:ext cx="2423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C22299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&gt;80%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640080" y="2971800"/>
            <a:ext cx="2423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of trials miss enrolment timelines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429000" y="1691640"/>
            <a:ext cx="2788920" cy="2194560"/>
          </a:xfrm>
          <a:prstGeom prst="rect">
            <a:avLst/>
          </a:prstGeom>
          <a:solidFill>
            <a:srgbClr val="FCF4FB"/>
          </a:solidFill>
          <a:ln w="12700">
            <a:solidFill>
              <a:srgbClr val="E6E0E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11880" y="1920240"/>
            <a:ext cx="2423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C22299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~30%</a:t>
            </a:r>
            <a:endParaRPr lang="en-US" sz="4400" dirty="0"/>
          </a:p>
        </p:txBody>
      </p:sp>
      <p:sp>
        <p:nvSpPr>
          <p:cNvPr id="11" name="Text 9"/>
          <p:cNvSpPr/>
          <p:nvPr/>
        </p:nvSpPr>
        <p:spPr>
          <a:xfrm>
            <a:off x="3611880" y="2971800"/>
            <a:ext cx="2423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of trial sites enrol zero patients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4069080"/>
            <a:ext cx="2788920" cy="2194560"/>
          </a:xfrm>
          <a:prstGeom prst="rect">
            <a:avLst/>
          </a:prstGeom>
          <a:solidFill>
            <a:srgbClr val="FCF4FB"/>
          </a:solidFill>
          <a:ln w="12700">
            <a:solidFill>
              <a:srgbClr val="E6E0E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4297680"/>
            <a:ext cx="2423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C22299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$600K–$8M</a:t>
            </a:r>
            <a:endParaRPr lang="en-US" sz="4400" dirty="0"/>
          </a:p>
        </p:txBody>
      </p:sp>
      <p:sp>
        <p:nvSpPr>
          <p:cNvPr id="14" name="Text 12"/>
          <p:cNvSpPr/>
          <p:nvPr/>
        </p:nvSpPr>
        <p:spPr>
          <a:xfrm>
            <a:off x="640080" y="5349240"/>
            <a:ext cx="2423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cost of enrolment delay per day (Phase III)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429000" y="4069080"/>
            <a:ext cx="2788920" cy="2194560"/>
          </a:xfrm>
          <a:prstGeom prst="rect">
            <a:avLst/>
          </a:prstGeom>
          <a:solidFill>
            <a:srgbClr val="FCF4FB"/>
          </a:solidFill>
          <a:ln w="12700">
            <a:solidFill>
              <a:srgbClr val="E6E0E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11880" y="4297680"/>
            <a:ext cx="2423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C22299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~5%</a:t>
            </a:r>
            <a:endParaRPr lang="en-US" sz="4400" dirty="0"/>
          </a:p>
        </p:txBody>
      </p:sp>
      <p:sp>
        <p:nvSpPr>
          <p:cNvPr id="17" name="Text 15"/>
          <p:cNvSpPr/>
          <p:nvPr/>
        </p:nvSpPr>
        <p:spPr>
          <a:xfrm>
            <a:off x="3611880" y="5349240"/>
            <a:ext cx="2423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of eligible patients proactively search for trials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309360" y="16916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73A9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Who loses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309360" y="2103120"/>
            <a:ext cx="548640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Sponsors — massive cost overruns and delayed approvals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CROs — lose revenue and credibility when trials slip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Sites — operate below capacity, margins compress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Patients — miss out on new treatments in active research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309360" y="4251960"/>
            <a:ext cx="5486400" cy="1554480"/>
          </a:xfrm>
          <a:prstGeom prst="rect">
            <a:avLst/>
          </a:prstGeom>
          <a:solidFill>
            <a:srgbClr val="773A96"/>
          </a:solidFill>
          <a:ln/>
        </p:spPr>
      </p:sp>
      <p:sp>
        <p:nvSpPr>
          <p:cNvPr id="21" name="Text 19"/>
          <p:cNvSpPr/>
          <p:nvPr/>
        </p:nvSpPr>
        <p:spPr>
          <a:xfrm>
            <a:off x="6492240" y="4343400"/>
            <a:ext cx="5120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Every other layer of pharma R&amp;D has been transformed by technology.</a:t>
            </a:r>
            <a:endParaRPr lang="en-US" sz="1400" dirty="0"/>
          </a:p>
          <a:p>
            <a:pPr indent="0" marL="0">
              <a:buNone/>
            </a:pPr>
            <a:r>
              <a:rPr lang="en-US" sz="1400" i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Recruitment has not. That is the gap.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57200" y="612648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68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Sources: Laaksonen 2022 (PMID 35550003); Brøgger-Mikkelsen 2020 (PMID 33146627); Smith, DiMasi &amp; Getz (Ther Innov Regul Sci 2024).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365760" y="653796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ADB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CONFIDENTIAL  ·  TrialScreen  ·  Board Edition, April 2026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247120" y="653796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0ADB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 / 24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773A9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6B68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CONFIDENTIAL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320040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773A9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Where enrolment breaks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457200" y="109728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6B68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Two structural problems, and a leaky funnel from demand to enrolment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16916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773A9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Structural problems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57200" y="2057400"/>
            <a:ext cx="548640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Participation criteria are misaligned with reality — needles in haystacks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Patients are drawn from limited, discrete pools (individual sites)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common infrastructure for recruitment beyond individual sites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4160520"/>
            <a:ext cx="5486400" cy="1645920"/>
          </a:xfrm>
          <a:prstGeom prst="rect">
            <a:avLst/>
          </a:prstGeom>
          <a:solidFill>
            <a:srgbClr val="FCF4FB"/>
          </a:solidFill>
          <a:ln w="25400">
            <a:solidFill>
              <a:srgbClr val="773A9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4160520"/>
            <a:ext cx="73152" cy="1645920"/>
          </a:xfrm>
          <a:prstGeom prst="rect">
            <a:avLst/>
          </a:prstGeom>
          <a:solidFill>
            <a:srgbClr val="773A96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4343400"/>
            <a:ext cx="5029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773A9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“You won’t solve enrolment by searching harder inside a few sites. You have to widen the entire catchment.”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309360" y="16916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773A9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leaky funnel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309360" y="2148840"/>
            <a:ext cx="5486400" cy="777240"/>
          </a:xfrm>
          <a:prstGeom prst="rect">
            <a:avLst/>
          </a:prstGeom>
          <a:solidFill>
            <a:srgbClr val="FCF4FB"/>
          </a:solidFill>
          <a:ln w="12700">
            <a:solidFill>
              <a:srgbClr val="E6E0E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309360" y="2148840"/>
            <a:ext cx="73152" cy="777240"/>
          </a:xfrm>
          <a:prstGeom prst="rect">
            <a:avLst/>
          </a:prstGeom>
          <a:solidFill>
            <a:srgbClr val="C22299"/>
          </a:solidFill>
          <a:ln/>
        </p:spPr>
      </p:sp>
      <p:sp>
        <p:nvSpPr>
          <p:cNvPr id="14" name="Text 12"/>
          <p:cNvSpPr/>
          <p:nvPr/>
        </p:nvSpPr>
        <p:spPr>
          <a:xfrm>
            <a:off x="6492240" y="2221992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773A9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AWARENESS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412480" y="2221992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Most patients and physicians never know relevant trials exist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309360" y="3063240"/>
            <a:ext cx="5486400" cy="777240"/>
          </a:xfrm>
          <a:prstGeom prst="rect">
            <a:avLst/>
          </a:prstGeom>
          <a:solidFill>
            <a:srgbClr val="FCF4FB"/>
          </a:solidFill>
          <a:ln w="12700">
            <a:solidFill>
              <a:srgbClr val="E6E0E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309360" y="3063240"/>
            <a:ext cx="73152" cy="777240"/>
          </a:xfrm>
          <a:prstGeom prst="rect">
            <a:avLst/>
          </a:prstGeom>
          <a:solidFill>
            <a:srgbClr val="C22299"/>
          </a:solidFill>
          <a:ln/>
        </p:spPr>
      </p:sp>
      <p:sp>
        <p:nvSpPr>
          <p:cNvPr id="18" name="Text 16"/>
          <p:cNvSpPr/>
          <p:nvPr/>
        </p:nvSpPr>
        <p:spPr>
          <a:xfrm>
            <a:off x="6492240" y="3136392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773A9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UNDERSTANDING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412480" y="3136392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Registry language is complex and inaccessible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309360" y="3977640"/>
            <a:ext cx="5486400" cy="777240"/>
          </a:xfrm>
          <a:prstGeom prst="rect">
            <a:avLst/>
          </a:prstGeom>
          <a:solidFill>
            <a:srgbClr val="FCF4FB"/>
          </a:solidFill>
          <a:ln w="12700">
            <a:solidFill>
              <a:srgbClr val="E6E0E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309360" y="3977640"/>
            <a:ext cx="73152" cy="777240"/>
          </a:xfrm>
          <a:prstGeom prst="rect">
            <a:avLst/>
          </a:prstGeom>
          <a:solidFill>
            <a:srgbClr val="C22299"/>
          </a:solidFill>
          <a:ln/>
        </p:spPr>
      </p:sp>
      <p:sp>
        <p:nvSpPr>
          <p:cNvPr id="22" name="Text 20"/>
          <p:cNvSpPr/>
          <p:nvPr/>
        </p:nvSpPr>
        <p:spPr>
          <a:xfrm>
            <a:off x="6492240" y="4050792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773A9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CONNECTION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412480" y="4050792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Even motivated patients cannot reach the right site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309360" y="4892040"/>
            <a:ext cx="5486400" cy="777240"/>
          </a:xfrm>
          <a:prstGeom prst="rect">
            <a:avLst/>
          </a:prstGeom>
          <a:solidFill>
            <a:srgbClr val="FCF4FB"/>
          </a:solidFill>
          <a:ln w="12700">
            <a:solidFill>
              <a:srgbClr val="E6E0E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309360" y="4892040"/>
            <a:ext cx="73152" cy="777240"/>
          </a:xfrm>
          <a:prstGeom prst="rect">
            <a:avLst/>
          </a:prstGeom>
          <a:solidFill>
            <a:srgbClr val="C22299"/>
          </a:solidFill>
          <a:ln/>
        </p:spPr>
      </p:sp>
      <p:sp>
        <p:nvSpPr>
          <p:cNvPr id="26" name="Text 24"/>
          <p:cNvSpPr/>
          <p:nvPr/>
        </p:nvSpPr>
        <p:spPr>
          <a:xfrm>
            <a:off x="6492240" y="4965192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773A9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FOLLOW-THROUGH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8412480" y="4965192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Leads are delayed, lost, or never contacted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57200" y="612648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68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Sources: Rogers JAMA Netw Open 2021; You BMJ Open 2022; Unger JNCI; Madurasinghe BMC Med 2023; Wong JCO Oncol Pract 2020.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365760" y="653796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ADB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CONFIDENTIAL  ·  TrialScreen  ·  Board Edition, April 2026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1247120" y="653796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0ADB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 / 24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773A96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109728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6B68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CONFIDENTIAL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320040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773A9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The industry's structural failure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457200" y="109728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6B68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Recruitment beyond individual sites is common, but everything is single-campaign. Nothing compounds.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7200" y="1737360"/>
            <a:ext cx="5486400" cy="4206240"/>
          </a:xfrm>
          <a:prstGeom prst="rect">
            <a:avLst/>
          </a:prstGeom>
          <a:solidFill>
            <a:srgbClr val="FCF4FB"/>
          </a:solidFill>
          <a:ln w="12700">
            <a:solidFill>
              <a:srgbClr val="E6E0EE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192024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6B68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STATUS QUO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31520" y="2331720"/>
            <a:ext cx="493776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One trial at a time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One vendor at a time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One region at a time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Every campaign spend is ephemeral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b="1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Nothing compounds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309360" y="1737360"/>
            <a:ext cx="5486400" cy="4206240"/>
          </a:xfrm>
          <a:prstGeom prst="rect">
            <a:avLst/>
          </a:prstGeom>
          <a:solidFill>
            <a:srgbClr val="773A96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583680" y="192024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B0ADB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IS MISSING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583680" y="2331720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permanent, common infrastructure for patient flow.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6583680" y="3246120"/>
            <a:ext cx="493776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Continuous registry ingestion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Multiple discovery surfaces, one lead engine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Automated lead capture and routing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Real-time, compliant delivery to sites and sponsors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i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Every trial makes the next one easier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65760" y="653796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ADB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CONFIDENTIAL  ·  TrialScreen  ·  Board Edition, April 2026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1247120" y="653796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0ADB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 / 24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2229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6B68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CONFIDENTIAL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320040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773A9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TrialScreen — the infrastructure layer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457200" y="109728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6B68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 advertising. Not an agency. Infrastructure.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7200" y="1691640"/>
            <a:ext cx="11247120" cy="914400"/>
          </a:xfrm>
          <a:prstGeom prst="rect">
            <a:avLst/>
          </a:prstGeom>
          <a:solidFill>
            <a:srgbClr val="773A96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78308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Every single actively recruiting clinical trial in the world. One common layer.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457200" y="2834640"/>
            <a:ext cx="2674620" cy="3108960"/>
          </a:xfrm>
          <a:prstGeom prst="rect">
            <a:avLst/>
          </a:prstGeom>
          <a:solidFill>
            <a:srgbClr val="FCF4FB"/>
          </a:solidFill>
          <a:ln w="12700">
            <a:solidFill>
              <a:srgbClr val="E6E0E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2834640"/>
            <a:ext cx="2674620" cy="73152"/>
          </a:xfrm>
          <a:prstGeom prst="rect">
            <a:avLst/>
          </a:prstGeom>
          <a:solidFill>
            <a:srgbClr val="C22299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3063240"/>
            <a:ext cx="21259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222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731520" y="3657600"/>
            <a:ext cx="21259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73A9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Registry ingestion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31520" y="4160520"/>
            <a:ext cx="21259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ClinicalTrials.gov, EU CTR, ISRCTN (UK), ANZ, Chinese registry — AI-processed, multilingual, multi-voice.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314700" y="2834640"/>
            <a:ext cx="2674620" cy="3108960"/>
          </a:xfrm>
          <a:prstGeom prst="rect">
            <a:avLst/>
          </a:prstGeom>
          <a:solidFill>
            <a:srgbClr val="FCF4FB"/>
          </a:solidFill>
          <a:ln w="12700">
            <a:solidFill>
              <a:srgbClr val="E6E0E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314700" y="2834640"/>
            <a:ext cx="2674620" cy="73152"/>
          </a:xfrm>
          <a:prstGeom prst="rect">
            <a:avLst/>
          </a:prstGeom>
          <a:solidFill>
            <a:srgbClr val="C22299"/>
          </a:solidFill>
          <a:ln/>
        </p:spPr>
      </p:sp>
      <p:sp>
        <p:nvSpPr>
          <p:cNvPr id="15" name="Text 13"/>
          <p:cNvSpPr/>
          <p:nvPr/>
        </p:nvSpPr>
        <p:spPr>
          <a:xfrm>
            <a:off x="3589020" y="3063240"/>
            <a:ext cx="21259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222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3589020" y="3657600"/>
            <a:ext cx="21259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73A9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Discovery surfaces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3589020" y="4160520"/>
            <a:ext cx="21259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TrialScreen.org, MedicalHeroes, Institutions, Advocacy, SubGroup — one engine behind each.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172200" y="2834640"/>
            <a:ext cx="2674620" cy="3108960"/>
          </a:xfrm>
          <a:prstGeom prst="rect">
            <a:avLst/>
          </a:prstGeom>
          <a:solidFill>
            <a:srgbClr val="FCF4FB"/>
          </a:solidFill>
          <a:ln w="12700">
            <a:solidFill>
              <a:srgbClr val="E6E0E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172200" y="2834640"/>
            <a:ext cx="2674620" cy="73152"/>
          </a:xfrm>
          <a:prstGeom prst="rect">
            <a:avLst/>
          </a:prstGeom>
          <a:solidFill>
            <a:srgbClr val="C22299"/>
          </a:solidFill>
          <a:ln/>
        </p:spPr>
      </p:sp>
      <p:sp>
        <p:nvSpPr>
          <p:cNvPr id="20" name="Text 18"/>
          <p:cNvSpPr/>
          <p:nvPr/>
        </p:nvSpPr>
        <p:spPr>
          <a:xfrm>
            <a:off x="6446520" y="3063240"/>
            <a:ext cx="21259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222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6446520" y="3657600"/>
            <a:ext cx="21259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73A9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Capture &amp; routing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446520" y="4160520"/>
            <a:ext cx="21259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Automated lead capture, business rules, secure real-time delivery to sites, sponsors, and CROs.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9029700" y="2834640"/>
            <a:ext cx="2674620" cy="3108960"/>
          </a:xfrm>
          <a:prstGeom prst="rect">
            <a:avLst/>
          </a:prstGeom>
          <a:solidFill>
            <a:srgbClr val="FCF4FB"/>
          </a:solidFill>
          <a:ln w="12700">
            <a:solidFill>
              <a:srgbClr val="E6E0EE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029700" y="2834640"/>
            <a:ext cx="2674620" cy="73152"/>
          </a:xfrm>
          <a:prstGeom prst="rect">
            <a:avLst/>
          </a:prstGeom>
          <a:solidFill>
            <a:srgbClr val="C22299"/>
          </a:solidFill>
          <a:ln/>
        </p:spPr>
      </p:sp>
      <p:sp>
        <p:nvSpPr>
          <p:cNvPr id="25" name="Text 23"/>
          <p:cNvSpPr/>
          <p:nvPr/>
        </p:nvSpPr>
        <p:spPr>
          <a:xfrm>
            <a:off x="9304020" y="3063240"/>
            <a:ext cx="21259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222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</a:t>
            </a:r>
            <a:endParaRPr lang="en-US" sz="2800" dirty="0"/>
          </a:p>
        </p:txBody>
      </p:sp>
      <p:sp>
        <p:nvSpPr>
          <p:cNvPr id="26" name="Text 24"/>
          <p:cNvSpPr/>
          <p:nvPr/>
        </p:nvSpPr>
        <p:spPr>
          <a:xfrm>
            <a:off x="9304020" y="3657600"/>
            <a:ext cx="21259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73A9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Analytics &amp; invoicing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9304020" y="4160520"/>
            <a:ext cx="21259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Reporting, invoicing, and upsell opportunities built into the platform.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365760" y="653796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ADB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CONFIDENTIAL  ·  TrialScreen  ·  Board Edition, April 2026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247120" y="653796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0ADB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 / 24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773A96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109728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6B68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CONFIDENTIAL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320040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773A9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How it works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457200" y="109728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6B68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Registry → surfaces → rules → routing → delivery → analytics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7200" y="2194560"/>
            <a:ext cx="2139696" cy="2011680"/>
          </a:xfrm>
          <a:prstGeom prst="rect">
            <a:avLst/>
          </a:prstGeom>
          <a:solidFill>
            <a:srgbClr val="773A96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40080" y="2331720"/>
            <a:ext cx="17739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9BA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2697480"/>
            <a:ext cx="177393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Captures interest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3429000"/>
            <a:ext cx="177393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9BA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Multiple discovery surfaces: web, advocacy, institutions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 rot="5400000">
            <a:off x="2560320" y="3136392"/>
            <a:ext cx="182880" cy="128016"/>
          </a:xfrm>
          <a:prstGeom prst="rtTriangle">
            <a:avLst/>
          </a:prstGeom>
          <a:solidFill>
            <a:srgbClr val="C22299"/>
          </a:solidFill>
          <a:ln/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2734056" y="2194560"/>
            <a:ext cx="2139696" cy="2011680"/>
          </a:xfrm>
          <a:prstGeom prst="rect">
            <a:avLst/>
          </a:prstGeom>
          <a:solidFill>
            <a:srgbClr val="773A96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2916936" y="2331720"/>
            <a:ext cx="17739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9BA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916936" y="2697480"/>
            <a:ext cx="177393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Business rules &amp; routing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916936" y="3429000"/>
            <a:ext cx="177393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9BA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Sponsor, site and eligibility logic — automated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 rot="5400000">
            <a:off x="4837176" y="3136392"/>
            <a:ext cx="182880" cy="128016"/>
          </a:xfrm>
          <a:prstGeom prst="rtTriangle">
            <a:avLst/>
          </a:prstGeom>
          <a:solidFill>
            <a:srgbClr val="C22299"/>
          </a:solidFill>
          <a:ln/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5010912" y="2194560"/>
            <a:ext cx="2139696" cy="2011680"/>
          </a:xfrm>
          <a:prstGeom prst="rect">
            <a:avLst/>
          </a:prstGeom>
          <a:solidFill>
            <a:srgbClr val="773A96"/>
          </a:solidFill>
          <a:ln/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5193792" y="2331720"/>
            <a:ext cx="17739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9BA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193792" y="2697480"/>
            <a:ext cx="177393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Lead delivery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193792" y="3429000"/>
            <a:ext cx="177393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9BA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Secure Email · TS.app · CTMS · API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 rot="5400000">
            <a:off x="7114032" y="3136392"/>
            <a:ext cx="182880" cy="128016"/>
          </a:xfrm>
          <a:prstGeom prst="rtTriangle">
            <a:avLst/>
          </a:prstGeom>
          <a:solidFill>
            <a:srgbClr val="C22299"/>
          </a:solidFill>
          <a:ln/>
        </p:spPr>
        <p:txBody>
          <a:bodyPr/>
          <a:p/>
        </p:txBody>
      </p:sp>
      <p:sp>
        <p:nvSpPr>
          <p:cNvPr id="21" name="Shape 19"/>
          <p:cNvSpPr/>
          <p:nvPr/>
        </p:nvSpPr>
        <p:spPr>
          <a:xfrm>
            <a:off x="7287768" y="2194560"/>
            <a:ext cx="2139696" cy="2011680"/>
          </a:xfrm>
          <a:prstGeom prst="rect">
            <a:avLst/>
          </a:prstGeom>
          <a:solidFill>
            <a:srgbClr val="773A96"/>
          </a:solidFill>
          <a:ln/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7470648" y="2331720"/>
            <a:ext cx="17739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9BA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7470648" y="2697480"/>
            <a:ext cx="177393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Analytics, reports &amp; invoicing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7470648" y="3429000"/>
            <a:ext cx="177393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9BA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Automated, real-time, compliant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 rot="5400000">
            <a:off x="9390888" y="3136392"/>
            <a:ext cx="182880" cy="128016"/>
          </a:xfrm>
          <a:prstGeom prst="rtTriangle">
            <a:avLst/>
          </a:prstGeom>
          <a:solidFill>
            <a:srgbClr val="C22299"/>
          </a:solidFill>
          <a:ln/>
        </p:spPr>
        <p:txBody>
          <a:bodyPr/>
          <a:p/>
        </p:txBody>
      </p:sp>
      <p:sp>
        <p:nvSpPr>
          <p:cNvPr id="26" name="Shape 24"/>
          <p:cNvSpPr/>
          <p:nvPr/>
        </p:nvSpPr>
        <p:spPr>
          <a:xfrm>
            <a:off x="9564624" y="2194560"/>
            <a:ext cx="2139696" cy="2011680"/>
          </a:xfrm>
          <a:prstGeom prst="rect">
            <a:avLst/>
          </a:prstGeom>
          <a:solidFill>
            <a:srgbClr val="773A96"/>
          </a:solidFill>
          <a:ln/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9747504" y="2331720"/>
            <a:ext cx="17739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9BA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05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9747504" y="2697480"/>
            <a:ext cx="177393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Upsell opportunities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9747504" y="3429000"/>
            <a:ext cx="177393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9BA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Pre-screening · demand creation · premium products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57200" y="4572000"/>
            <a:ext cx="5394960" cy="1325880"/>
          </a:xfrm>
          <a:prstGeom prst="rect">
            <a:avLst/>
          </a:prstGeom>
          <a:solidFill>
            <a:srgbClr val="FCF4FB"/>
          </a:solidFill>
          <a:ln w="12700">
            <a:solidFill>
              <a:srgbClr val="E6E0EE"/>
            </a:solidFill>
            <a:prstDash val="solid"/>
          </a:ln>
        </p:spPr>
        <p:txBody>
          <a:bodyPr/>
          <a:p/>
        </p:txBody>
      </p:sp>
      <p:sp>
        <p:nvSpPr>
          <p:cNvPr id="31" name="Shape 29"/>
          <p:cNvSpPr/>
          <p:nvPr/>
        </p:nvSpPr>
        <p:spPr>
          <a:xfrm>
            <a:off x="457200" y="4572000"/>
            <a:ext cx="73152" cy="1325880"/>
          </a:xfrm>
          <a:prstGeom prst="rect">
            <a:avLst/>
          </a:prstGeom>
          <a:solidFill>
            <a:srgbClr val="C22299"/>
          </a:solidFill>
          <a:ln/>
        </p:spPr>
        <p:txBody>
          <a:bodyPr/>
          <a:p/>
        </p:txBody>
      </p:sp>
      <p:sp>
        <p:nvSpPr>
          <p:cNvPr id="32" name="Text 30"/>
          <p:cNvSpPr/>
          <p:nvPr/>
        </p:nvSpPr>
        <p:spPr>
          <a:xfrm>
            <a:off x="731520" y="466344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C222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PAID LAYER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731520" y="489204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73A9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Pre-Screening add-ons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731520" y="5349240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Sponsors pay premium for richer screening, priority routing, custom configuration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6309360" y="4572000"/>
            <a:ext cx="5394960" cy="1325880"/>
          </a:xfrm>
          <a:prstGeom prst="rect">
            <a:avLst/>
          </a:prstGeom>
          <a:solidFill>
            <a:srgbClr val="FCF4FB"/>
          </a:solidFill>
          <a:ln w="12700">
            <a:solidFill>
              <a:srgbClr val="E6E0EE"/>
            </a:solidFill>
            <a:prstDash val="solid"/>
          </a:ln>
        </p:spPr>
        <p:txBody>
          <a:bodyPr/>
          <a:p/>
        </p:txBody>
      </p:sp>
      <p:sp>
        <p:nvSpPr>
          <p:cNvPr id="36" name="Shape 34"/>
          <p:cNvSpPr/>
          <p:nvPr/>
        </p:nvSpPr>
        <p:spPr>
          <a:xfrm>
            <a:off x="6309360" y="4572000"/>
            <a:ext cx="73152" cy="1325880"/>
          </a:xfrm>
          <a:prstGeom prst="rect">
            <a:avLst/>
          </a:prstGeom>
          <a:solidFill>
            <a:srgbClr val="C22299"/>
          </a:solidFill>
          <a:ln/>
        </p:spPr>
        <p:txBody>
          <a:bodyPr/>
          <a:p/>
        </p:txBody>
      </p:sp>
      <p:sp>
        <p:nvSpPr>
          <p:cNvPr id="37" name="Text 35"/>
          <p:cNvSpPr/>
          <p:nvPr/>
        </p:nvSpPr>
        <p:spPr>
          <a:xfrm>
            <a:off x="6583680" y="466344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C222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PAID LAYER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6583680" y="489204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73A9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Demand creation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6583680" y="5349240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Custom TrialFinders, Patient Community Management, targeted outreach campaigns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365760" y="653796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ADB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CONFIDENTIAL  ·  TrialScreen  ·  Board Edition, April 2026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11247120" y="653796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0ADB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 / 24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2229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6B68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CONFIDENTIAL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320040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773A9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Real-world impact — operating today, at scale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457200" y="109728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6B68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Product-market fit established. Now scaling the layer.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7200" y="1691640"/>
            <a:ext cx="11247120" cy="822960"/>
          </a:xfrm>
          <a:prstGeom prst="rect">
            <a:avLst/>
          </a:prstGeom>
          <a:solidFill>
            <a:srgbClr val="FCF4FB"/>
          </a:solidFill>
          <a:ln w="12700">
            <a:solidFill>
              <a:srgbClr val="E6E0E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691640"/>
            <a:ext cx="3200400" cy="822960"/>
          </a:xfrm>
          <a:prstGeom prst="rect">
            <a:avLst/>
          </a:prstGeom>
          <a:solidFill>
            <a:srgbClr val="954CF6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78308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80–100k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3977640" y="1783080"/>
            <a:ext cx="7543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73A9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Unique monthly searches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57200" y="2587752"/>
            <a:ext cx="11247120" cy="822960"/>
          </a:xfrm>
          <a:prstGeom prst="rect">
            <a:avLst/>
          </a:prstGeom>
          <a:solidFill>
            <a:srgbClr val="FCF4FB"/>
          </a:solidFill>
          <a:ln w="12700">
            <a:solidFill>
              <a:srgbClr val="E6E0E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2587752"/>
            <a:ext cx="2971800" cy="822960"/>
          </a:xfrm>
          <a:prstGeom prst="rect">
            <a:avLst/>
          </a:prstGeom>
          <a:solidFill>
            <a:srgbClr val="954CF6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2679192"/>
            <a:ext cx="2697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~20k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3749040" y="2679192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73A9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Monthly eligibility assessments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57200" y="3483864"/>
            <a:ext cx="11247120" cy="822960"/>
          </a:xfrm>
          <a:prstGeom prst="rect">
            <a:avLst/>
          </a:prstGeom>
          <a:solidFill>
            <a:srgbClr val="FCF4FB"/>
          </a:solidFill>
          <a:ln w="12700">
            <a:solidFill>
              <a:srgbClr val="E6E0E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7200" y="3483864"/>
            <a:ext cx="2743200" cy="822960"/>
          </a:xfrm>
          <a:prstGeom prst="rect">
            <a:avLst/>
          </a:prstGeom>
          <a:solidFill>
            <a:srgbClr val="C22299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640080" y="3575304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&gt;1,500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3520440" y="3575304"/>
            <a:ext cx="8001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73A9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Monthly qualified leads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457200" y="4379976"/>
            <a:ext cx="11247120" cy="822960"/>
          </a:xfrm>
          <a:prstGeom prst="rect">
            <a:avLst/>
          </a:prstGeom>
          <a:solidFill>
            <a:srgbClr val="FCF4FB"/>
          </a:solidFill>
          <a:ln w="12700">
            <a:solidFill>
              <a:srgbClr val="E6E0E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7200" y="4379976"/>
            <a:ext cx="2514600" cy="822960"/>
          </a:xfrm>
          <a:prstGeom prst="rect">
            <a:avLst/>
          </a:prstGeom>
          <a:solidFill>
            <a:srgbClr val="C22299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4471416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~20 / day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3291840" y="4471416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73A9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Paid leads delivered to sites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457200" y="5486400"/>
            <a:ext cx="11247120" cy="777240"/>
          </a:xfrm>
          <a:prstGeom prst="rect">
            <a:avLst/>
          </a:prstGeom>
          <a:solidFill>
            <a:srgbClr val="773A96"/>
          </a:solidFill>
          <a:ln/>
        </p:spPr>
      </p:sp>
      <p:sp>
        <p:nvSpPr>
          <p:cNvPr id="23" name="Text 21"/>
          <p:cNvSpPr/>
          <p:nvPr/>
        </p:nvSpPr>
        <p:spPr>
          <a:xfrm>
            <a:off x="640080" y="553212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9BA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LIVE TODAY  · 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Leads engaged by sites within 24 hours  ·  Revenue-generating partnerships across sponsors, CROs and sites  ·  SCOPE 2026 Site Innovation Award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65760" y="653796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ADB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CONFIDENTIAL  ·  TrialScreen  ·  Board Edition, April 2026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247120" y="653796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0ADB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 / 24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640080"/>
          </a:xfrm>
          <a:prstGeom prst="rect">
            <a:avLst/>
          </a:prstGeom>
          <a:solidFill>
            <a:srgbClr val="773A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0058400" cy="457200"/>
          </a:xfrm>
          <a:prstGeom prst="rect">
            <a:avLst/>
          </a:prstGeom>
          <a:noFill/>
        </p:spPr>
        <p:txBody>
          <a:bodyPr wrap="none" tIns="0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Calibri"/>
              </a:rPr>
              <a:t>Unit economics — the math behind $138 per paid lead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201168"/>
            <a:ext cx="1463040" cy="274320"/>
          </a:xfrm>
          <a:prstGeom prst="rect">
            <a:avLst/>
          </a:prstGeom>
          <a:noFill/>
        </p:spPr>
        <p:txBody>
          <a:bodyPr wrap="none" tIns="0">
            <a:spAutoFit/>
          </a:bodyPr>
          <a:lstStyle/>
          <a:p>
            <a:pPr algn="ctr"/>
            <a:r>
              <a:rPr sz="900">
                <a:solidFill>
                  <a:srgbClr val="E6E0EE"/>
                </a:solidFill>
                <a:latin typeface="Calibri"/>
              </a:rPr>
              <a:t>CONFIDENTIAL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868680"/>
            <a:ext cx="11430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i="1">
                <a:solidFill>
                  <a:srgbClr val="6B6880"/>
                </a:solidFill>
                <a:latin typeface="Calibri"/>
              </a:rPr>
              <a:t>Infrastructure economics, not services economics. The numbers sponsors will underwrite.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554480"/>
            <a:ext cx="11430000" cy="731520"/>
          </a:xfrm>
          <a:prstGeom prst="rect">
            <a:avLst/>
          </a:prstGeom>
          <a:noFill/>
        </p:spPr>
        <p:txBody>
          <a:bodyPr wrap="none" lIns="182880">
            <a:spAutoFit/>
          </a:bodyPr>
          <a:lstStyle/>
          <a:p>
            <a:r>
              <a:rPr sz="1300">
                <a:solidFill>
                  <a:srgbClr val="1A1A2E"/>
                </a:solidFill>
                <a:latin typeface="Calibri"/>
              </a:rPr>
              <a:t>~20 paid leads/day  ×  ~30 days  =  ~600 paid leads/month  →  ~$1M ARR  /  ~$83K MRR  /  ~600 leads  =  </a:t>
            </a:r>
            <a:r>
              <a:rPr sz="1300" b="1">
                <a:solidFill>
                  <a:srgbClr val="C22299"/>
                </a:solidFill>
                <a:latin typeface="Calibri"/>
              </a:rPr>
              <a:t>~$138 per paid lead (blended)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65760" y="2468880"/>
          <a:ext cx="114300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57500"/>
                <a:gridCol w="2857500"/>
                <a:gridCol w="2857500"/>
                <a:gridCol w="2857500"/>
              </a:tblGrid>
              <a:tr h="457200">
                <a:tc>
                  <a:txBody>
                    <a:bodyPr lIns="137160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Metric</a:t>
                      </a:r>
                    </a:p>
                  </a:txBody>
                  <a:tcPr>
                    <a:solidFill>
                      <a:srgbClr val="773A96"/>
                    </a:solidFill>
                  </a:tcPr>
                </a:tc>
                <a:tc>
                  <a:txBody>
                    <a:bodyPr lIns="137160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Today</a:t>
                      </a:r>
                    </a:p>
                  </a:txBody>
                  <a:tcPr>
                    <a:solidFill>
                      <a:srgbClr val="773A96"/>
                    </a:solidFill>
                  </a:tcPr>
                </a:tc>
                <a:tc>
                  <a:txBody>
                    <a:bodyPr lIns="137160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End-2027 target</a:t>
                      </a:r>
                    </a:p>
                  </a:txBody>
                  <a:tcPr>
                    <a:solidFill>
                      <a:srgbClr val="773A96"/>
                    </a:solidFill>
                  </a:tcPr>
                </a:tc>
                <a:tc>
                  <a:txBody>
                    <a:bodyPr lIns="137160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Series B threshold</a:t>
                      </a:r>
                    </a:p>
                  </a:txBody>
                  <a:tcPr>
                    <a:solidFill>
                      <a:srgbClr val="773A96"/>
                    </a:solidFill>
                  </a:tcPr>
                </a:tc>
              </a:tr>
              <a:tr h="457200">
                <a:tc>
                  <a:txBody>
                    <a:bodyPr lIns="137160"/>
                    <a:lstStyle/>
                    <a:p>
                      <a:r>
                        <a:rPr sz="1000" b="1">
                          <a:solidFill>
                            <a:srgbClr val="773A96"/>
                          </a:solidFill>
                          <a:latin typeface="Calibri"/>
                        </a:rPr>
                        <a:t>Paid lead volume</a:t>
                      </a:r>
                    </a:p>
                  </a:txBody>
                  <a:tcPr>
                    <a:solidFill>
                      <a:srgbClr val="FCF4FB"/>
                    </a:solidFill>
                  </a:tcPr>
                </a:tc>
                <a:tc>
                  <a:txBody>
                    <a:bodyPr lIns="137160"/>
                    <a:lstStyle/>
                    <a:p>
                      <a:r>
                        <a:rPr sz="1000">
                          <a:solidFill>
                            <a:srgbClr val="1A1A2E"/>
                          </a:solidFill>
                          <a:latin typeface="Calibri"/>
                        </a:rPr>
                        <a:t>~600/month</a:t>
                      </a:r>
                    </a:p>
                  </a:txBody>
                  <a:tcPr>
                    <a:solidFill>
                      <a:srgbClr val="FCF4FB"/>
                    </a:solidFill>
                  </a:tcPr>
                </a:tc>
                <a:tc>
                  <a:txBody>
                    <a:bodyPr lIns="137160"/>
                    <a:lstStyle/>
                    <a:p>
                      <a:r>
                        <a:rPr sz="1000">
                          <a:solidFill>
                            <a:srgbClr val="1A1A2E"/>
                          </a:solidFill>
                          <a:latin typeface="Calibri"/>
                        </a:rPr>
                        <a:t>2,000–2,500/month</a:t>
                      </a:r>
                    </a:p>
                  </a:txBody>
                  <a:tcPr>
                    <a:solidFill>
                      <a:srgbClr val="FCF4FB"/>
                    </a:solidFill>
                  </a:tcPr>
                </a:tc>
                <a:tc>
                  <a:txBody>
                    <a:bodyPr lIns="137160"/>
                    <a:lstStyle/>
                    <a:p>
                      <a:r>
                        <a:rPr sz="1000">
                          <a:solidFill>
                            <a:srgbClr val="1A1A2E"/>
                          </a:solidFill>
                          <a:latin typeface="Calibri"/>
                        </a:rPr>
                        <a:t>2,400+/month</a:t>
                      </a:r>
                    </a:p>
                  </a:txBody>
                  <a:tcPr>
                    <a:solidFill>
                      <a:srgbClr val="FCF4FB"/>
                    </a:solidFill>
                  </a:tcPr>
                </a:tc>
              </a:tr>
              <a:tr h="457200">
                <a:tc>
                  <a:txBody>
                    <a:bodyPr lIns="137160"/>
                    <a:lstStyle/>
                    <a:p>
                      <a:r>
                        <a:rPr sz="1000" b="1">
                          <a:solidFill>
                            <a:srgbClr val="773A96"/>
                          </a:solidFill>
                          <a:latin typeface="Calibri"/>
                        </a:rPr>
                        <a:t>Blended price / lead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37160"/>
                    <a:lstStyle/>
                    <a:p>
                      <a:r>
                        <a:rPr sz="1000">
                          <a:solidFill>
                            <a:srgbClr val="1A1A2E"/>
                          </a:solidFill>
                          <a:latin typeface="Calibri"/>
                        </a:rPr>
                        <a:t>~$138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37160"/>
                    <a:lstStyle/>
                    <a:p>
                      <a:r>
                        <a:rPr sz="1000">
                          <a:solidFill>
                            <a:srgbClr val="1A1A2E"/>
                          </a:solidFill>
                          <a:latin typeface="Calibri"/>
                        </a:rPr>
                        <a:t>~$138 + SaaS fees on top 10 sponsors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37160"/>
                    <a:lstStyle/>
                    <a:p>
                      <a:r>
                        <a:rPr sz="1000">
                          <a:solidFill>
                            <a:srgbClr val="1A1A2E"/>
                          </a:solidFill>
                          <a:latin typeface="Calibri"/>
                        </a:rPr>
                        <a:t>≥$150 blended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lIns="137160"/>
                    <a:lstStyle/>
                    <a:p>
                      <a:r>
                        <a:rPr sz="1000" b="1">
                          <a:solidFill>
                            <a:srgbClr val="773A96"/>
                          </a:solidFill>
                          <a:latin typeface="Calibri"/>
                        </a:rPr>
                        <a:t>Implied gross margin</a:t>
                      </a:r>
                    </a:p>
                  </a:txBody>
                  <a:tcPr>
                    <a:solidFill>
                      <a:srgbClr val="FCF4FB"/>
                    </a:solidFill>
                  </a:tcPr>
                </a:tc>
                <a:tc>
                  <a:txBody>
                    <a:bodyPr lIns="137160"/>
                    <a:lstStyle/>
                    <a:p>
                      <a:r>
                        <a:rPr sz="1000">
                          <a:solidFill>
                            <a:srgbClr val="1A1A2E"/>
                          </a:solidFill>
                          <a:latin typeface="Calibri"/>
                        </a:rPr>
                        <a:t>Targeting 70%+ at organic-dominant CAC</a:t>
                      </a:r>
                    </a:p>
                  </a:txBody>
                  <a:tcPr>
                    <a:solidFill>
                      <a:srgbClr val="FCF4FB"/>
                    </a:solidFill>
                  </a:tcPr>
                </a:tc>
                <a:tc>
                  <a:txBody>
                    <a:bodyPr lIns="137160"/>
                    <a:lstStyle/>
                    <a:p>
                      <a:r>
                        <a:rPr sz="1000">
                          <a:solidFill>
                            <a:srgbClr val="1A1A2E"/>
                          </a:solidFill>
                          <a:latin typeface="Calibri"/>
                        </a:rPr>
                        <a:t>70%+ (infrastructure)</a:t>
                      </a:r>
                    </a:p>
                  </a:txBody>
                  <a:tcPr>
                    <a:solidFill>
                      <a:srgbClr val="FCF4FB"/>
                    </a:solidFill>
                  </a:tcPr>
                </a:tc>
                <a:tc>
                  <a:txBody>
                    <a:bodyPr lIns="137160"/>
                    <a:lstStyle/>
                    <a:p>
                      <a:r>
                        <a:rPr sz="1000">
                          <a:solidFill>
                            <a:srgbClr val="1A1A2E"/>
                          </a:solidFill>
                          <a:latin typeface="Calibri"/>
                        </a:rPr>
                        <a:t>≥70%</a:t>
                      </a:r>
                    </a:p>
                  </a:txBody>
                  <a:tcPr>
                    <a:solidFill>
                      <a:srgbClr val="FCF4FB"/>
                    </a:solidFill>
                  </a:tcPr>
                </a:tc>
              </a:tr>
              <a:tr h="457200">
                <a:tc>
                  <a:txBody>
                    <a:bodyPr lIns="137160"/>
                    <a:lstStyle/>
                    <a:p>
                      <a:r>
                        <a:rPr sz="1000" b="1">
                          <a:solidFill>
                            <a:srgbClr val="773A96"/>
                          </a:solidFill>
                          <a:latin typeface="Calibri"/>
                        </a:rPr>
                        <a:t>CAC per paid lead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37160"/>
                    <a:lstStyle/>
                    <a:p>
                      <a:r>
                        <a:rPr sz="1000">
                          <a:solidFill>
                            <a:srgbClr val="1A1A2E"/>
                          </a:solidFill>
                          <a:latin typeface="Calibri"/>
                        </a:rPr>
                        <a:t>[to be disclosed at close]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37160"/>
                    <a:lstStyle/>
                    <a:p>
                      <a:r>
                        <a:rPr sz="1000">
                          <a:solidFill>
                            <a:srgbClr val="1A1A2E"/>
                          </a:solidFill>
                          <a:latin typeface="Calibri"/>
                        </a:rPr>
                        <a:t>Organic-dominant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37160"/>
                    <a:lstStyle/>
                    <a:p>
                      <a:r>
                        <a:rPr sz="1000">
                          <a:solidFill>
                            <a:srgbClr val="1A1A2E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lIns="137160"/>
                    <a:lstStyle/>
                    <a:p>
                      <a:r>
                        <a:rPr sz="1000" b="1">
                          <a:solidFill>
                            <a:srgbClr val="773A96"/>
                          </a:solidFill>
                          <a:latin typeface="Calibri"/>
                        </a:rPr>
                        <a:t>NRR</a:t>
                      </a:r>
                    </a:p>
                  </a:txBody>
                  <a:tcPr>
                    <a:solidFill>
                      <a:srgbClr val="FCF4FB"/>
                    </a:solidFill>
                  </a:tcPr>
                </a:tc>
                <a:tc>
                  <a:txBody>
                    <a:bodyPr lIns="137160"/>
                    <a:lstStyle/>
                    <a:p>
                      <a:r>
                        <a:rPr sz="1000">
                          <a:solidFill>
                            <a:srgbClr val="1A1A2E"/>
                          </a:solidFill>
                          <a:latin typeface="Calibri"/>
                        </a:rPr>
                        <a:t>[to be measured Q2 2026]</a:t>
                      </a:r>
                    </a:p>
                  </a:txBody>
                  <a:tcPr>
                    <a:solidFill>
                      <a:srgbClr val="FCF4FB"/>
                    </a:solidFill>
                  </a:tcPr>
                </a:tc>
                <a:tc>
                  <a:txBody>
                    <a:bodyPr lIns="137160"/>
                    <a:lstStyle/>
                    <a:p>
                      <a:r>
                        <a:rPr sz="1000">
                          <a:solidFill>
                            <a:srgbClr val="1A1A2E"/>
                          </a:solidFill>
                          <a:latin typeface="Calibri"/>
                        </a:rPr>
                        <a:t>≥110%</a:t>
                      </a:r>
                    </a:p>
                  </a:txBody>
                  <a:tcPr>
                    <a:solidFill>
                      <a:srgbClr val="FCF4FB"/>
                    </a:solidFill>
                  </a:tcPr>
                </a:tc>
                <a:tc>
                  <a:txBody>
                    <a:bodyPr lIns="137160"/>
                    <a:lstStyle/>
                    <a:p>
                      <a:r>
                        <a:rPr sz="1000">
                          <a:solidFill>
                            <a:srgbClr val="1A1A2E"/>
                          </a:solidFill>
                          <a:latin typeface="Calibri"/>
                        </a:rPr>
                        <a:t>≥110%</a:t>
                      </a:r>
                    </a:p>
                  </a:txBody>
                  <a:tcPr>
                    <a:solidFill>
                      <a:srgbClr val="FCF4FB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365760" y="5669280"/>
            <a:ext cx="11430000" cy="594360"/>
          </a:xfrm>
          <a:prstGeom prst="rect">
            <a:avLst/>
          </a:prstGeom>
          <a:solidFill>
            <a:srgbClr val="773A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5742432"/>
            <a:ext cx="11155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>
                <a:solidFill>
                  <a:srgbClr val="FFFFFF"/>
                </a:solidFill>
                <a:latin typeface="Calibri"/>
              </a:rPr>
              <a:t>Expansion to $4M ARR at flat $138/lead = ~2,400 paid leads/month + SaaS platform fees on top 10 sponsors. </a:t>
            </a:r>
            <a:r>
              <a:rPr sz="1200" b="1">
                <a:solidFill>
                  <a:srgbClr val="F9BAE0"/>
                </a:solidFill>
                <a:latin typeface="Calibri"/>
              </a:rPr>
              <a:t>Path × 4, not × 20.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9224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B0ADBD"/>
                </a:solidFill>
                <a:latin typeface="Calibri"/>
              </a:rPr>
              <a:t>[SoT §2; Operator POV §3]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0" y="649224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>
                <a:solidFill>
                  <a:srgbClr val="B0ADBD"/>
                </a:solidFill>
                <a:latin typeface="Calibri"/>
              </a:rPr>
              <a:t>CONFIDENTIAL  ·  TrialScreen  ·  Board Edition, April 2026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0" y="649224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>
                <a:solidFill>
                  <a:srgbClr val="B0ADBD"/>
                </a:solidFill>
                <a:latin typeface="Calibri"/>
              </a:rPr>
              <a:t>Unit economics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773A96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109728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6B68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CONFIDENTIAL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320040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773A9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The community moat — Research Friends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457200" y="109728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6B68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Defensibility that Tempus, TriNetX and IQVIA cannot buy overnight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16916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6B68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PROGRAMME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05740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773A9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Scleroderma @ Research Friends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457200" y="2606040"/>
            <a:ext cx="5486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Co-branded condition community with Scleroderma Australia. A permanent home for patients, families and researchers to connect — not a campaign.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3794760"/>
            <a:ext cx="548640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Co-branded site and editorial programme with a named advocacy partner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Monthly virtual education sessions for patients and families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Two-way dialogue between patients and researchers — not a recruitment list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Trial opportunities surfaced to the community as and when they become relevant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Patient voice validated by the advocacy partner — never synthesised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309360" y="1691640"/>
            <a:ext cx="5486400" cy="4297680"/>
          </a:xfrm>
          <a:prstGeom prst="rect">
            <a:avLst/>
          </a:prstGeom>
          <a:solidFill>
            <a:srgbClr val="773A96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583680" y="187452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9BA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WHY THIS IS A MOAT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583680" y="2286000"/>
            <a:ext cx="4937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Community trust is years of slow work. It is the one asset the data-first consolidators cannot assemble with a cheque.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583680" y="3520440"/>
            <a:ext cx="493776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 platforms win on EHR scale. They do not own the patient-side trust relationship.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Site networks operate trials. They don’t build cross-trial communities.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Recruitment agencies run campaigns. Their communities end when the campaign ends.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TrialScreen targets 3–4 named Research Friends communities by end-2027. Three is the defensible replication threshold; ten is a distraction at this round size.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65760" y="653796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ADB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CONFIDENTIAL  ·  TrialScreen  ·  Board Edition, April 2026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247120" y="653796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0ADB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 / 24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773A96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109728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6B68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CONFIDENTIAL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320040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773A9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Why not Tempus, TriNetX, or IQVIA?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457200" y="109728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sz="1400" i="1">
                <a:solidFill>
                  <a:srgbClr val="6B6880"/>
                </a:solidFill>
                <a:latin typeface="Calibri"/>
              </a:rPr>
              <a:t>They are one roadmap cycle away — here is why that still does not close the gap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7200" y="1737360"/>
            <a:ext cx="3596640" cy="4206240"/>
          </a:xfrm>
          <a:prstGeom prst="rect">
            <a:avLst/>
          </a:prstGeom>
          <a:solidFill>
            <a:srgbClr val="FCF4FB"/>
          </a:solidFill>
          <a:ln w="12700">
            <a:solidFill>
              <a:srgbClr val="E6E0EE"/>
            </a:solidFill>
            <a:prstDash val="solid"/>
          </a:ln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457200" y="1737360"/>
            <a:ext cx="3596640" cy="73152"/>
          </a:xfrm>
          <a:prstGeom prst="rect">
            <a:avLst/>
          </a:prstGeom>
          <a:solidFill>
            <a:srgbClr val="6E7B8F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731520" y="2011680"/>
            <a:ext cx="3048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73A9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Upstream platforms (Tempus, TriNetX)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31520" y="3063240"/>
            <a:ext cx="30480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EHR-scale patient-data matching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Integrated sponsor/CRO stacks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Concentrated in oncology + common disease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 not run patient-facing discovery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282440" y="1737360"/>
            <a:ext cx="3596640" cy="4206240"/>
          </a:xfrm>
          <a:prstGeom prst="rect">
            <a:avLst/>
          </a:prstGeom>
          <a:solidFill>
            <a:srgbClr val="FCF4FB"/>
          </a:solidFill>
          <a:ln w="12700">
            <a:solidFill>
              <a:srgbClr val="E6E0EE"/>
            </a:solidFill>
            <a:prstDash val="solid"/>
          </a:ln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4282440" y="1737360"/>
            <a:ext cx="3596640" cy="73152"/>
          </a:xfrm>
          <a:prstGeom prst="rect">
            <a:avLst/>
          </a:prstGeom>
          <a:solidFill>
            <a:srgbClr val="6E7B8F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4556760" y="2011680"/>
            <a:ext cx="3048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73A9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Full-service CROs (IQVIA, Parexel, Fortrea)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556760" y="3063240"/>
            <a:ext cx="30480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Own trial operations end-to-end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Recruitment is one line item in a bigger contract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Bureaucratic; slow to innovate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Often mix sponsor-loyalty with CRO-neutrality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107680" y="1737360"/>
            <a:ext cx="3596640" cy="4206240"/>
          </a:xfrm>
          <a:prstGeom prst="rect">
            <a:avLst/>
          </a:prstGeom>
          <a:solidFill>
            <a:srgbClr val="773A96"/>
          </a:solidFill>
          <a:ln w="25400">
            <a:solidFill>
              <a:srgbClr val="773A96"/>
            </a:solidFill>
            <a:prstDash val="solid"/>
          </a:ln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8107680" y="1737360"/>
            <a:ext cx="3596640" cy="73152"/>
          </a:xfrm>
          <a:prstGeom prst="rect">
            <a:avLst/>
          </a:prstGeom>
          <a:solidFill>
            <a:srgbClr val="C22299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382000" y="2011680"/>
            <a:ext cx="3048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TrialScreen — the patient-side infrastructure layer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382000" y="3063240"/>
            <a:ext cx="30480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b="1" sz="1200">
                <a:solidFill>
                  <a:srgbClr val="FFFFFF"/>
                </a:solidFill>
                <a:latin typeface="Calibri"/>
              </a:rPr>
              <a:t>1. Community distribution. </a:t>
            </a:r>
            <a:r>
              <a:rPr sz="1100">
                <a:solidFill>
                  <a:srgbClr val="FFFFFF"/>
                </a:solidFill>
                <a:latin typeface="Calibri"/>
              </a:rPr>
              <a:t>Research Friends exclusivity and advocacy trust. IQVIA has 15,000+ employees and cannot build this with a cheque.</a:t>
            </a:r>
            <a:endParaRPr lang="en-US" sz="1200" dirty="0"/>
          </a:p>
          <a:p>
            <a:pPr>
              <a:spcAft>
                <a:spcPts val="800"/>
              </a:spcAft>
            </a:pPr>
            <a:r>
              <a:rPr b="1" sz="1200">
                <a:solidFill>
                  <a:srgbClr val="FFFFFF"/>
                </a:solidFill>
                <a:latin typeface="Calibri"/>
              </a:rPr>
              <a:t>2. Workflow ubiquity. </a:t>
            </a:r>
            <a:r>
              <a:rPr sz="1100">
                <a:solidFill>
                  <a:srgbClr val="FFFFFF"/>
                </a:solidFill>
                <a:latin typeface="Calibri"/>
              </a:rPr>
              <a:t>Vendor-agnostic integrations with every site CTMS. Incumbents bundle discovery into proprietary stacks — buyers with multi-vendor estates prefer the neutral layer.</a:t>
            </a:r>
          </a:p>
          <a:p>
            <a:pPr>
              <a:spcAft>
                <a:spcPts val="800"/>
              </a:spcAft>
            </a:pPr>
            <a:r>
              <a:rPr b="1" sz="1200">
                <a:solidFill>
                  <a:srgbClr val="FFFFFF"/>
                </a:solidFill>
                <a:latin typeface="Calibri"/>
              </a:rPr>
              <a:t>3. Lead-quality economics. </a:t>
            </a:r>
            <a:r>
              <a:rPr sz="1100">
                <a:solidFill>
                  <a:srgbClr val="FFFFFF"/>
                </a:solidFill>
                <a:latin typeface="Calibri"/>
              </a:rPr>
              <a:t>Advocacy-led conversion lift. A bundled discovery feature inside a large platform does not carry the same unit economics.</a:t>
            </a:r>
          </a:p>
        </p:txBody>
      </p:sp>
      <p:sp>
        <p:nvSpPr>
          <p:cNvPr id="18" name="Text 16"/>
          <p:cNvSpPr/>
          <p:nvPr/>
        </p:nvSpPr>
        <p:spPr>
          <a:xfrm>
            <a:off x="365760" y="653796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ADB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CONFIDENTIAL  ·  TrialScreen  ·  Board Edition, April 2026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247120" y="653796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0ADB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 / 24</a:t>
            </a:r>
            <a:endParaRPr lang="en-US" sz="900" dirty="0"/>
          </a:p>
        </p:txBody>
      </p:sp>
      <p:sp>
        <p:nvSpPr>
          <p:cNvPr id="20" name="TextBox 19"/>
          <p:cNvSpPr txBox="1"/>
          <p:nvPr/>
        </p:nvSpPr>
        <p:spPr>
          <a:xfrm>
            <a:off x="457200" y="6126480"/>
            <a:ext cx="112745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i="1">
                <a:solidFill>
                  <a:srgbClr val="C22299"/>
                </a:solidFill>
                <a:latin typeface="Calibri"/>
              </a:rPr>
              <a:t>Honest: if none of these three conditions hold, the moat compresses to a niche feature. That is the bet this round underwrites.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773A9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6B68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CONFIDENTIAL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320040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773A9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Business model — built for scale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457200" y="109728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6B68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Revenue scales with lead volume; five layered lines; different customers pay different prices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7200" y="1737360"/>
            <a:ext cx="6858000" cy="685800"/>
          </a:xfrm>
          <a:prstGeom prst="rect">
            <a:avLst/>
          </a:prstGeom>
          <a:solidFill>
            <a:srgbClr val="FCF4FB"/>
          </a:solidFill>
          <a:ln w="12700">
            <a:solidFill>
              <a:srgbClr val="E6E0E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737360"/>
            <a:ext cx="73152" cy="685800"/>
          </a:xfrm>
          <a:prstGeom prst="rect">
            <a:avLst/>
          </a:prstGeom>
          <a:solidFill>
            <a:srgbClr val="C22299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792224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73A9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Fee per digitally pre-screened lead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2084832"/>
            <a:ext cx="6583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Core revenue; CROs act as distribution agents to sponsors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2514600"/>
            <a:ext cx="6858000" cy="685800"/>
          </a:xfrm>
          <a:prstGeom prst="rect">
            <a:avLst/>
          </a:prstGeom>
          <a:solidFill>
            <a:srgbClr val="FCF4FB"/>
          </a:solidFill>
          <a:ln w="12700">
            <a:solidFill>
              <a:srgbClr val="E6E0E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2514600"/>
            <a:ext cx="73152" cy="685800"/>
          </a:xfrm>
          <a:prstGeom prst="rect">
            <a:avLst/>
          </a:prstGeom>
          <a:solidFill>
            <a:srgbClr val="C22299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2569464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73A9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Premium add-ons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40080" y="2862072"/>
            <a:ext cx="6583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Sponsors are premium clients — richer screening, priority routing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3291840"/>
            <a:ext cx="6858000" cy="685800"/>
          </a:xfrm>
          <a:prstGeom prst="rect">
            <a:avLst/>
          </a:prstGeom>
          <a:solidFill>
            <a:srgbClr val="FCF4FB"/>
          </a:solidFill>
          <a:ln w="12700">
            <a:solidFill>
              <a:srgbClr val="E6E0E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7200" y="3291840"/>
            <a:ext cx="73152" cy="685800"/>
          </a:xfrm>
          <a:prstGeom prst="rect">
            <a:avLst/>
          </a:prstGeom>
          <a:solidFill>
            <a:srgbClr val="C22299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3346704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73A9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Custom TrialFinders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40080" y="3639312"/>
            <a:ext cx="6583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Branded, co-designed discovery surfaces for sponsors and institutions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4069080"/>
            <a:ext cx="6858000" cy="685800"/>
          </a:xfrm>
          <a:prstGeom prst="rect">
            <a:avLst/>
          </a:prstGeom>
          <a:solidFill>
            <a:srgbClr val="FCF4FB"/>
          </a:solidFill>
          <a:ln w="12700">
            <a:solidFill>
              <a:srgbClr val="E6E0E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7200" y="4069080"/>
            <a:ext cx="73152" cy="685800"/>
          </a:xfrm>
          <a:prstGeom prst="rect">
            <a:avLst/>
          </a:prstGeom>
          <a:solidFill>
            <a:srgbClr val="C22299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4123944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73A9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Patient Community Management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40080" y="4416552"/>
            <a:ext cx="6583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Sponsor-funded Research Friends programmes (the moat)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57200" y="4846320"/>
            <a:ext cx="6858000" cy="685800"/>
          </a:xfrm>
          <a:prstGeom prst="rect">
            <a:avLst/>
          </a:prstGeom>
          <a:solidFill>
            <a:srgbClr val="FCF4FB"/>
          </a:solidFill>
          <a:ln w="12700">
            <a:solidFill>
              <a:srgbClr val="E6E0EE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57200" y="4846320"/>
            <a:ext cx="73152" cy="685800"/>
          </a:xfrm>
          <a:prstGeom prst="rect">
            <a:avLst/>
          </a:prstGeom>
          <a:solidFill>
            <a:srgbClr val="C22299"/>
          </a:solidFill>
          <a:ln/>
        </p:spPr>
      </p:sp>
      <p:sp>
        <p:nvSpPr>
          <p:cNvPr id="24" name="Text 22"/>
          <p:cNvSpPr/>
          <p:nvPr/>
        </p:nvSpPr>
        <p:spPr>
          <a:xfrm>
            <a:off x="640080" y="4901184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73A9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Automated service activation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40080" y="5193792"/>
            <a:ext cx="6583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SMOs as volume clients; low per-trial ops cost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7589520" y="1737360"/>
            <a:ext cx="4114800" cy="3886200"/>
          </a:xfrm>
          <a:prstGeom prst="rect">
            <a:avLst/>
          </a:prstGeom>
          <a:solidFill>
            <a:srgbClr val="773A96"/>
          </a:solidFill>
          <a:ln/>
        </p:spPr>
      </p:sp>
      <p:sp>
        <p:nvSpPr>
          <p:cNvPr id="27" name="Text 25"/>
          <p:cNvSpPr/>
          <p:nvPr/>
        </p:nvSpPr>
        <p:spPr>
          <a:xfrm>
            <a:off x="7772400" y="187452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9BA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WHO PAYS WHAT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7772400" y="2331720"/>
            <a:ext cx="3749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9BA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Sponsors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Premium clients — buy add-ons and community programmes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7772400" y="2990088"/>
            <a:ext cx="3749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9BA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CROs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Distribution agents — resell lead flow into their sponsor portfolios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7772400" y="3648456"/>
            <a:ext cx="3749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9BA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Sites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Receive leads within 24h; drive retention and completion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7772400" y="4306824"/>
            <a:ext cx="3749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9BA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SMOs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Volume clients — automated activation at low per-trial cost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7772400" y="4965192"/>
            <a:ext cx="3749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9BA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Academics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Beneficiaries — free access via the public surface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457200" y="5806440"/>
            <a:ext cx="11247120" cy="457200"/>
          </a:xfrm>
          <a:prstGeom prst="rect">
            <a:avLst/>
          </a:prstGeom>
          <a:solidFill>
            <a:srgbClr val="C22299"/>
          </a:solidFill>
          <a:ln/>
        </p:spPr>
      </p:sp>
      <p:sp>
        <p:nvSpPr>
          <p:cNvPr id="34" name="Text 32"/>
          <p:cNvSpPr/>
          <p:nvPr/>
        </p:nvSpPr>
        <p:spPr>
          <a:xfrm>
            <a:off x="640080" y="585216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Revenue and profitability scale strongly with paid lead volume — forecast profitable in 2027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365760" y="653796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ADB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CONFIDENTIAL  ·  TrialScreen  ·  Board Edition, April 2026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1247120" y="653796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0ADB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11 / 24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773A96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109728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6B68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CONFIDENTIAL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320040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773A9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Land-and-Expand — from $50K pilot to $500K enterprise ACV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457200" y="109728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6B68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Four stages. Named trigger to each next step. The mechanism that gets NRR above 110%.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7200" y="1783080"/>
            <a:ext cx="2674620" cy="4023360"/>
          </a:xfrm>
          <a:prstGeom prst="rect">
            <a:avLst/>
          </a:prstGeom>
          <a:solidFill>
            <a:srgbClr val="FCF4FB"/>
          </a:solidFill>
          <a:ln w="12700">
            <a:solidFill>
              <a:srgbClr val="E6E0EE"/>
            </a:solidFill>
            <a:prstDash val="solid"/>
          </a:ln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457200" y="1783080"/>
            <a:ext cx="2674620" cy="502920"/>
          </a:xfrm>
          <a:prstGeom prst="rect">
            <a:avLst/>
          </a:prstGeom>
          <a:solidFill>
            <a:srgbClr val="6E7B8F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640080" y="1892808"/>
            <a:ext cx="2308860" cy="274320"/>
          </a:xfrm>
          <a:prstGeom prst="rect">
            <a:avLst/>
          </a:prstGeom>
          <a:solidFill>
            <a:srgbClr val="6B6880"/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STAGE 1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40080" y="2423160"/>
            <a:ext cx="23088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773A9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Rescue pilot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40080" y="3063240"/>
            <a:ext cx="23088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222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$25–50K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640080" y="3566160"/>
            <a:ext cx="23088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68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Gross margin 50–60%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40080" y="3886200"/>
            <a:ext cx="23088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Single-trial recruitment rescue for one sponsor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94360" y="5029200"/>
            <a:ext cx="2400300" cy="18288"/>
          </a:xfrm>
          <a:prstGeom prst="rect">
            <a:avLst/>
          </a:prstGeom>
          <a:solidFill>
            <a:srgbClr val="E6E0EE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640080" y="5120640"/>
            <a:ext cx="23088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773A9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Trigger to next: </a:t>
            </a:r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TTFP beats internal benchmark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314700" y="1783080"/>
            <a:ext cx="2674620" cy="4023360"/>
          </a:xfrm>
          <a:prstGeom prst="rect">
            <a:avLst/>
          </a:prstGeom>
          <a:solidFill>
            <a:srgbClr val="FCF4FB"/>
          </a:solidFill>
          <a:ln w="12700">
            <a:solidFill>
              <a:srgbClr val="E6E0EE"/>
            </a:solidFill>
            <a:prstDash val="solid"/>
          </a:ln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3314700" y="1783080"/>
            <a:ext cx="2674620" cy="502920"/>
          </a:xfrm>
          <a:prstGeom prst="rect">
            <a:avLst/>
          </a:prstGeom>
          <a:solidFill>
            <a:srgbClr val="954CF6"/>
          </a:solidFill>
          <a:ln/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3497580" y="1892808"/>
            <a:ext cx="2308860" cy="274320"/>
          </a:xfrm>
          <a:prstGeom prst="rect">
            <a:avLst/>
          </a:prstGeom>
          <a:solidFill>
            <a:srgbClr val="773A96"/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STAGE 2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497580" y="2423160"/>
            <a:ext cx="23088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773A9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Study portfolio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3497580" y="3063240"/>
            <a:ext cx="23088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222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$75–200K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97580" y="3566160"/>
            <a:ext cx="23088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68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Gross margin 60–70%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497580" y="3886200"/>
            <a:ext cx="23088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2–4 trials in one therapeutic area with the same sponsor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451860" y="5029200"/>
            <a:ext cx="2400300" cy="18288"/>
          </a:xfrm>
          <a:prstGeom prst="rect">
            <a:avLst/>
          </a:prstGeom>
          <a:solidFill>
            <a:srgbClr val="E6E0EE"/>
          </a:solidFill>
          <a:ln/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3497580" y="5120640"/>
            <a:ext cx="23088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773A9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Trigger to next: </a:t>
            </a:r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CTMS or API integration signed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172200" y="1783080"/>
            <a:ext cx="2674620" cy="4023360"/>
          </a:xfrm>
          <a:prstGeom prst="rect">
            <a:avLst/>
          </a:prstGeom>
          <a:solidFill>
            <a:srgbClr val="FCF4FB"/>
          </a:solidFill>
          <a:ln w="12700">
            <a:solidFill>
              <a:srgbClr val="E6E0EE"/>
            </a:solidFill>
            <a:prstDash val="solid"/>
          </a:ln>
        </p:spPr>
        <p:txBody>
          <a:bodyPr/>
          <a:p/>
        </p:txBody>
      </p:sp>
      <p:sp>
        <p:nvSpPr>
          <p:cNvPr id="25" name="Shape 23"/>
          <p:cNvSpPr/>
          <p:nvPr/>
        </p:nvSpPr>
        <p:spPr>
          <a:xfrm>
            <a:off x="6172200" y="1783080"/>
            <a:ext cx="2674620" cy="502920"/>
          </a:xfrm>
          <a:prstGeom prst="rect">
            <a:avLst/>
          </a:prstGeom>
          <a:solidFill>
            <a:srgbClr val="954CF6"/>
          </a:solidFill>
          <a:ln/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6355080" y="1892808"/>
            <a:ext cx="2308860" cy="274320"/>
          </a:xfrm>
          <a:prstGeom prst="rect">
            <a:avLst/>
          </a:prstGeom>
          <a:solidFill>
            <a:srgbClr val="954CF6"/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STAGE 3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355080" y="2423160"/>
            <a:ext cx="23088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773A9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Preferred-vendor MSA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6355080" y="3063240"/>
            <a:ext cx="23088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222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$200–400K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6355080" y="3566160"/>
            <a:ext cx="23088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68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Gross margin 70–75%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355080" y="3886200"/>
            <a:ext cx="23088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Enterprise MSA across multiple therapeutic areas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309360" y="5029200"/>
            <a:ext cx="2400300" cy="18288"/>
          </a:xfrm>
          <a:prstGeom prst="rect">
            <a:avLst/>
          </a:prstGeom>
          <a:solidFill>
            <a:srgbClr val="E6E0EE"/>
          </a:solidFill>
          <a:ln/>
        </p:spPr>
        <p:txBody>
          <a:bodyPr/>
          <a:p/>
        </p:txBody>
      </p:sp>
      <p:sp>
        <p:nvSpPr>
          <p:cNvPr id="32" name="Text 30"/>
          <p:cNvSpPr/>
          <p:nvPr/>
        </p:nvSpPr>
        <p:spPr>
          <a:xfrm>
            <a:off x="6355080" y="5120640"/>
            <a:ext cx="23088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773A9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Trigger to next: </a:t>
            </a:r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Medical Affairs sign-off + SOC 2 Type II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9029700" y="1783080"/>
            <a:ext cx="2674620" cy="4023360"/>
          </a:xfrm>
          <a:prstGeom prst="rect">
            <a:avLst/>
          </a:prstGeom>
          <a:solidFill>
            <a:srgbClr val="FCF4FB"/>
          </a:solidFill>
          <a:ln w="12700">
            <a:solidFill>
              <a:srgbClr val="E6E0EE"/>
            </a:solidFill>
            <a:prstDash val="solid"/>
          </a:ln>
        </p:spPr>
        <p:txBody>
          <a:bodyPr/>
          <a:p/>
        </p:txBody>
      </p:sp>
      <p:sp>
        <p:nvSpPr>
          <p:cNvPr id="34" name="Shape 32"/>
          <p:cNvSpPr/>
          <p:nvPr/>
        </p:nvSpPr>
        <p:spPr>
          <a:xfrm>
            <a:off x="9029700" y="1783080"/>
            <a:ext cx="2674620" cy="502920"/>
          </a:xfrm>
          <a:prstGeom prst="rect">
            <a:avLst/>
          </a:prstGeom>
          <a:solidFill>
            <a:srgbClr val="F9BAE0"/>
          </a:solidFill>
          <a:ln/>
        </p:spPr>
        <p:txBody>
          <a:bodyPr/>
          <a:p/>
        </p:txBody>
      </p:sp>
      <p:sp>
        <p:nvSpPr>
          <p:cNvPr id="35" name="Text 33"/>
          <p:cNvSpPr/>
          <p:nvPr/>
        </p:nvSpPr>
        <p:spPr>
          <a:xfrm>
            <a:off x="9212580" y="1892808"/>
            <a:ext cx="2308860" cy="274320"/>
          </a:xfrm>
          <a:prstGeom prst="rect">
            <a:avLst/>
          </a:prstGeom>
          <a:solidFill>
            <a:srgbClr val="C22299"/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STAGE 4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9212580" y="2423160"/>
            <a:ext cx="23088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773A9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Enterprise platform licence</a:t>
            </a:r>
            <a:endParaRPr lang="en-US" sz="1500" dirty="0"/>
          </a:p>
        </p:txBody>
      </p:sp>
      <p:sp>
        <p:nvSpPr>
          <p:cNvPr id="37" name="Text 35"/>
          <p:cNvSpPr/>
          <p:nvPr/>
        </p:nvSpPr>
        <p:spPr>
          <a:xfrm>
            <a:off x="9212580" y="3063240"/>
            <a:ext cx="23088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222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$400–750K</a:t>
            </a:r>
            <a:endParaRPr lang="en-US" sz="2000" dirty="0"/>
          </a:p>
        </p:txBody>
      </p:sp>
      <p:sp>
        <p:nvSpPr>
          <p:cNvPr id="38" name="Text 36"/>
          <p:cNvSpPr/>
          <p:nvPr/>
        </p:nvSpPr>
        <p:spPr>
          <a:xfrm>
            <a:off x="9212580" y="3566160"/>
            <a:ext cx="23088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68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Gross margin 75–80%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9212580" y="3886200"/>
            <a:ext cx="23088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Platform subscription + consumption lead fees + Research Friends community layer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9166860" y="5029200"/>
            <a:ext cx="2400300" cy="18288"/>
          </a:xfrm>
          <a:prstGeom prst="rect">
            <a:avLst/>
          </a:prstGeom>
          <a:solidFill>
            <a:srgbClr val="E6E0EE"/>
          </a:solidFill>
          <a:ln/>
        </p:spPr>
        <p:txBody>
          <a:bodyPr/>
          <a:p/>
        </p:txBody>
      </p:sp>
      <p:sp>
        <p:nvSpPr>
          <p:cNvPr id="41" name="Text 39"/>
          <p:cNvSpPr/>
          <p:nvPr/>
        </p:nvSpPr>
        <p:spPr>
          <a:xfrm>
            <a:off x="9212580" y="5120640"/>
            <a:ext cx="23088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773A9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Trigger to next: </a:t>
            </a:r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 successful trials + NRR ≥110%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457200" y="5943600"/>
            <a:ext cx="11247120" cy="548640"/>
          </a:xfrm>
          <a:prstGeom prst="rect">
            <a:avLst/>
          </a:prstGeom>
          <a:solidFill>
            <a:srgbClr val="773A96"/>
          </a:solidFill>
          <a:ln/>
        </p:spPr>
        <p:txBody>
          <a:bodyPr/>
          <a:p/>
        </p:txBody>
      </p:sp>
      <p:sp>
        <p:nvSpPr>
          <p:cNvPr id="43" name="Text 41"/>
          <p:cNvSpPr/>
          <p:nvPr/>
        </p:nvSpPr>
        <p:spPr>
          <a:xfrm>
            <a:off x="640080" y="598932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Current revenue is Stages 1–2. Series A funds the infrastructure, integrations and compliance that gate Stage 3. Target by end-2027: 3–5 top-20 pharma accounts at Stage 3.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365760" y="653796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ADB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CONFIDENTIAL  ·  TrialScreen  ·  Board Edition, April 2026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11247120" y="653796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0ADB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 / 24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773A96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109728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6B68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CONFIDENTIAL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320040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773A9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Financials — path to profitability in 2027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457200" y="109728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6B68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EBITDA scales with lead volume; disciplined $5M round, not a burn-capital race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7200" y="1783080"/>
            <a:ext cx="3566160" cy="3108960"/>
          </a:xfrm>
          <a:prstGeom prst="rect">
            <a:avLst/>
          </a:prstGeom>
          <a:solidFill>
            <a:srgbClr val="FCF4FB"/>
          </a:solidFill>
          <a:ln w="12700">
            <a:solidFill>
              <a:srgbClr val="E6E0EE"/>
            </a:solidFill>
            <a:prstDash val="solid"/>
          </a:ln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457200" y="1783080"/>
            <a:ext cx="3566160" cy="73152"/>
          </a:xfrm>
          <a:prstGeom prst="rect">
            <a:avLst/>
          </a:prstGeom>
          <a:solidFill>
            <a:srgbClr val="6B6880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731520" y="205740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6B68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Today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31520" y="2468880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6B68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~$1M ARR (implied)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731520" y="3383280"/>
            <a:ext cx="3017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1,500+ leads/month · 20 paid leads/day · 24-hour engagement SLA · revenue-generating partnerships live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297680" y="1783080"/>
            <a:ext cx="3566160" cy="3108960"/>
          </a:xfrm>
          <a:prstGeom prst="rect">
            <a:avLst/>
          </a:prstGeom>
          <a:solidFill>
            <a:srgbClr val="FCF4FB"/>
          </a:solidFill>
          <a:ln w="12700">
            <a:solidFill>
              <a:srgbClr val="E6E0EE"/>
            </a:solidFill>
            <a:prstDash val="solid"/>
          </a:ln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4297680" y="1783080"/>
            <a:ext cx="3566160" cy="73152"/>
          </a:xfrm>
          <a:prstGeom prst="rect">
            <a:avLst/>
          </a:prstGeom>
          <a:solidFill>
            <a:srgbClr val="773A96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4572000" y="205740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6B68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End 2027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572000" y="2468880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773A9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$4–6M ARR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4572000" y="3383280"/>
            <a:ext cx="3017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4,500–6,000 leads/month · 30–50 sponsor/CRO relationships · 3–4 named Research Friends communities · forecast profitable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138160" y="1783080"/>
            <a:ext cx="3566160" cy="3108960"/>
          </a:xfrm>
          <a:prstGeom prst="rect">
            <a:avLst/>
          </a:prstGeom>
          <a:solidFill>
            <a:srgbClr val="FCF4FB"/>
          </a:solidFill>
          <a:ln w="12700">
            <a:solidFill>
              <a:srgbClr val="E6E0EE"/>
            </a:solidFill>
            <a:prstDash val="solid"/>
          </a:ln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8138160" y="1783080"/>
            <a:ext cx="3566160" cy="73152"/>
          </a:xfrm>
          <a:prstGeom prst="rect">
            <a:avLst/>
          </a:prstGeom>
          <a:solidFill>
            <a:srgbClr val="C22299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8412480" y="205740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6B68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2030 (base)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412480" y="2468880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222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$25–45M ARR</a:t>
            </a:r>
            <a:endParaRPr lang="en-US" sz="3000" dirty="0"/>
          </a:p>
        </p:txBody>
      </p:sp>
      <p:sp>
        <p:nvSpPr>
          <p:cNvPr id="20" name="Text 18"/>
          <p:cNvSpPr/>
          <p:nvPr/>
        </p:nvSpPr>
        <p:spPr>
          <a:xfrm>
            <a:off x="8412480" y="3383280"/>
            <a:ext cx="3017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80–150 sponsor/CRO relationships · premium product lines at ~30% of revenue · 3–5 top-20 pharma accounts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57200" y="5166360"/>
            <a:ext cx="11247120" cy="1143000"/>
          </a:xfrm>
          <a:prstGeom prst="rect">
            <a:avLst/>
          </a:prstGeom>
          <a:solidFill>
            <a:srgbClr val="773A96"/>
          </a:solidFill>
          <a:ln/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640080" y="5257800"/>
            <a:ext cx="10881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Forecast profitability in 2027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Unit economics: EBITDA scales with paid lead volume — every incremental paid lead adds margin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Capital-efficient: $5M Series A funds the 18-month commercial and platform build; no burn-capital required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Margin expansion from premium add-ons and custom TrialFinders over the plan horizon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65760" y="653796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ADB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CONFIDENTIAL  ·  TrialScreen  ·  Board Edition, April 2026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247120" y="653796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0ADB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13 / 24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773A9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6B68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CONFIDENTIAL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320040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773A9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Why this wins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457200" y="109728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6B68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 sit where demand already exists — no behavioural change required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7200" y="1828800"/>
            <a:ext cx="5509260" cy="2011680"/>
          </a:xfrm>
          <a:prstGeom prst="rect">
            <a:avLst/>
          </a:prstGeom>
          <a:solidFill>
            <a:srgbClr val="FCF4FB"/>
          </a:solidFill>
          <a:ln w="12700">
            <a:solidFill>
              <a:srgbClr val="E6E0E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828800"/>
            <a:ext cx="73152" cy="2011680"/>
          </a:xfrm>
          <a:prstGeom prst="rect">
            <a:avLst/>
          </a:prstGeom>
          <a:solidFill>
            <a:srgbClr val="C22299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2057400"/>
            <a:ext cx="49606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773A9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People are already searching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731520" y="2606040"/>
            <a:ext cx="49606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~5% of eligible patients actively search for trials online today. We capture that search where it already happens.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195060" y="1828800"/>
            <a:ext cx="5509260" cy="2011680"/>
          </a:xfrm>
          <a:prstGeom prst="rect">
            <a:avLst/>
          </a:prstGeom>
          <a:solidFill>
            <a:srgbClr val="FCF4FB"/>
          </a:solidFill>
          <a:ln w="12700">
            <a:solidFill>
              <a:srgbClr val="E6E0E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195060" y="1828800"/>
            <a:ext cx="73152" cy="2011680"/>
          </a:xfrm>
          <a:prstGeom prst="rect">
            <a:avLst/>
          </a:prstGeom>
          <a:solidFill>
            <a:srgbClr val="C22299"/>
          </a:solidFill>
          <a:ln/>
        </p:spPr>
      </p:sp>
      <p:sp>
        <p:nvSpPr>
          <p:cNvPr id="12" name="Text 10"/>
          <p:cNvSpPr/>
          <p:nvPr/>
        </p:nvSpPr>
        <p:spPr>
          <a:xfrm>
            <a:off x="6469380" y="2057400"/>
            <a:ext cx="49606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773A9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Sponsors, CROs and sites already need patients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6469380" y="2606040"/>
            <a:ext cx="49606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demand is pre-existing and urgent — 80% of trials miss timelines. We are not creating demand; we are routing it.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4069080"/>
            <a:ext cx="5509260" cy="2011680"/>
          </a:xfrm>
          <a:prstGeom prst="rect">
            <a:avLst/>
          </a:prstGeom>
          <a:solidFill>
            <a:srgbClr val="FCF4FB"/>
          </a:solidFill>
          <a:ln w="12700">
            <a:solidFill>
              <a:srgbClr val="E6E0E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7200" y="4069080"/>
            <a:ext cx="73152" cy="2011680"/>
          </a:xfrm>
          <a:prstGeom prst="rect">
            <a:avLst/>
          </a:prstGeom>
          <a:solidFill>
            <a:srgbClr val="C22299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4297680"/>
            <a:ext cx="49606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773A9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Sponsors already pay for speed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731520" y="4846320"/>
            <a:ext cx="49606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Delay costs $600K–$8M per day on Phase III. Our 24-hour site-engagement SLA is priced-in willingness-to-pay.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195060" y="4069080"/>
            <a:ext cx="5509260" cy="2011680"/>
          </a:xfrm>
          <a:prstGeom prst="rect">
            <a:avLst/>
          </a:prstGeom>
          <a:solidFill>
            <a:srgbClr val="FCF4FB"/>
          </a:solidFill>
          <a:ln w="12700">
            <a:solidFill>
              <a:srgbClr val="E6E0E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195060" y="4069080"/>
            <a:ext cx="73152" cy="2011680"/>
          </a:xfrm>
          <a:prstGeom prst="rect">
            <a:avLst/>
          </a:prstGeom>
          <a:solidFill>
            <a:srgbClr val="C22299"/>
          </a:solidFill>
          <a:ln/>
        </p:spPr>
      </p:sp>
      <p:sp>
        <p:nvSpPr>
          <p:cNvPr id="20" name="Text 18"/>
          <p:cNvSpPr/>
          <p:nvPr/>
        </p:nvSpPr>
        <p:spPr>
          <a:xfrm>
            <a:off x="6469380" y="4297680"/>
            <a:ext cx="49606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773A9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Infrastructure compounds, campaigns do not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6469380" y="4846320"/>
            <a:ext cx="49606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Every sponsor we onboard, every community we anchor, every registry integration makes the next trial cheaper to recruit for.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57200" y="6126480"/>
            <a:ext cx="11247120" cy="457200"/>
          </a:xfrm>
          <a:prstGeom prst="rect">
            <a:avLst/>
          </a:prstGeom>
          <a:solidFill>
            <a:srgbClr val="C22299"/>
          </a:solidFill>
          <a:ln/>
        </p:spPr>
      </p:sp>
      <p:sp>
        <p:nvSpPr>
          <p:cNvPr id="23" name="Text 21"/>
          <p:cNvSpPr/>
          <p:nvPr/>
        </p:nvSpPr>
        <p:spPr>
          <a:xfrm>
            <a:off x="457200" y="617220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TrialScreen converts existing friction into velocity and revenue.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365760" y="653796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ADB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CONFIDENTIAL  ·  TrialScreen  ·  Board Edition, April 2026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247120" y="653796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0ADB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14 / 24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773A96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109728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6B68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CONFIDENTIAL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320040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773A9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Why now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457200" y="109728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6B68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Four powerful tailwinds are colliding — and haphazard recruitment cannot keep up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7200" y="1828800"/>
            <a:ext cx="5509260" cy="2103120"/>
          </a:xfrm>
          <a:prstGeom prst="rect">
            <a:avLst/>
          </a:prstGeom>
          <a:solidFill>
            <a:srgbClr val="773A96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2057400"/>
            <a:ext cx="49606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F9BA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2468880"/>
            <a:ext cx="49606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AI-driven drug discovery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731520" y="2971800"/>
            <a:ext cx="49606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9BA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173+ AI-originated or AI-assisted molecules in clinical trials. Insilico, Recursion, Isomorphic Labs pushing more RCTs into the pipeline. More trials = more recruitment demand, with increasingly specific cohort criteria.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195060" y="1828800"/>
            <a:ext cx="5509260" cy="2103120"/>
          </a:xfrm>
          <a:prstGeom prst="rect">
            <a:avLst/>
          </a:prstGeom>
          <a:solidFill>
            <a:srgbClr val="773A96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469380" y="2057400"/>
            <a:ext cx="49606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F9BA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469380" y="2468880"/>
            <a:ext cx="49606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Rising pressure on fewer sites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6469380" y="2971800"/>
            <a:ext cx="49606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9BA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Site consolidation is real. Sponsors cannot enrol inside a shrinking site count without widening catchment — exactly what the infrastructure layer does.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4160520"/>
            <a:ext cx="5509260" cy="2103120"/>
          </a:xfrm>
          <a:prstGeom prst="rect">
            <a:avLst/>
          </a:prstGeom>
          <a:solidFill>
            <a:srgbClr val="773A96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" y="4389120"/>
            <a:ext cx="49606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F9BA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31520" y="4800600"/>
            <a:ext cx="49606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Escalating cost of delay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731520" y="5303520"/>
            <a:ext cx="49606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9BA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$600K–$8M/day on Phase III trials. Every month of delay destroys NPV. Sponsors are increasingly prepared to pay for velocity over volume.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195060" y="4160520"/>
            <a:ext cx="5509260" cy="2103120"/>
          </a:xfrm>
          <a:prstGeom prst="rect">
            <a:avLst/>
          </a:prstGeom>
          <a:solidFill>
            <a:srgbClr val="773A96"/>
          </a:solidFill>
          <a:ln/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6469380" y="4389120"/>
            <a:ext cx="49606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F9BA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469380" y="4800600"/>
            <a:ext cx="49606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Patients searching online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6469380" y="5303520"/>
            <a:ext cx="49606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9BA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Patients and carers are already searching. LLM-based discovery is accelerating this further. The infrastructure layer must be where those searches land.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57200" y="630936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773A9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Haphazard recruitment cannot keep up. The category is ready for an infrastructure layer.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65760" y="653796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ADB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CONFIDENTIAL  ·  TrialScreen  ·  Board Edition, April 2026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247120" y="653796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0ADB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15 / 24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22299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109728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6B68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CONFIDENTIAL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320040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773A9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Market opportunity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457200" y="109728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6B68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Large, growing, and structurally under-served by campaign-based recruitment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7200" y="1737360"/>
            <a:ext cx="2834640" cy="1005840"/>
          </a:xfrm>
          <a:prstGeom prst="rect">
            <a:avLst/>
          </a:prstGeom>
          <a:solidFill>
            <a:srgbClr val="FCF4FB"/>
          </a:solidFill>
          <a:ln w="12700">
            <a:solidFill>
              <a:srgbClr val="E6E0EE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40080" y="178308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222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$84.5B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640080" y="22860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Clinical trial services market, 2024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" y="2514600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68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Grand View Research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383280" y="1737360"/>
            <a:ext cx="2834640" cy="1005840"/>
          </a:xfrm>
          <a:prstGeom prst="rect">
            <a:avLst/>
          </a:prstGeom>
          <a:solidFill>
            <a:srgbClr val="FCF4FB"/>
          </a:solidFill>
          <a:ln w="12700">
            <a:solidFill>
              <a:srgbClr val="E6E0EE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3566160" y="178308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222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$11B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3566160" y="22860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Patient recruitment services, 2024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566160" y="2514600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68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Grand View Research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57200" y="2880360"/>
            <a:ext cx="2834640" cy="1005840"/>
          </a:xfrm>
          <a:prstGeom prst="rect">
            <a:avLst/>
          </a:prstGeom>
          <a:solidFill>
            <a:srgbClr val="FCF4FB"/>
          </a:solidFill>
          <a:ln w="12700">
            <a:solidFill>
              <a:srgbClr val="E6E0EE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640080" y="292608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222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8.72%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640080" y="34290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Patient recruitment CAGR to 2033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40080" y="3657600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68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Grand View Research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383280" y="2880360"/>
            <a:ext cx="2834640" cy="1005840"/>
          </a:xfrm>
          <a:prstGeom prst="rect">
            <a:avLst/>
          </a:prstGeom>
          <a:solidFill>
            <a:srgbClr val="FCF4FB"/>
          </a:solidFill>
          <a:ln w="12700">
            <a:solidFill>
              <a:srgbClr val="E6E0EE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3566160" y="292608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222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$22.85B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3566160" y="34290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Patient recruitment services, 2033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566160" y="3657600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68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Grand View Research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57200" y="4069080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73A9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Adjacencies and segment signals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57200" y="4389120"/>
            <a:ext cx="58521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Decentralised clinical trials: $8.6B → ~$29B at 10–14% CAGR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Orphan drug market: $217B (2025) → $687B (2035) at ~12% CAGR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Rare-disease clinical trials: $13.4B → $30B by 2033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Cell and gene therapy (fastest CAGR in trials)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400800" y="1737360"/>
            <a:ext cx="5303520" cy="4480560"/>
          </a:xfrm>
          <a:prstGeom prst="rect">
            <a:avLst/>
          </a:prstGeom>
          <a:solidFill>
            <a:srgbClr val="773A96"/>
          </a:solidFill>
          <a:ln/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6583680" y="187452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9BA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TRIALSCREEN SHARE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583680" y="219456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Addressable market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6583680" y="2743200"/>
            <a:ext cx="493776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TAM (recruitment-related spend, global): $12–14B today → $20–26B by 2030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SAM (infrastructure-layer posture): $3.5–5B today → $6–9B by 2030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SOM base case 2030: $25–45M ARR, 80–150 sponsor/CRO accounts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SOM aggressive case 2030: $60–100M ARR, 150–250 accounts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583680" y="576072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9BA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TrialScreen becomes the default enrolment layer globally.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365760" y="653796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ADB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CONFIDENTIAL  ·  TrialScreen  ·  Board Edition, April 2026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1247120" y="653796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0ADB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16 / 24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773A9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6B68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CONFIDENTIAL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320040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773A9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Category map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457200" y="109728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6B68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Four strategic postures. TrialScreen is the only player built purely as the patient-side infrastructure layer.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7200" y="1737360"/>
            <a:ext cx="5509260" cy="2103120"/>
          </a:xfrm>
          <a:prstGeom prst="rect">
            <a:avLst/>
          </a:prstGeom>
          <a:solidFill>
            <a:srgbClr val="FCF4FB"/>
          </a:solidFill>
          <a:ln w="12700">
            <a:solidFill>
              <a:srgbClr val="E6E0E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737360"/>
            <a:ext cx="73152" cy="2103120"/>
          </a:xfrm>
          <a:prstGeom prst="rect">
            <a:avLst/>
          </a:prstGeom>
          <a:solidFill>
            <a:srgbClr val="6B6880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1965960"/>
            <a:ext cx="49606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773A9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Data-first consolidators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31520" y="2423160"/>
            <a:ext cx="49606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Tempus ($8B mcap, post-Deep 6) · TriNetX / Norstella (post-Clinerion) · IQVIA · Veeva · Medidata · Advarra (Blackstone $5B)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31520" y="3429000"/>
            <a:ext cx="49606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222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Upstream scale; we sit downstream of them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195060" y="1737360"/>
            <a:ext cx="5509260" cy="2103120"/>
          </a:xfrm>
          <a:prstGeom prst="rect">
            <a:avLst/>
          </a:prstGeom>
          <a:solidFill>
            <a:srgbClr val="FCF4FB"/>
          </a:solidFill>
          <a:ln w="12700">
            <a:solidFill>
              <a:srgbClr val="E6E0E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195060" y="1737360"/>
            <a:ext cx="73152" cy="2103120"/>
          </a:xfrm>
          <a:prstGeom prst="rect">
            <a:avLst/>
          </a:prstGeom>
          <a:solidFill>
            <a:srgbClr val="6B6880"/>
          </a:solidFill>
          <a:ln/>
        </p:spPr>
      </p:sp>
      <p:sp>
        <p:nvSpPr>
          <p:cNvPr id="13" name="Text 11"/>
          <p:cNvSpPr/>
          <p:nvPr/>
        </p:nvSpPr>
        <p:spPr>
          <a:xfrm>
            <a:off x="6469380" y="1965960"/>
            <a:ext cx="49606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773A9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Site networks / DCT operators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469380" y="2423160"/>
            <a:ext cx="49606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Velocity (GHO) · CenExel (BayPine) · Care Access / Reify ($4.8B) · Javara (GA) · Paradigm ($281M raised)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469380" y="3429000"/>
            <a:ext cx="49606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222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Distribution partners, not direct competitors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4069080"/>
            <a:ext cx="5509260" cy="2103120"/>
          </a:xfrm>
          <a:prstGeom prst="rect">
            <a:avLst/>
          </a:prstGeom>
          <a:solidFill>
            <a:srgbClr val="FCF4FB"/>
          </a:solidFill>
          <a:ln w="12700">
            <a:solidFill>
              <a:srgbClr val="E6E0E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" y="4069080"/>
            <a:ext cx="73152" cy="2103120"/>
          </a:xfrm>
          <a:prstGeom prst="rect">
            <a:avLst/>
          </a:prstGeom>
          <a:solidFill>
            <a:srgbClr val="6B6880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" y="4297680"/>
            <a:ext cx="49606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773A9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Recruitment agencies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731520" y="4754880"/>
            <a:ext cx="49606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Acurian (ICON) · WCG · AutoCruitment · Trialbee (VHP Jan 2026) · CTM · Imperial CRS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31520" y="5760720"/>
            <a:ext cx="49606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222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Campaign-based; losing share to integrated platforms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195060" y="4069080"/>
            <a:ext cx="5509260" cy="2103120"/>
          </a:xfrm>
          <a:prstGeom prst="rect">
            <a:avLst/>
          </a:prstGeom>
          <a:solidFill>
            <a:srgbClr val="FCF4FB"/>
          </a:solidFill>
          <a:ln w="12700">
            <a:solidFill>
              <a:srgbClr val="E6E0EE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195060" y="4069080"/>
            <a:ext cx="73152" cy="2103120"/>
          </a:xfrm>
          <a:prstGeom prst="rect">
            <a:avLst/>
          </a:prstGeom>
          <a:solidFill>
            <a:srgbClr val="6B6880"/>
          </a:solidFill>
          <a:ln/>
        </p:spPr>
      </p:sp>
      <p:sp>
        <p:nvSpPr>
          <p:cNvPr id="23" name="Text 21"/>
          <p:cNvSpPr/>
          <p:nvPr/>
        </p:nvSpPr>
        <p:spPr>
          <a:xfrm>
            <a:off x="6469380" y="4297680"/>
            <a:ext cx="49606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773A9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Patient-facing matchers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6469380" y="4754880"/>
            <a:ext cx="49606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Antidote · Power · Leal Health · Clara Health (acquired) · Science 37 (cautionary: $1B to $38M)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469380" y="5760720"/>
            <a:ext cx="49606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222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Mostly struggling on standalone monetisation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30936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B68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Plausible acquirers over 3–5 years: Tempus, TriNetX, IQVIA, Paradigm, Reify, Advarra, Parexel, VHP/Trialbee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65760" y="653796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ADB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CONFIDENTIAL  ·  TrialScreen  ·  Board Edition, April 2026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1247120" y="653796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0ADB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17 / 24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A4F6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6B68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CONFIDENTIAL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320040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773A9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Risks and mitigations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457200" y="109728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6B68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honest board view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7200" y="1828800"/>
            <a:ext cx="11247120" cy="438912"/>
          </a:xfrm>
          <a:prstGeom prst="rect">
            <a:avLst/>
          </a:prstGeom>
          <a:solidFill>
            <a:srgbClr val="FCF4FB"/>
          </a:solidFill>
          <a:ln w="12700">
            <a:solidFill>
              <a:srgbClr val="E6E0E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828800"/>
            <a:ext cx="73152" cy="438912"/>
          </a:xfrm>
          <a:prstGeom prst="rect">
            <a:avLst/>
          </a:prstGeom>
          <a:solidFill>
            <a:srgbClr val="EA4F6A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874520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73A9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Capital-adequacy: $5M is deliberately tight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760720" y="1874520"/>
            <a:ext cx="5852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Convertible bridge ahead of Series A; acquirer conversations in parallel with Series B prep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2331720"/>
            <a:ext cx="1124712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6E0E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2331720"/>
            <a:ext cx="73152" cy="438912"/>
          </a:xfrm>
          <a:prstGeom prst="rect">
            <a:avLst/>
          </a:prstGeom>
          <a:solidFill>
            <a:srgbClr val="EA4F6A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2377440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73A9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Competitive response from Tempus / TriNetX on the patient-discovery layer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760720" y="2377440"/>
            <a:ext cx="5852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Accelerate Research Friends community moat; protect the 24-hour SLA; be ready for strategic conversations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2834640"/>
            <a:ext cx="11247120" cy="438912"/>
          </a:xfrm>
          <a:prstGeom prst="rect">
            <a:avLst/>
          </a:prstGeom>
          <a:solidFill>
            <a:srgbClr val="FCF4FB"/>
          </a:solidFill>
          <a:ln w="12700">
            <a:solidFill>
              <a:srgbClr val="E6E0E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7200" y="2834640"/>
            <a:ext cx="73152" cy="438912"/>
          </a:xfrm>
          <a:prstGeom prst="rect">
            <a:avLst/>
          </a:prstGeom>
          <a:solidFill>
            <a:srgbClr val="EA4F6A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2880360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73A9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Lead-volume growth stalls before Series B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760720" y="2880360"/>
            <a:ext cx="5852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Concentrate on commercial motion; SEO and GEO/LLM-search optimisation; 3–5 marquee sponsor wins drive the rest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3337560"/>
            <a:ext cx="1124712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6E0E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7200" y="3337560"/>
            <a:ext cx="73152" cy="438912"/>
          </a:xfrm>
          <a:prstGeom prst="rect">
            <a:avLst/>
          </a:prstGeom>
          <a:solidFill>
            <a:srgbClr val="EA4F6A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3383280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73A9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FDA DAP enforcement remains weak under current admin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760720" y="3383280"/>
            <a:ext cx="5852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Diversity capability positioned as commercial product, not mandate-dependent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57200" y="3840480"/>
            <a:ext cx="11247120" cy="438912"/>
          </a:xfrm>
          <a:prstGeom prst="rect">
            <a:avLst/>
          </a:prstGeom>
          <a:solidFill>
            <a:srgbClr val="FCF4FB"/>
          </a:solidFill>
          <a:ln w="12700">
            <a:solidFill>
              <a:srgbClr val="E6E0EE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57200" y="3840480"/>
            <a:ext cx="73152" cy="438912"/>
          </a:xfrm>
          <a:prstGeom prst="rect">
            <a:avLst/>
          </a:prstGeom>
          <a:solidFill>
            <a:srgbClr val="EA4F6A"/>
          </a:solidFill>
          <a:ln/>
        </p:spPr>
      </p:sp>
      <p:sp>
        <p:nvSpPr>
          <p:cNvPr id="24" name="Text 22"/>
          <p:cNvSpPr/>
          <p:nvPr/>
        </p:nvSpPr>
        <p:spPr>
          <a:xfrm>
            <a:off x="640080" y="3886200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73A9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Regulatory action on AI-assisted patient content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760720" y="3886200"/>
            <a:ext cx="5852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Compliance Guardrail, human-in-the-loop, external regulatory counsel on all patient-facing AI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57200" y="4343400"/>
            <a:ext cx="1124712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6E0EE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57200" y="4343400"/>
            <a:ext cx="73152" cy="438912"/>
          </a:xfrm>
          <a:prstGeom prst="rect">
            <a:avLst/>
          </a:prstGeom>
          <a:solidFill>
            <a:srgbClr val="EA4F6A"/>
          </a:solidFill>
          <a:ln/>
        </p:spPr>
      </p:sp>
      <p:sp>
        <p:nvSpPr>
          <p:cNvPr id="28" name="Text 26"/>
          <p:cNvSpPr/>
          <p:nvPr/>
        </p:nvSpPr>
        <p:spPr>
          <a:xfrm>
            <a:off x="640080" y="4389120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73A9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Team-scale gap on US commercial / Medical Affairs / RA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760720" y="4389120"/>
            <a:ext cx="5852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Three named hires closing inside 6 months of Series A close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57200" y="4846320"/>
            <a:ext cx="11247120" cy="438912"/>
          </a:xfrm>
          <a:prstGeom prst="rect">
            <a:avLst/>
          </a:prstGeom>
          <a:solidFill>
            <a:srgbClr val="FCF4FB"/>
          </a:solidFill>
          <a:ln w="12700">
            <a:solidFill>
              <a:srgbClr val="E6E0EE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57200" y="4846320"/>
            <a:ext cx="73152" cy="438912"/>
          </a:xfrm>
          <a:prstGeom prst="rect">
            <a:avLst/>
          </a:prstGeom>
          <a:solidFill>
            <a:srgbClr val="EA4F6A"/>
          </a:solidFill>
          <a:ln/>
        </p:spPr>
      </p:sp>
      <p:sp>
        <p:nvSpPr>
          <p:cNvPr id="32" name="Text 30"/>
          <p:cNvSpPr/>
          <p:nvPr/>
        </p:nvSpPr>
        <p:spPr>
          <a:xfrm>
            <a:off x="640080" y="4892040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73A9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EU AI Act high-risk classification effective Aug 2027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760720" y="4892040"/>
            <a:ext cx="5852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Readiness programme started during Series A window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57200" y="5349240"/>
            <a:ext cx="1124712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6E0EE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57200" y="5349240"/>
            <a:ext cx="73152" cy="438912"/>
          </a:xfrm>
          <a:prstGeom prst="rect">
            <a:avLst/>
          </a:prstGeom>
          <a:solidFill>
            <a:srgbClr val="EA4F6A"/>
          </a:solidFill>
          <a:ln/>
        </p:spPr>
      </p:sp>
      <p:sp>
        <p:nvSpPr>
          <p:cNvPr id="36" name="Text 34"/>
          <p:cNvSpPr/>
          <p:nvPr/>
        </p:nvSpPr>
        <p:spPr>
          <a:xfrm>
            <a:off x="640080" y="5394960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73A9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Cross-sponsor data leakage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5760720" y="5394960"/>
            <a:ext cx="5852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Per-sponsor tenancy, external audit, red-team testing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365760" y="653796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ADB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CONFIDENTIAL  ·  TrialScreen  ·  Board Edition, April 2026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11247120" y="653796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0ADB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18 / 24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2229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6B68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CONFIDENTIAL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320040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773A9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Evidence Gap register — closed before the roadshow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457200" y="109728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6B68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a Series A lead will ask for in the first 48 hours. Named items. Owned. Dated.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7200" y="1783080"/>
            <a:ext cx="5532120" cy="384048"/>
          </a:xfrm>
          <a:prstGeom prst="rect">
            <a:avLst/>
          </a:prstGeom>
          <a:solidFill>
            <a:srgbClr val="FCF4FB"/>
          </a:solidFill>
          <a:ln w="12700">
            <a:solidFill>
              <a:srgbClr val="E6E0E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783080"/>
            <a:ext cx="73152" cy="384048"/>
          </a:xfrm>
          <a:prstGeom prst="rect">
            <a:avLst/>
          </a:prstGeom>
          <a:solidFill>
            <a:srgbClr val="E6E0EE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828800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73A9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EG #1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508760" y="1828800"/>
            <a:ext cx="2971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Traffic-source breakdown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480560" y="1828800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68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COO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486400" y="1828800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73A9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Pre-close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57200" y="2221992"/>
            <a:ext cx="553212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6E0E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2221992"/>
            <a:ext cx="73152" cy="384048"/>
          </a:xfrm>
          <a:prstGeom prst="rect">
            <a:avLst/>
          </a:prstGeom>
          <a:solidFill>
            <a:srgbClr val="E6E0EE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2267712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73A9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EG #2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508760" y="2267712"/>
            <a:ext cx="2971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Study-level conversion: paid lead → screen → randomisation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480560" y="2267712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68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CGO + Sponsor lead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486400" y="226771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73A9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Pre-close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57200" y="2660904"/>
            <a:ext cx="5532120" cy="384048"/>
          </a:xfrm>
          <a:prstGeom prst="rect">
            <a:avLst/>
          </a:prstGeom>
          <a:solidFill>
            <a:srgbClr val="FCF4FB"/>
          </a:solidFill>
          <a:ln w="12700">
            <a:solidFill>
              <a:srgbClr val="E6E0E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7200" y="2660904"/>
            <a:ext cx="73152" cy="384048"/>
          </a:xfrm>
          <a:prstGeom prst="rect">
            <a:avLst/>
          </a:prstGeom>
          <a:solidFill>
            <a:srgbClr val="E6E0EE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2706624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73A9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EG #3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508760" y="2706624"/>
            <a:ext cx="2971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Blended CAC per paid lead with source attribution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480560" y="2706624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68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COO + Finance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486400" y="2706624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73A9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End-May 2026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57200" y="3099816"/>
            <a:ext cx="553212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6E0E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57200" y="3099816"/>
            <a:ext cx="73152" cy="384048"/>
          </a:xfrm>
          <a:prstGeom prst="rect">
            <a:avLst/>
          </a:prstGeom>
          <a:solidFill>
            <a:srgbClr val="E6E0EE"/>
          </a:solidFill>
          <a:ln/>
        </p:spPr>
      </p:sp>
      <p:sp>
        <p:nvSpPr>
          <p:cNvPr id="26" name="Text 24"/>
          <p:cNvSpPr/>
          <p:nvPr/>
        </p:nvSpPr>
        <p:spPr>
          <a:xfrm>
            <a:off x="640080" y="3145536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73A9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EG #4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508760" y="3145536"/>
            <a:ext cx="2971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Cohort-level NRR on oldest partner cohort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480560" y="3145536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68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CGO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5486400" y="3145536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73A9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Mid-May 2026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57200" y="3538728"/>
            <a:ext cx="5532120" cy="384048"/>
          </a:xfrm>
          <a:prstGeom prst="rect">
            <a:avLst/>
          </a:prstGeom>
          <a:solidFill>
            <a:srgbClr val="FCF4FB"/>
          </a:solidFill>
          <a:ln w="12700">
            <a:solidFill>
              <a:srgbClr val="E6E0EE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57200" y="3538728"/>
            <a:ext cx="73152" cy="384048"/>
          </a:xfrm>
          <a:prstGeom prst="rect">
            <a:avLst/>
          </a:prstGeom>
          <a:solidFill>
            <a:srgbClr val="C22299"/>
          </a:solidFill>
          <a:ln/>
        </p:spPr>
      </p:sp>
      <p:sp>
        <p:nvSpPr>
          <p:cNvPr id="32" name="Text 30"/>
          <p:cNvSpPr/>
          <p:nvPr/>
        </p:nvSpPr>
        <p:spPr>
          <a:xfrm>
            <a:off x="640080" y="3584448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73A9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EG #5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1508760" y="3584448"/>
            <a:ext cx="2971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Scleroderma advocacy-led conversion lift vs generic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480560" y="3584448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68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Community lead + CGO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5486400" y="3584448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73A9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Q3 2026 cohort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457200" y="3977640"/>
            <a:ext cx="553212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6E0EE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57200" y="3977640"/>
            <a:ext cx="73152" cy="384048"/>
          </a:xfrm>
          <a:prstGeom prst="rect">
            <a:avLst/>
          </a:prstGeom>
          <a:solidFill>
            <a:srgbClr val="E6E0EE"/>
          </a:solidFill>
          <a:ln/>
        </p:spPr>
      </p:sp>
      <p:sp>
        <p:nvSpPr>
          <p:cNvPr id="38" name="Text 36"/>
          <p:cNvSpPr/>
          <p:nvPr/>
        </p:nvSpPr>
        <p:spPr>
          <a:xfrm>
            <a:off x="640080" y="4023360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73A9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EG #6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1508760" y="4023360"/>
            <a:ext cx="2971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Scleroderma Australia partner quote / case study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4480560" y="4023360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68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CEO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5486400" y="4023360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73A9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Pre-close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6172200" y="1783080"/>
            <a:ext cx="5532120" cy="384048"/>
          </a:xfrm>
          <a:prstGeom prst="rect">
            <a:avLst/>
          </a:prstGeom>
          <a:solidFill>
            <a:srgbClr val="FCF4FB"/>
          </a:solidFill>
          <a:ln w="12700">
            <a:solidFill>
              <a:srgbClr val="E6E0EE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6172200" y="1783080"/>
            <a:ext cx="73152" cy="384048"/>
          </a:xfrm>
          <a:prstGeom prst="rect">
            <a:avLst/>
          </a:prstGeom>
          <a:solidFill>
            <a:srgbClr val="E6E0EE"/>
          </a:solidFill>
          <a:ln/>
        </p:spPr>
      </p:sp>
      <p:sp>
        <p:nvSpPr>
          <p:cNvPr id="44" name="Text 42"/>
          <p:cNvSpPr/>
          <p:nvPr/>
        </p:nvSpPr>
        <p:spPr>
          <a:xfrm>
            <a:off x="6355080" y="1828800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73A9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EG #7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7223760" y="1828800"/>
            <a:ext cx="2971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Named partners + MoU stage for Research Friends #2, #3, #4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10195560" y="1828800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68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CEO + Community lead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11201400" y="1828800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73A9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Pre-close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6172200" y="2221992"/>
            <a:ext cx="553212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6E0EE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6172200" y="2221992"/>
            <a:ext cx="73152" cy="384048"/>
          </a:xfrm>
          <a:prstGeom prst="rect">
            <a:avLst/>
          </a:prstGeom>
          <a:solidFill>
            <a:srgbClr val="E6E0EE"/>
          </a:solidFill>
          <a:ln/>
        </p:spPr>
      </p:sp>
      <p:sp>
        <p:nvSpPr>
          <p:cNvPr id="50" name="Text 48"/>
          <p:cNvSpPr/>
          <p:nvPr/>
        </p:nvSpPr>
        <p:spPr>
          <a:xfrm>
            <a:off x="6355080" y="2267712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73A9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EG #8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7223760" y="2267712"/>
            <a:ext cx="2971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Exclusivity / preferred-access contract terms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10195560" y="2267712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68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COO + counsel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11201400" y="226771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73A9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Pre-close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6172200" y="2660904"/>
            <a:ext cx="5532120" cy="384048"/>
          </a:xfrm>
          <a:prstGeom prst="rect">
            <a:avLst/>
          </a:prstGeom>
          <a:solidFill>
            <a:srgbClr val="FCF4FB"/>
          </a:solidFill>
          <a:ln w="12700">
            <a:solidFill>
              <a:srgbClr val="E6E0EE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6172200" y="2660904"/>
            <a:ext cx="73152" cy="384048"/>
          </a:xfrm>
          <a:prstGeom prst="rect">
            <a:avLst/>
          </a:prstGeom>
          <a:solidFill>
            <a:srgbClr val="E6E0EE"/>
          </a:solidFill>
          <a:ln/>
        </p:spPr>
      </p:sp>
      <p:sp>
        <p:nvSpPr>
          <p:cNvPr id="56" name="Text 54"/>
          <p:cNvSpPr/>
          <p:nvPr/>
        </p:nvSpPr>
        <p:spPr>
          <a:xfrm>
            <a:off x="6355080" y="2706624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73A9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EG #9</a:t>
            </a:r>
            <a:endParaRPr lang="en-US" sz="1000" dirty="0"/>
          </a:p>
        </p:txBody>
      </p:sp>
      <p:sp>
        <p:nvSpPr>
          <p:cNvPr id="57" name="Text 55"/>
          <p:cNvSpPr/>
          <p:nvPr/>
        </p:nvSpPr>
        <p:spPr>
          <a:xfrm>
            <a:off x="7223760" y="2706624"/>
            <a:ext cx="2971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CAC payback period calculation (blended)</a:t>
            </a:r>
            <a:endParaRPr lang="en-US" sz="1000" dirty="0"/>
          </a:p>
        </p:txBody>
      </p:sp>
      <p:sp>
        <p:nvSpPr>
          <p:cNvPr id="58" name="Text 56"/>
          <p:cNvSpPr/>
          <p:nvPr/>
        </p:nvSpPr>
        <p:spPr>
          <a:xfrm>
            <a:off x="10195560" y="2706624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68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COO + Finance</a:t>
            </a:r>
            <a:endParaRPr lang="en-US" sz="900" dirty="0"/>
          </a:p>
        </p:txBody>
      </p:sp>
      <p:sp>
        <p:nvSpPr>
          <p:cNvPr id="59" name="Text 57"/>
          <p:cNvSpPr/>
          <p:nvPr/>
        </p:nvSpPr>
        <p:spPr>
          <a:xfrm>
            <a:off x="11201400" y="2706624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73A9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Pre-close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6172200" y="3099816"/>
            <a:ext cx="5532120" cy="384048"/>
          </a:xfrm>
          <a:prstGeom prst="rect">
            <a:avLst/>
          </a:prstGeom>
          <a:solidFill>
            <a:srgbClr val="FCF4FB"/>
          </a:solidFill>
          <a:ln w="12700">
            <a:solidFill>
              <a:srgbClr val="E6E0EE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6172200" y="3099816"/>
            <a:ext cx="73152" cy="384048"/>
          </a:xfrm>
          <a:prstGeom prst="rect">
            <a:avLst/>
          </a:prstGeom>
          <a:solidFill>
            <a:srgbClr val="C22299"/>
          </a:solidFill>
          <a:ln/>
        </p:spPr>
      </p:sp>
      <p:sp>
        <p:nvSpPr>
          <p:cNvPr id="62" name="Text 60"/>
          <p:cNvSpPr/>
          <p:nvPr/>
        </p:nvSpPr>
        <p:spPr>
          <a:xfrm>
            <a:off x="6355080" y="3145536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73A9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EG #10</a:t>
            </a:r>
            <a:endParaRPr lang="en-US" sz="1000" dirty="0"/>
          </a:p>
        </p:txBody>
      </p:sp>
      <p:sp>
        <p:nvSpPr>
          <p:cNvPr id="63" name="Text 61"/>
          <p:cNvSpPr/>
          <p:nvPr/>
        </p:nvSpPr>
        <p:spPr>
          <a:xfrm>
            <a:off x="7223760" y="3145536"/>
            <a:ext cx="2971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Named top-20 pharma LOI / pilot commitment</a:t>
            </a:r>
            <a:endParaRPr lang="en-US" sz="1000" dirty="0"/>
          </a:p>
        </p:txBody>
      </p:sp>
      <p:sp>
        <p:nvSpPr>
          <p:cNvPr id="64" name="Text 62"/>
          <p:cNvSpPr/>
          <p:nvPr/>
        </p:nvSpPr>
        <p:spPr>
          <a:xfrm>
            <a:off x="10195560" y="3145536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68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CEO + CGO</a:t>
            </a:r>
            <a:endParaRPr lang="en-US" sz="900" dirty="0"/>
          </a:p>
        </p:txBody>
      </p:sp>
      <p:sp>
        <p:nvSpPr>
          <p:cNvPr id="65" name="Text 63"/>
          <p:cNvSpPr/>
          <p:nvPr/>
        </p:nvSpPr>
        <p:spPr>
          <a:xfrm>
            <a:off x="11201400" y="3145536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73A9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Pre-close</a:t>
            </a:r>
            <a:endParaRPr lang="en-US" sz="900" dirty="0"/>
          </a:p>
        </p:txBody>
      </p:sp>
      <p:sp>
        <p:nvSpPr>
          <p:cNvPr id="66" name="Shape 64"/>
          <p:cNvSpPr/>
          <p:nvPr/>
        </p:nvSpPr>
        <p:spPr>
          <a:xfrm>
            <a:off x="6172200" y="3538728"/>
            <a:ext cx="5532120" cy="384048"/>
          </a:xfrm>
          <a:prstGeom prst="rect">
            <a:avLst/>
          </a:prstGeom>
          <a:solidFill>
            <a:srgbClr val="FCF4FB"/>
          </a:solidFill>
          <a:ln w="12700">
            <a:solidFill>
              <a:srgbClr val="E6E0EE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6172200" y="3538728"/>
            <a:ext cx="73152" cy="384048"/>
          </a:xfrm>
          <a:prstGeom prst="rect">
            <a:avLst/>
          </a:prstGeom>
          <a:solidFill>
            <a:srgbClr val="E6E0EE"/>
          </a:solidFill>
          <a:ln/>
        </p:spPr>
      </p:sp>
      <p:sp>
        <p:nvSpPr>
          <p:cNvPr id="68" name="Text 66"/>
          <p:cNvSpPr/>
          <p:nvPr/>
        </p:nvSpPr>
        <p:spPr>
          <a:xfrm>
            <a:off x="6355080" y="3584448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73A9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EG #11</a:t>
            </a:r>
            <a:endParaRPr lang="en-US" sz="1000" dirty="0"/>
          </a:p>
        </p:txBody>
      </p:sp>
      <p:sp>
        <p:nvSpPr>
          <p:cNvPr id="69" name="Text 67"/>
          <p:cNvSpPr/>
          <p:nvPr/>
        </p:nvSpPr>
        <p:spPr>
          <a:xfrm>
            <a:off x="7223760" y="3584448"/>
            <a:ext cx="2971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Downside-case financial model (60% of plan)</a:t>
            </a:r>
            <a:endParaRPr lang="en-US" sz="1000" dirty="0"/>
          </a:p>
        </p:txBody>
      </p:sp>
      <p:sp>
        <p:nvSpPr>
          <p:cNvPr id="70" name="Text 68"/>
          <p:cNvSpPr/>
          <p:nvPr/>
        </p:nvSpPr>
        <p:spPr>
          <a:xfrm>
            <a:off x="10195560" y="3584448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68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COO + Finance</a:t>
            </a:r>
            <a:endParaRPr lang="en-US" sz="900" dirty="0"/>
          </a:p>
        </p:txBody>
      </p:sp>
      <p:sp>
        <p:nvSpPr>
          <p:cNvPr id="71" name="Text 69"/>
          <p:cNvSpPr/>
          <p:nvPr/>
        </p:nvSpPr>
        <p:spPr>
          <a:xfrm>
            <a:off x="11201400" y="3584448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73A9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Pre-close</a:t>
            </a:r>
            <a:endParaRPr lang="en-US" sz="900" dirty="0"/>
          </a:p>
        </p:txBody>
      </p:sp>
      <p:sp>
        <p:nvSpPr>
          <p:cNvPr id="72" name="Shape 70"/>
          <p:cNvSpPr/>
          <p:nvPr/>
        </p:nvSpPr>
        <p:spPr>
          <a:xfrm>
            <a:off x="6172200" y="3977640"/>
            <a:ext cx="553212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6E0EE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6172200" y="3977640"/>
            <a:ext cx="73152" cy="384048"/>
          </a:xfrm>
          <a:prstGeom prst="rect">
            <a:avLst/>
          </a:prstGeom>
          <a:solidFill>
            <a:srgbClr val="E6E0EE"/>
          </a:solidFill>
          <a:ln/>
        </p:spPr>
      </p:sp>
      <p:sp>
        <p:nvSpPr>
          <p:cNvPr id="74" name="Text 72"/>
          <p:cNvSpPr/>
          <p:nvPr/>
        </p:nvSpPr>
        <p:spPr>
          <a:xfrm>
            <a:off x="6355080" y="4023360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73A9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EG #12</a:t>
            </a:r>
            <a:endParaRPr lang="en-US" sz="1000" dirty="0"/>
          </a:p>
        </p:txBody>
      </p:sp>
      <p:sp>
        <p:nvSpPr>
          <p:cNvPr id="75" name="Text 73"/>
          <p:cNvSpPr/>
          <p:nvPr/>
        </p:nvSpPr>
        <p:spPr>
          <a:xfrm>
            <a:off x="7223760" y="4023360"/>
            <a:ext cx="2971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Advisory board confirmation</a:t>
            </a:r>
            <a:endParaRPr lang="en-US" sz="1000" dirty="0"/>
          </a:p>
        </p:txBody>
      </p:sp>
      <p:sp>
        <p:nvSpPr>
          <p:cNvPr id="76" name="Text 74"/>
          <p:cNvSpPr/>
          <p:nvPr/>
        </p:nvSpPr>
        <p:spPr>
          <a:xfrm>
            <a:off x="10195560" y="4023360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68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CEO</a:t>
            </a:r>
            <a:endParaRPr lang="en-US" sz="900" dirty="0"/>
          </a:p>
        </p:txBody>
      </p:sp>
      <p:sp>
        <p:nvSpPr>
          <p:cNvPr id="77" name="Text 75"/>
          <p:cNvSpPr/>
          <p:nvPr/>
        </p:nvSpPr>
        <p:spPr>
          <a:xfrm>
            <a:off x="11201400" y="4023360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73A9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Pre-close</a:t>
            </a:r>
            <a:endParaRPr lang="en-US" sz="900" dirty="0"/>
          </a:p>
        </p:txBody>
      </p:sp>
      <p:sp>
        <p:nvSpPr>
          <p:cNvPr id="78" name="Shape 76"/>
          <p:cNvSpPr/>
          <p:nvPr/>
        </p:nvSpPr>
        <p:spPr>
          <a:xfrm>
            <a:off x="457200" y="5989320"/>
            <a:ext cx="11247120" cy="457200"/>
          </a:xfrm>
          <a:prstGeom prst="rect">
            <a:avLst/>
          </a:prstGeom>
          <a:solidFill>
            <a:srgbClr val="773A96"/>
          </a:solidFill>
          <a:ln/>
        </p:spPr>
      </p:sp>
      <p:sp>
        <p:nvSpPr>
          <p:cNvPr id="79" name="Text 77"/>
          <p:cNvSpPr/>
          <p:nvPr/>
        </p:nvSpPr>
        <p:spPr>
          <a:xfrm>
            <a:off x="640080" y="603504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9BA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HIGHEST LEVERAGE  · 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EG #5 (Scleroderma cohort lift) and EG #10 (named top-20 pharma LOI) anchor the $15M pre-money. Both achievable inside the current runway.</a:t>
            </a:r>
            <a:endParaRPr lang="en-US" sz="1000" dirty="0"/>
          </a:p>
        </p:txBody>
      </p:sp>
      <p:sp>
        <p:nvSpPr>
          <p:cNvPr id="80" name="Text 78"/>
          <p:cNvSpPr/>
          <p:nvPr/>
        </p:nvSpPr>
        <p:spPr>
          <a:xfrm>
            <a:off x="365760" y="653796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ADB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CONFIDENTIAL  ·  TrialScreen  ·  Board Edition, April 2026</a:t>
            </a:r>
            <a:endParaRPr lang="en-US" sz="900" dirty="0"/>
          </a:p>
        </p:txBody>
      </p:sp>
      <p:sp>
        <p:nvSpPr>
          <p:cNvPr id="81" name="Text 79"/>
          <p:cNvSpPr/>
          <p:nvPr/>
        </p:nvSpPr>
        <p:spPr>
          <a:xfrm>
            <a:off x="11247120" y="653796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0ADB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19 / 24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111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C2229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B0ADB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CONFIDENTIAL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22960" y="548640"/>
            <a:ext cx="9144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Series A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822960" y="146304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F9BA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Build the global recruitment infrastructure layer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822960" y="2148840"/>
            <a:ext cx="2697480" cy="1143000"/>
          </a:xfrm>
          <a:prstGeom prst="rect">
            <a:avLst/>
          </a:prstGeom>
          <a:solidFill>
            <a:srgbClr val="773A96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224028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$5M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1005840" y="288036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9BA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Series A primary raise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657600" y="2148840"/>
            <a:ext cx="2697480" cy="1143000"/>
          </a:xfrm>
          <a:prstGeom prst="rect">
            <a:avLst/>
          </a:prstGeom>
          <a:solidFill>
            <a:srgbClr val="773A96"/>
          </a:solidFill>
          <a:ln/>
        </p:spPr>
      </p:sp>
      <p:sp>
        <p:nvSpPr>
          <p:cNvPr id="10" name="Text 8"/>
          <p:cNvSpPr/>
          <p:nvPr/>
        </p:nvSpPr>
        <p:spPr>
          <a:xfrm>
            <a:off x="3840480" y="224028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$15M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3840480" y="288036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9BA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Pre-money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492240" y="2148840"/>
            <a:ext cx="2697480" cy="1143000"/>
          </a:xfrm>
          <a:prstGeom prst="rect">
            <a:avLst/>
          </a:prstGeom>
          <a:solidFill>
            <a:srgbClr val="773A96"/>
          </a:solidFill>
          <a:ln/>
        </p:spPr>
      </p:sp>
      <p:sp>
        <p:nvSpPr>
          <p:cNvPr id="13" name="Text 11"/>
          <p:cNvSpPr/>
          <p:nvPr/>
        </p:nvSpPr>
        <p:spPr>
          <a:xfrm>
            <a:off x="6675120" y="224028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$20M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6675120" y="288036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9BA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Post-money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9326880" y="2148840"/>
            <a:ext cx="2697480" cy="1143000"/>
          </a:xfrm>
          <a:prstGeom prst="rect">
            <a:avLst/>
          </a:prstGeom>
          <a:solidFill>
            <a:srgbClr val="773A96"/>
          </a:solidFill>
          <a:ln/>
        </p:spPr>
      </p:sp>
      <p:sp>
        <p:nvSpPr>
          <p:cNvPr id="16" name="Text 14"/>
          <p:cNvSpPr/>
          <p:nvPr/>
        </p:nvSpPr>
        <p:spPr>
          <a:xfrm>
            <a:off x="9509760" y="224028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30 May 2026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9509760" y="288036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9BA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Target close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22960" y="3429000"/>
            <a:ext cx="10515600" cy="502920"/>
          </a:xfrm>
          <a:prstGeom prst="rect">
            <a:avLst/>
          </a:prstGeom>
          <a:solidFill>
            <a:srgbClr val="773A96"/>
          </a:solidFill>
          <a:ln/>
        </p:spPr>
      </p:sp>
      <p:sp>
        <p:nvSpPr>
          <p:cNvPr id="19" name="Text 17"/>
          <p:cNvSpPr/>
          <p:nvPr/>
        </p:nvSpPr>
        <p:spPr>
          <a:xfrm>
            <a:off x="960120" y="3456432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Over-allotment: up to $7M at $17.5M pre if oversubscribed  ·  Convertible bridge: 20% discount, 8% interest accruing, same economics on conversion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822960" y="41148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C222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 OF PROCEEDS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22960" y="4434840"/>
            <a:ext cx="1097280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 commercial build (35–40%) — Head of Sponsor/CRO Partnerships, VP Medical Affairs, 3–4 AEs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Platform and integrations (20–25%) — API, CTMS, lead delivery, invoicing, analytics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 intelligence (15–20%) — pre-screening add-ons, Custom TrialFinders, premium modules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Community &amp; advocacy (10–12%) — Head of Community Programs; 3–4 Research Friends communities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Regulatory &amp; compliance (5–8%) — SOC 2 Type I→II, HIPAA, GDPR, EU AI Act readiness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Reserves (5–10%) — hiring contingency; opportunistic partnerships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822960" y="6172200"/>
            <a:ext cx="10515600" cy="365760"/>
          </a:xfrm>
          <a:prstGeom prst="rect">
            <a:avLst/>
          </a:prstGeom>
          <a:solidFill>
            <a:srgbClr val="C22299"/>
          </a:solidFill>
          <a:ln/>
        </p:spPr>
      </p:sp>
      <p:sp>
        <p:nvSpPr>
          <p:cNvPr id="23" name="Text 21"/>
          <p:cNvSpPr/>
          <p:nvPr/>
        </p:nvSpPr>
        <p:spPr>
          <a:xfrm>
            <a:off x="960120" y="6190488"/>
            <a:ext cx="10332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Valuation logic: 3–5× forward 2027 ARR inside Nelson Advisors 6–8× AI-healthtech band with data moat.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1247120" y="653796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0ADB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 / 24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65760" y="653796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ADB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CONFIDENTIAL  ·  TrialScreen  ·  Board Edition, April 2026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773A9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6B68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CONFIDENTIAL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320040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773A9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18-month plan — Series B readiness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457200" y="109728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6B68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Clear milestones that unlock a $15–30M Series B from a position of strength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7200" y="1783080"/>
            <a:ext cx="11247120" cy="438912"/>
          </a:xfrm>
          <a:prstGeom prst="rect">
            <a:avLst/>
          </a:prstGeom>
          <a:solidFill>
            <a:srgbClr val="FCF4FB"/>
          </a:solidFill>
          <a:ln w="12700">
            <a:solidFill>
              <a:srgbClr val="E6E0E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783080"/>
            <a:ext cx="73152" cy="438912"/>
          </a:xfrm>
          <a:prstGeom prst="rect">
            <a:avLst/>
          </a:prstGeom>
          <a:solidFill>
            <a:srgbClr val="C22299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182880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73A9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Lead volume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566160" y="1828800"/>
            <a:ext cx="8138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1,500/month → 4,500–6,000/month, with 24-hour engagement SLA maintained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2286000"/>
            <a:ext cx="1124712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6E0E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2286000"/>
            <a:ext cx="73152" cy="438912"/>
          </a:xfrm>
          <a:prstGeom prst="rect">
            <a:avLst/>
          </a:prstGeom>
          <a:solidFill>
            <a:srgbClr val="C22299"/>
          </a:solidFill>
          <a:ln/>
        </p:spPr>
      </p:sp>
      <p:sp>
        <p:nvSpPr>
          <p:cNvPr id="12" name="Text 10"/>
          <p:cNvSpPr/>
          <p:nvPr/>
        </p:nvSpPr>
        <p:spPr>
          <a:xfrm>
            <a:off x="685800" y="233172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73A9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ARR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566160" y="2331720"/>
            <a:ext cx="8138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~$1M → $4–6M, with premium product lines at ≥25% of revenue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2788920"/>
            <a:ext cx="11247120" cy="438912"/>
          </a:xfrm>
          <a:prstGeom prst="rect">
            <a:avLst/>
          </a:prstGeom>
          <a:solidFill>
            <a:srgbClr val="FCF4FB"/>
          </a:solidFill>
          <a:ln w="12700">
            <a:solidFill>
              <a:srgbClr val="E6E0E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7200" y="2788920"/>
            <a:ext cx="73152" cy="438912"/>
          </a:xfrm>
          <a:prstGeom prst="rect">
            <a:avLst/>
          </a:prstGeom>
          <a:solidFill>
            <a:srgbClr val="C22299"/>
          </a:solidFill>
          <a:ln/>
        </p:spPr>
      </p:sp>
      <p:sp>
        <p:nvSpPr>
          <p:cNvPr id="16" name="Text 14"/>
          <p:cNvSpPr/>
          <p:nvPr/>
        </p:nvSpPr>
        <p:spPr>
          <a:xfrm>
            <a:off x="685800" y="283464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73A9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Sponsor / CRO relationships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566160" y="2834640"/>
            <a:ext cx="8138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30–50 paying relationships, including 3–5 top-20 pharma accounts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3291840"/>
            <a:ext cx="1124712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6E0E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7200" y="3291840"/>
            <a:ext cx="73152" cy="438912"/>
          </a:xfrm>
          <a:prstGeom prst="rect">
            <a:avLst/>
          </a:prstGeom>
          <a:solidFill>
            <a:srgbClr val="C22299"/>
          </a:solidFill>
          <a:ln/>
        </p:spPr>
      </p:sp>
      <p:sp>
        <p:nvSpPr>
          <p:cNvPr id="20" name="Text 18"/>
          <p:cNvSpPr/>
          <p:nvPr/>
        </p:nvSpPr>
        <p:spPr>
          <a:xfrm>
            <a:off x="685800" y="333756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73A9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Research Friends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566160" y="3337560"/>
            <a:ext cx="8138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3–4 named condition-specific community programmes live, each with named advocacy partner and quantified outcomes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57200" y="3794760"/>
            <a:ext cx="11247120" cy="438912"/>
          </a:xfrm>
          <a:prstGeom prst="rect">
            <a:avLst/>
          </a:prstGeom>
          <a:solidFill>
            <a:srgbClr val="FCF4FB"/>
          </a:solidFill>
          <a:ln w="12700">
            <a:solidFill>
              <a:srgbClr val="E6E0EE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57200" y="3794760"/>
            <a:ext cx="73152" cy="438912"/>
          </a:xfrm>
          <a:prstGeom prst="rect">
            <a:avLst/>
          </a:prstGeom>
          <a:solidFill>
            <a:srgbClr val="C22299"/>
          </a:solidFill>
          <a:ln/>
        </p:spPr>
      </p:sp>
      <p:sp>
        <p:nvSpPr>
          <p:cNvPr id="24" name="Text 22"/>
          <p:cNvSpPr/>
          <p:nvPr/>
        </p:nvSpPr>
        <p:spPr>
          <a:xfrm>
            <a:off x="685800" y="384048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73A9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Compliance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566160" y="3840480"/>
            <a:ext cx="8138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SOC 2 Type I achieved, Type II in progress; HIPAA attested; GDPR ready; EU AI Act programme active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57200" y="4297680"/>
            <a:ext cx="1124712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6E0EE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57200" y="4297680"/>
            <a:ext cx="73152" cy="438912"/>
          </a:xfrm>
          <a:prstGeom prst="rect">
            <a:avLst/>
          </a:prstGeom>
          <a:solidFill>
            <a:srgbClr val="C22299"/>
          </a:solidFill>
          <a:ln/>
        </p:spPr>
      </p:sp>
      <p:sp>
        <p:nvSpPr>
          <p:cNvPr id="28" name="Text 26"/>
          <p:cNvSpPr/>
          <p:nvPr/>
        </p:nvSpPr>
        <p:spPr>
          <a:xfrm>
            <a:off x="685800" y="434340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73A9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Industry recognition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3566160" y="4343400"/>
            <a:ext cx="8138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Beyond SCOPE 2026: Gartner / Forrester / analyst category coverage; Stephenson, Cascade and Easy visible at ACRP, DPHARM, SCRS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57200" y="4800600"/>
            <a:ext cx="11247120" cy="438912"/>
          </a:xfrm>
          <a:prstGeom prst="rect">
            <a:avLst/>
          </a:prstGeom>
          <a:solidFill>
            <a:srgbClr val="FCF4FB"/>
          </a:solidFill>
          <a:ln w="12700">
            <a:solidFill>
              <a:srgbClr val="E6E0EE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57200" y="4800600"/>
            <a:ext cx="73152" cy="438912"/>
          </a:xfrm>
          <a:prstGeom prst="rect">
            <a:avLst/>
          </a:prstGeom>
          <a:solidFill>
            <a:srgbClr val="C22299"/>
          </a:solidFill>
          <a:ln/>
        </p:spPr>
      </p:sp>
      <p:sp>
        <p:nvSpPr>
          <p:cNvPr id="32" name="Text 30"/>
          <p:cNvSpPr/>
          <p:nvPr/>
        </p:nvSpPr>
        <p:spPr>
          <a:xfrm>
            <a:off x="685800" y="484632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73A9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Profitability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3566160" y="4846320"/>
            <a:ext cx="8138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Forecast reached in 2027 under plan assumptions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57200" y="5303520"/>
            <a:ext cx="1124712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6E0EE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57200" y="5303520"/>
            <a:ext cx="73152" cy="438912"/>
          </a:xfrm>
          <a:prstGeom prst="rect">
            <a:avLst/>
          </a:prstGeom>
          <a:solidFill>
            <a:srgbClr val="C22299"/>
          </a:solidFill>
          <a:ln/>
        </p:spPr>
      </p:sp>
      <p:sp>
        <p:nvSpPr>
          <p:cNvPr id="36" name="Text 34"/>
          <p:cNvSpPr/>
          <p:nvPr/>
        </p:nvSpPr>
        <p:spPr>
          <a:xfrm>
            <a:off x="685800" y="534924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73A9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Series B readiness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3566160" y="5349240"/>
            <a:ext cx="8138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NRR ≥110%, CAC payback &lt;18 months, 3 quantified sponsor case studies — ready to approach $15–30M round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365760" y="653796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ADB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CONFIDENTIAL  ·  TrialScreen  ·  Board Edition, April 2026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11247120" y="653796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0ADB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21 / 24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2229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6B68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CONFIDENTIAL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320040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773A9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Early investor access — convertible note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457200" y="109728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6B68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For investors participating ahead of the Series A close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7200" y="1828800"/>
            <a:ext cx="11247120" cy="777240"/>
          </a:xfrm>
          <a:prstGeom prst="rect">
            <a:avLst/>
          </a:prstGeom>
          <a:solidFill>
            <a:srgbClr val="FCF4FB"/>
          </a:solidFill>
          <a:ln w="12700">
            <a:solidFill>
              <a:srgbClr val="E6E0E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828800"/>
            <a:ext cx="73152" cy="777240"/>
          </a:xfrm>
          <a:prstGeom prst="rect">
            <a:avLst/>
          </a:prstGeom>
          <a:solidFill>
            <a:srgbClr val="C22299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920240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73A9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Automatic conversion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389120" y="192024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Converts into Series A preferred stock on round close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2743200"/>
            <a:ext cx="11247120" cy="777240"/>
          </a:xfrm>
          <a:prstGeom prst="rect">
            <a:avLst/>
          </a:prstGeom>
          <a:solidFill>
            <a:srgbClr val="FCF4FB"/>
          </a:solidFill>
          <a:ln w="12700">
            <a:solidFill>
              <a:srgbClr val="E6E0E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2743200"/>
            <a:ext cx="73152" cy="777240"/>
          </a:xfrm>
          <a:prstGeom prst="rect">
            <a:avLst/>
          </a:prstGeom>
          <a:solidFill>
            <a:srgbClr val="C22299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2834640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73A9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20% discount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389120" y="283464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Converts at a 20% discount to the Series A price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" y="3657600"/>
            <a:ext cx="11247120" cy="777240"/>
          </a:xfrm>
          <a:prstGeom prst="rect">
            <a:avLst/>
          </a:prstGeom>
          <a:solidFill>
            <a:srgbClr val="FCF4FB"/>
          </a:solidFill>
          <a:ln w="12700">
            <a:solidFill>
              <a:srgbClr val="E6E0E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7200" y="3657600"/>
            <a:ext cx="73152" cy="777240"/>
          </a:xfrm>
          <a:prstGeom prst="rect">
            <a:avLst/>
          </a:prstGeom>
          <a:solidFill>
            <a:srgbClr val="C22299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3749040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73A9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8% interest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389120" y="374904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Interest accrues until conversion and is added to the principal at conversion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57200" y="4572000"/>
            <a:ext cx="11247120" cy="777240"/>
          </a:xfrm>
          <a:prstGeom prst="rect">
            <a:avLst/>
          </a:prstGeom>
          <a:solidFill>
            <a:srgbClr val="FCF4FB"/>
          </a:solidFill>
          <a:ln w="12700">
            <a:solidFill>
              <a:srgbClr val="E6E0E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7200" y="4572000"/>
            <a:ext cx="73152" cy="777240"/>
          </a:xfrm>
          <a:prstGeom prst="rect">
            <a:avLst/>
          </a:prstGeom>
          <a:solidFill>
            <a:srgbClr val="C22299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4663440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73A9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Economic terms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4389120" y="466344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Same economic terms as Series A upon conversion — no two-tier structure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57200" y="5806440"/>
            <a:ext cx="11247120" cy="457200"/>
          </a:xfrm>
          <a:prstGeom prst="rect">
            <a:avLst/>
          </a:prstGeom>
          <a:solidFill>
            <a:srgbClr val="773A96"/>
          </a:solidFill>
          <a:ln/>
        </p:spPr>
      </p:sp>
      <p:sp>
        <p:nvSpPr>
          <p:cNvPr id="23" name="Text 21"/>
          <p:cNvSpPr/>
          <p:nvPr/>
        </p:nvSpPr>
        <p:spPr>
          <a:xfrm>
            <a:off x="640080" y="585216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Close target: 30 May 2026  ·  Bridge available now for committed investors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365760" y="653796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ADB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CONFIDENTIAL  ·  TrialScreen  ·  Board Edition, April 2026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247120" y="653796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0ADB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22 / 24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111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C2229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B0ADB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CONFIDENTIAL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22960" y="1645920"/>
            <a:ext cx="100584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category-defining</a:t>
            </a:r>
            <a:endParaRPr lang="en-US" sz="5400" dirty="0"/>
          </a:p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enrolment infrastructure</a:t>
            </a:r>
            <a:endParaRPr lang="en-US" sz="5400" dirty="0"/>
          </a:p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company.</a:t>
            </a:r>
            <a:endParaRPr lang="en-US" sz="5400" dirty="0"/>
          </a:p>
        </p:txBody>
      </p:sp>
      <p:sp>
        <p:nvSpPr>
          <p:cNvPr id="5" name="Shape 3"/>
          <p:cNvSpPr/>
          <p:nvPr/>
        </p:nvSpPr>
        <p:spPr>
          <a:xfrm>
            <a:off x="822960" y="5120640"/>
            <a:ext cx="10058400" cy="1188720"/>
          </a:xfrm>
          <a:prstGeom prst="rect">
            <a:avLst/>
          </a:prstGeom>
          <a:solidFill>
            <a:srgbClr val="773A96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5212080"/>
            <a:ext cx="9692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Close 30 May 2026  ·  $5M on $15M pre ($20M post)</a:t>
            </a:r>
            <a:endParaRPr lang="en-US" sz="18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Proven founders. Real traction. Industry recognition. Clear path to profitability.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1247120" y="653796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0ADB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23 / 24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65760" y="653796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ADB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CONFIDENTIAL  ·  TrialScreen  ·  Board Edition, April 2026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773A9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6B68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CONFIDENTIAL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320040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773A9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Appendix — registries, surfaces, delivery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457200" y="109728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6B68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How the infrastructure layer is assembled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7200" y="1783080"/>
            <a:ext cx="3566160" cy="4297680"/>
          </a:xfrm>
          <a:prstGeom prst="rect">
            <a:avLst/>
          </a:prstGeom>
          <a:solidFill>
            <a:srgbClr val="FCF4FB"/>
          </a:solidFill>
          <a:ln w="12700">
            <a:solidFill>
              <a:srgbClr val="E6E0E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783080"/>
            <a:ext cx="3566160" cy="365760"/>
          </a:xfrm>
          <a:prstGeom prst="rect">
            <a:avLst/>
          </a:prstGeom>
          <a:solidFill>
            <a:srgbClr val="773A96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8288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Registry ingestion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85800" y="2331720"/>
            <a:ext cx="320040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ClinicalTrials.gov (US)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European Clinical Trials Register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ISRCTN Clinical Trials Register (UK)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ANZ Clinical Trials Register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Chinese Clinical Trials Register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297680" y="1783080"/>
            <a:ext cx="3566160" cy="4297680"/>
          </a:xfrm>
          <a:prstGeom prst="rect">
            <a:avLst/>
          </a:prstGeom>
          <a:solidFill>
            <a:srgbClr val="FCF4FB"/>
          </a:solidFill>
          <a:ln w="12700">
            <a:solidFill>
              <a:srgbClr val="E6E0E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297680" y="1783080"/>
            <a:ext cx="3566160" cy="365760"/>
          </a:xfrm>
          <a:prstGeom prst="rect">
            <a:avLst/>
          </a:prstGeom>
          <a:solidFill>
            <a:srgbClr val="C22299"/>
          </a:solidFill>
          <a:ln/>
        </p:spPr>
      </p:sp>
      <p:sp>
        <p:nvSpPr>
          <p:cNvPr id="12" name="Text 10"/>
          <p:cNvSpPr/>
          <p:nvPr/>
        </p:nvSpPr>
        <p:spPr>
          <a:xfrm>
            <a:off x="4480560" y="18288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Discovery surfaces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26280" y="2331720"/>
            <a:ext cx="320040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TrialScreen.org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MedicalHeroes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Institutions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Advocacy (Research Friends)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SubGroup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138160" y="1783080"/>
            <a:ext cx="3566160" cy="4297680"/>
          </a:xfrm>
          <a:prstGeom prst="rect">
            <a:avLst/>
          </a:prstGeom>
          <a:solidFill>
            <a:srgbClr val="FCF4FB"/>
          </a:solidFill>
          <a:ln w="12700">
            <a:solidFill>
              <a:srgbClr val="E6E0E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138160" y="1783080"/>
            <a:ext cx="3566160" cy="365760"/>
          </a:xfrm>
          <a:prstGeom prst="rect">
            <a:avLst/>
          </a:prstGeom>
          <a:solidFill>
            <a:srgbClr val="48B193"/>
          </a:solidFill>
          <a:ln/>
        </p:spPr>
      </p:sp>
      <p:sp>
        <p:nvSpPr>
          <p:cNvPr id="16" name="Text 14"/>
          <p:cNvSpPr/>
          <p:nvPr/>
        </p:nvSpPr>
        <p:spPr>
          <a:xfrm>
            <a:off x="8321040" y="18288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Lead delivery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366760" y="2331720"/>
            <a:ext cx="320040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Secure Email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TS.app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CTMS integration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API (sponsor / CRO)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Automated invoicing + reporting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57200" y="62179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B68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All five discovery surfaces route through the same lead-management system, business-rules engine, and secure-delivery layer — this is the compounding infrastructure.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65760" y="653796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ADB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CONFIDENTIAL  ·  TrialScreen  ·  Board Edition, April 2026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247120" y="653796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0ADB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24 / 24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TrialScreen — Board Edition, April 2026</dc:title>
  <dc:subject>PptxGenJS Presentation</dc:subject>
  <dc:creator>TrialScreen</dc:creator>
  <cp:lastModifiedBy>TrialScreen</cp:lastModifiedBy>
  <cp:revision>1</cp:revision>
  <dcterms:created xsi:type="dcterms:W3CDTF">2026-04-23T21:08:31Z</dcterms:created>
  <dcterms:modified xsi:type="dcterms:W3CDTF">2026-04-23T21:08:31Z</dcterms:modified>
</cp:coreProperties>
</file>