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0" r:id="rId31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TrialScreen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infrastructure layer for patient recruitment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Twilio + Salesforce for clinical trials — one API layer, one compounding community asset.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Edition  ·  Series A roadshow  ·  Close 30 May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$5M on $15M pre-money ($20M post)  ·  $7M at $17.5M pre over-allotment  ·  Convertible bridge: 20% discount, 8% interest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Proven founders. Category opportunity.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team that built and sold DrugDev to IQVIA — now building the permanent infrastructure layer for patient recruitment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505200" cy="3291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828800"/>
            <a:ext cx="3505200" cy="9144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14884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Hugo Stephenson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95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MD. Former Executive Chairman, DrugDev (sold to IQVIA). Ex-Quintiles/IQVIA. 20+ years across sponsor, site and CRO sides of clinical research.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8160" y="1828800"/>
            <a:ext cx="3505200" cy="3291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28160" y="1828800"/>
            <a:ext cx="3505200" cy="9144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2480" y="214884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Elisa Cascade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02480" y="26060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CGO, Head of Americas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02480" y="3063240"/>
            <a:ext cx="295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Ex-Chief Product Officer, Advarra. Senior roles at Science 37, IQVIA/DrugDev, Clario. Past Chair of the ACRP Board of Trustees.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99120" y="1828800"/>
            <a:ext cx="3505200" cy="3291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99120" y="1828800"/>
            <a:ext cx="3505200" cy="9144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73440" y="214884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Melissa Easy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73440" y="26060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73440" y="3063240"/>
            <a:ext cx="295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leadership across platform, integrations, and scale delivery for sponsors, CROs and sites.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394960"/>
            <a:ext cx="11247120" cy="77724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4406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RECOGNITION 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Innovation Award Winner — SCOPE, Orlando, February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24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1274552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1">
                <a:solidFill>
                  <a:srgbClr val="c43c96"/>
                </a:solidFill>
                <a:latin typeface="Calibri"/>
              </a:rPr>
              <a:t>PRIOR ORGANISATIONS   </a:t>
            </a:r>
            <a:r>
              <a:rPr sz="1100">
                <a:solidFill>
                  <a:srgbClr val="6B6880"/>
                </a:solidFill>
                <a:latin typeface="Calibri"/>
              </a:rPr>
              <a:t>DrugDev  ·  IQVIA  ·  Advarra  ·  Science 37  ·  Clario  ·  Quintiles  ·  ACRP 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core bottleneck in drug development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recruitment is the #1 cause of trial delay and failure. Discovery is being disrupted. Enrolment is not.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788920" cy="21945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920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3c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&gt;80%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trials miss enrolment timelines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788920" cy="21945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11880" y="1920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3c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~30%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11880" y="2971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trial sites enrol zero patients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2788920" cy="21945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2976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3c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$600K–$8M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of enrolment delay per day (Phase III)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4069080"/>
            <a:ext cx="2788920" cy="21945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11880" y="42976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3c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~5%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611880" y="5349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eligible patients proactively search for trials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loses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10312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 — massive cost overruns and delayed approvals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 — lose revenue and credibility when trials slip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Sites — operate below capacity, margins compress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— miss out on new treatments in active research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4251960"/>
            <a:ext cx="5486400" cy="155448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92240" y="43434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other layer of pharma R&amp;D has been transformed by technology.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Recruitment has not. That is the gap.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Laaksonen 2022 (PMID 35550003); Brøgger-Mikkelsen 2020 (PMID 33146627); Smith, DiMasi &amp; Getz (Ther Innov Regul Sci 2024).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24</a:t>
            </a:r>
            <a:endParaRPr lang="en-US" sz="900" dirty="0"/>
          </a:p>
        </p:txBody>
      </p:sp>
      <p:sp>
        <p:nvSpPr>
          <p:cNvPr id="25" name="Rectangle 24"/>
          <p:cNvSpPr/>
          <p:nvPr/>
        </p:nvSpPr>
        <p:spPr>
          <a:xfrm>
            <a:off x="457200" y="1188720"/>
            <a:ext cx="1463040" cy="45720"/>
          </a:xfrm>
          <a:prstGeom prst="rect">
            <a:avLst/>
          </a:prstGeom>
          <a:solidFill>
            <a:srgbClr val="FFB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enrolment breaks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structural problems, and a leaky funnel from demand to enrolment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problems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Participation criteria are misaligned with reality — needles in haystacks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are drawn from limited, discrete pools (individual sites)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common infrastructure for recruitment beyond individual sites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5486400" cy="1645920"/>
          </a:xfrm>
          <a:prstGeom prst="rect">
            <a:avLst/>
          </a:prstGeom>
          <a:solidFill>
            <a:srgbClr val="FCF4FB"/>
          </a:solidFill>
          <a:ln w="25400">
            <a:solidFill>
              <a:srgbClr val="773A9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4160520"/>
            <a:ext cx="73152" cy="164592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3434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won’t solve enrolment by searching harder inside a few sites. You have to widen the entire catchment.”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leaky funnel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2148840"/>
            <a:ext cx="548640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73152" cy="77724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22219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AWARENESS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22219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patients and physicians never know relevant trials exist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063240"/>
            <a:ext cx="548640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09360" y="3063240"/>
            <a:ext cx="73152" cy="77724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92240" y="31363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31363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 language is complex and inaccessible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977640"/>
            <a:ext cx="548640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09360" y="3977640"/>
            <a:ext cx="73152" cy="77724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92240" y="40507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0507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motivated patients cannot reach the right site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892040"/>
            <a:ext cx="548640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309360" y="4892040"/>
            <a:ext cx="73152" cy="77724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92240" y="49651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FOLLOW-THROUGH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49651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are delayed, lost, or never contacted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Rogers JAMA Netw Open 2021; You BMJ Open 2022; Unger JNCI; Madurasinghe BMC Med 2023; Wong JCO Oncol Pract 2020.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industry's structural failure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Recruitment beyond individual sites is common, but everything is single-campaign. Nothing compounds.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00" cy="4206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STATUS QUO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trial at a time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vendor at a time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region at a time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campaign spend is ephemeral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compounds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486400" cy="420624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MISSING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permanent, common infrastructure for patient flow.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324612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registry ingestion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discovery surfaces, one lead engine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lead capture and routing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Real-time, compliant delivery to sites and sponsors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trial makes the next one easier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TrialScreen — the infrastructure layer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advertising. Not an agency. Infrastructure.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47120" cy="9144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single actively recruiting clinical trial in the world. One common layer.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67462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2834640"/>
            <a:ext cx="2674620" cy="7315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306324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 ingestion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21259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ClinicalTrials.gov, EU CTR, ISRCTN (UK), ANZ, Chinese registry — AI-processed, multilingual, multi-voice.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4700" y="2834640"/>
            <a:ext cx="267462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14700" y="2834640"/>
            <a:ext cx="2674620" cy="7315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89020" y="306324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89020" y="365760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surfaces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89020" y="4160520"/>
            <a:ext cx="21259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TrialScreen.org, MedicalHeroes, Institutions, Advocacy, SubGroup — one engine behind each.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834640"/>
            <a:ext cx="267462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172200" y="2834640"/>
            <a:ext cx="2674620" cy="7315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46520" y="306324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46520" y="365760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&amp; routing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4160520"/>
            <a:ext cx="21259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lead capture, business rules, secure real-time delivery to sites, sponsors, and CROs.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29700" y="2834640"/>
            <a:ext cx="267462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29700" y="2834640"/>
            <a:ext cx="2674620" cy="7315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304020" y="306324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304020" y="365760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&amp; invoicing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04020" y="4160520"/>
            <a:ext cx="21259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Reporting, invoicing, and upsell opportunities built into the platform.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 → surfaces → rules → routing → delivery → analytics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139696" cy="201168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3317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interest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discovery surfaces: web, advocacy, institutions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560320" y="3136392"/>
            <a:ext cx="182880" cy="128016"/>
          </a:xfrm>
          <a:prstGeom prst="rtTriangle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734056" y="2194560"/>
            <a:ext cx="2139696" cy="201168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16936" y="23317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16936" y="26974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rules &amp; routing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16936" y="3429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Sponsor, site and eligibility logic — automated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37176" y="3136392"/>
            <a:ext cx="182880" cy="128016"/>
          </a:xfrm>
          <a:prstGeom prst="rtTriangle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10912" y="2194560"/>
            <a:ext cx="2139696" cy="201168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193792" y="23317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93792" y="26974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delivery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93792" y="3429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Email · TS.app · CTMS ·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114032" y="3136392"/>
            <a:ext cx="182880" cy="128016"/>
          </a:xfrm>
          <a:prstGeom prst="rtTriangle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287768" y="2194560"/>
            <a:ext cx="2139696" cy="201168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70648" y="23317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70648" y="26974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Analytics, reports &amp; invoicing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70648" y="3429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Automated, real-time, compliant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5400000">
            <a:off x="9390888" y="3136392"/>
            <a:ext cx="182880" cy="128016"/>
          </a:xfrm>
          <a:prstGeom prst="rtTriangle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564624" y="2194560"/>
            <a:ext cx="2139696" cy="201168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747504" y="23317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47504" y="269748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Upsell opportunities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47504" y="342900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Pre-screening · demand creation · premium products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5394960" cy="13258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4572000"/>
            <a:ext cx="73152" cy="132588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1520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LAYER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892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Pre-Screening add-ons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" y="5349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 pay premium for richer screening, priority routing, custom configuration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4572000"/>
            <a:ext cx="5394960" cy="13258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309360" y="4572000"/>
            <a:ext cx="73152" cy="132588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583680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LAYER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83680" y="4892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creation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3680" y="5349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TrialFinders, Patient Community Management, targeted outreach campaigns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Real-world impact — operating today, at scale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Product-market fit established. Now scaling the layer.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47120" cy="822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691640"/>
            <a:ext cx="3200400" cy="822960"/>
          </a:xfrm>
          <a:prstGeom prst="rect">
            <a:avLst/>
          </a:prstGeom>
          <a:solidFill>
            <a:srgbClr val="954CF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80–100k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977640" y="178308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monthly searches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11247120" cy="822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587752"/>
            <a:ext cx="2971800" cy="822960"/>
          </a:xfrm>
          <a:prstGeom prst="rect">
            <a:avLst/>
          </a:prstGeom>
          <a:solidFill>
            <a:srgbClr val="954CF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67919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~20k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49040" y="26791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eligibility assessments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83864"/>
            <a:ext cx="11247120" cy="822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3483864"/>
            <a:ext cx="2743200" cy="82296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57530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&gt;1,500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20440" y="3575304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qualified leads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379976"/>
            <a:ext cx="11247120" cy="822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4379976"/>
            <a:ext cx="2514600" cy="82296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47141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~20 / day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291840" y="447141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leads delivered to sites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55321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TODAY  ·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engaged by sites within 24 hours  ·  Revenue-generating partnerships across sponsors, CROs and sites  ·  SCOPE 2026 Site Innovation Award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773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45720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Unit economics — the math behind $138 per paid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46304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900">
                <a:solidFill>
                  <a:srgbClr val="E6E0EE"/>
                </a:solidFill>
                <a:latin typeface="Calibri"/>
              </a:rPr>
              <a:t>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B6880"/>
                </a:solidFill>
                <a:latin typeface="Calibri"/>
              </a:rPr>
              <a:t>Infrastructure economics, not services economics. The numbers sponsors will underwrite.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430000" cy="731520"/>
          </a:xfrm>
          <a:prstGeom prst="rect">
            <a:avLst/>
          </a:prstGeom>
          <a:noFill/>
        </p:spPr>
        <p:txBody>
          <a:bodyPr wrap="none" lIns="182880">
            <a:spAutoFit/>
          </a:bodyPr>
          <a:lstStyle/>
          <a:p>
            <a:r>
              <a:rPr sz="1300">
                <a:solidFill>
                  <a:srgbClr val="2f3241"/>
                </a:solidFill>
                <a:latin typeface="Calibri"/>
              </a:rPr>
              <a:t>~20 paid leads/day  ×  ~30 days  =  ~600 paid leads/month  →  ~$1M ARR  /  ~$83K MRR  /  ~600 leads  =  </a:t>
            </a:r>
            <a:r>
              <a:rPr sz="1300" b="1">
                <a:solidFill>
                  <a:srgbClr val="c43c96"/>
                </a:solidFill>
                <a:latin typeface="Calibri"/>
              </a:rPr>
              <a:t>~$138 per paid lead (blended)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46888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 lIns="13716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773A96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>
                    <a:solidFill>
                      <a:srgbClr val="773A96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End-2027 target</a:t>
                      </a:r>
                    </a:p>
                  </a:txBody>
                  <a:tcPr>
                    <a:solidFill>
                      <a:srgbClr val="773A96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Series B threshold</a:t>
                      </a:r>
                    </a:p>
                  </a:txBody>
                  <a:tcPr>
                    <a:solidFill>
                      <a:srgbClr val="773A96"/>
                    </a:solidFill>
                  </a:tcPr>
                </a:tc>
              </a:tr>
              <a:tr h="457200">
                <a:tc>
                  <a:txBody>
                    <a:bodyPr lIns="137160"/>
                    <a:lstStyle/>
                    <a:p>
                      <a:r>
                        <a:rPr sz="1000" b="1">
                          <a:solidFill>
                            <a:srgbClr val="773A96"/>
                          </a:solidFill>
                          <a:latin typeface="Calibri"/>
                        </a:rPr>
                        <a:t>Paid lead volume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~600/month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2,000–2,500/month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2,400+/month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</a:tr>
              <a:tr h="457200">
                <a:tc>
                  <a:txBody>
                    <a:bodyPr lIns="137160"/>
                    <a:lstStyle/>
                    <a:p>
                      <a:r>
                        <a:rPr sz="1000" b="1">
                          <a:solidFill>
                            <a:srgbClr val="773A96"/>
                          </a:solidFill>
                          <a:latin typeface="Calibri"/>
                        </a:rPr>
                        <a:t>Blended price /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~$138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~$138 + SaaS fees on top 10 sponsors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≥$150 blended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37160"/>
                    <a:lstStyle/>
                    <a:p>
                      <a:r>
                        <a:rPr sz="1000" b="1">
                          <a:solidFill>
                            <a:srgbClr val="773A96"/>
                          </a:solidFill>
                          <a:latin typeface="Calibri"/>
                        </a:rPr>
                        <a:t>Implied gross margin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Targeting 70%+ at organic-dominant CAC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70%+ (infrastructure)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≥70%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</a:tr>
              <a:tr h="457200">
                <a:tc>
                  <a:txBody>
                    <a:bodyPr lIns="137160"/>
                    <a:lstStyle/>
                    <a:p>
                      <a:r>
                        <a:rPr sz="1000" b="1">
                          <a:solidFill>
                            <a:srgbClr val="773A96"/>
                          </a:solidFill>
                          <a:latin typeface="Calibri"/>
                        </a:rPr>
                        <a:t>CAC per paid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[to be disclosed at close]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Organic-dominant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37160"/>
                    <a:lstStyle/>
                    <a:p>
                      <a:r>
                        <a:rPr sz="1000" b="1">
                          <a:solidFill>
                            <a:srgbClr val="773A96"/>
                          </a:solidFill>
                          <a:latin typeface="Calibri"/>
                        </a:rPr>
                        <a:t>NRR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[to be measured Q2 2026]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≥110%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000">
                          <a:solidFill>
                            <a:srgbClr val="2f3241"/>
                          </a:solidFill>
                          <a:latin typeface="Calibri"/>
                        </a:rPr>
                        <a:t>≥110%</a:t>
                      </a:r>
                    </a:p>
                  </a:txBody>
                  <a:tcPr>
                    <a:solidFill>
                      <a:srgbClr val="FCF4F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773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7424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Expansion to $4M ARR at flat $138/lead = ~2,400 paid leads/month + SaaS platform fees on top 10 sponsors. </a:t>
            </a:r>
            <a:r>
              <a:rPr sz="1200" b="1">
                <a:solidFill>
                  <a:srgbClr val="F9BAE0"/>
                </a:solidFill>
                <a:latin typeface="Calibri"/>
              </a:rPr>
              <a:t>Path × 4, not × 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0ADBD"/>
                </a:solidFill>
                <a:latin typeface="Calibri"/>
              </a:rPr>
              <a:t>[SoT §2; Operator POV §3]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B0ADBD"/>
                </a:solidFill>
                <a:latin typeface="Calibri"/>
              </a:rPr>
              <a:t>CONFIDENTIAL  ·  TrialScreen  ·  Board Edition, 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0ADBD"/>
                </a:solidFill>
                <a:latin typeface="Calibri"/>
              </a:rPr>
              <a:t>Unit economics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2286000" cy="45720"/>
          </a:xfrm>
          <a:prstGeom prst="rect">
            <a:avLst/>
          </a:prstGeom>
          <a:solidFill>
            <a:srgbClr val="FFB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community moat — Research Friends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Defensibility that Tempus, TriNetX and IQVIA cannot buy overnight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PROGRAMME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Scleroderma @ Research Friends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Co-branded condition community with Scleroderma Australia. A permanent home for patients, families and researchers to connect — not a campaign.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Co-branded site and editorial programme with a named advocacy partner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virtual education sessions for patients and families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Two-way dialogue between patients and researchers — not a recruitment list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 opportunities surfaced to the community as and when they become relevant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voice validated by the advocacy partner — never synthesised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486400" cy="429768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8368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IS A MOAT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trust is years of slow work. It is the one asset the data-first consolidators cannot assemble with a cheque.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35204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platforms win on EHR scale. They do not own the patient-side trust relationship.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networks operate trials. They don’t build cross-trial communities.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Recruitment agencies run campaigns. Their communities end when the campaign ends.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 targets 3–4 named Research Friends communities by end-2027. Three is the defensible replication threshold; ten is a distraction at this round size.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not Tempus, TriNetX, or IQVIA?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00" i="1">
                <a:solidFill>
                  <a:srgbClr val="6B6880"/>
                </a:solidFill>
                <a:latin typeface="Calibri"/>
              </a:rPr>
              <a:t>They are one roadmap cycle away — here is why that still does not close the gap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596640" cy="4206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737360"/>
            <a:ext cx="3596640" cy="73152"/>
          </a:xfrm>
          <a:prstGeom prst="rect">
            <a:avLst/>
          </a:prstGeom>
          <a:solidFill>
            <a:srgbClr val="6E7B8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01168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 platforms (Tempus, TriNetX)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04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EHR-scale patient-data matching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sponsor/CRO stacks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Concentrated in oncology + common disease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run patient-facing discovery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2440" y="1737360"/>
            <a:ext cx="3596640" cy="4206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82440" y="1737360"/>
            <a:ext cx="3596640" cy="73152"/>
          </a:xfrm>
          <a:prstGeom prst="rect">
            <a:avLst/>
          </a:prstGeom>
          <a:solidFill>
            <a:srgbClr val="6E7B8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56760" y="201168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Full-service CROs (IQVIA, Parexel, Fortrea)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6760" y="3063240"/>
            <a:ext cx="304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trial operations end-to-end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Recruitment is one line item in a bigger contract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Bureaucratic; slow to innovate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Often mix sponsor-loyalty with CRO-neutrality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7680" y="1737360"/>
            <a:ext cx="3596640" cy="4206240"/>
          </a:xfrm>
          <a:prstGeom prst="rect">
            <a:avLst/>
          </a:prstGeom>
          <a:solidFill>
            <a:srgbClr val="773A96"/>
          </a:solidFill>
          <a:ln w="25400">
            <a:solidFill>
              <a:srgbClr val="773A9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07680" y="1737360"/>
            <a:ext cx="3596640" cy="7315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82000" y="201168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 — the patient-side infrastructure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3063240"/>
            <a:ext cx="304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b="1" sz="1200">
                <a:solidFill>
                  <a:srgbClr val="FFFFFF"/>
                </a:solidFill>
                <a:latin typeface="Calibri"/>
              </a:rPr>
              <a:t>1. Community distribution. </a:t>
            </a:r>
            <a:r>
              <a:rPr sz="1100">
                <a:solidFill>
                  <a:srgbClr val="FFFFFF"/>
                </a:solidFill>
                <a:latin typeface="Calibri"/>
              </a:rPr>
              <a:t>Research Friends exclusivity and advocacy trust. IQVIA has 15,000+ employees and cannot build this with a cheque.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2. Workflow ubiquity. </a:t>
            </a:r>
            <a:r>
              <a:rPr sz="1100">
                <a:solidFill>
                  <a:srgbClr val="FFFFFF"/>
                </a:solidFill>
                <a:latin typeface="Calibri"/>
              </a:rPr>
              <a:t>Vendor-agnostic integrations with every site CTMS. Incumbents bundle discovery into proprietary stacks — buyers with multi-vendor estates prefer the neutral layer.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3. Lead-quality economics. </a:t>
            </a:r>
            <a:r>
              <a:rPr sz="1100">
                <a:solidFill>
                  <a:srgbClr val="FFFFFF"/>
                </a:solidFill>
                <a:latin typeface="Calibri"/>
              </a:rPr>
              <a:t>Advocacy-led conversion lift. A bundled discovery feature inside a large platform does not carry the same unit economics.</a:t>
            </a:r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24</a:t>
            </a:r>
            <a:endParaRPr lang="en-US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c43c96"/>
                </a:solidFill>
                <a:latin typeface="Calibri"/>
              </a:rPr>
              <a:t>Honest: if none of these three conditions hold, the moat compresses to a niche feature. That is the bet this round underwrites.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model — built for scale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scales with lead volume; five layered lines; different customers pay different prices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6858000" cy="6858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737360"/>
            <a:ext cx="73152" cy="6858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7922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 per digitally pre-screened lead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revenue; CROs act as distribution agents to sponsors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6858000" cy="6858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514600"/>
            <a:ext cx="73152" cy="6858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5694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add-ons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8620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 are premium clients — richer screening, priority routing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6858000" cy="6858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3291840"/>
            <a:ext cx="73152" cy="6858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3467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TrialFinders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6393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Branded, co-designed discovery surfaces for sponsors and institutions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6858000" cy="6858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4069080"/>
            <a:ext cx="73152" cy="6858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1239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Community Management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4165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Sponsor-funded Research Friends programmes (the moat)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6858000" cy="68580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4846320"/>
            <a:ext cx="73152" cy="6858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90118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service activation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1937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SMOs as volume clients; low per-trial ops cost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89520" y="1737360"/>
            <a:ext cx="4114800" cy="38862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77240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PAYS WHAT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2331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Premium clients — buy add-ons and community programmes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0" y="29900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Distribution agents — resell lead flow into their sponsor portfolios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0" y="36484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Receive leads within 24h; drive retention and completion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0" y="43068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Volume clients — automated activation at low per-trial cost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0" y="49651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Beneficiaries — free access via the public surface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and profitability scale strongly with paid lead volume — forecast profitable in 2027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Land-and-Expand — from $50K pilot to $500K enterprise ACV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stages. Named trigger to each next step. The mechanism that gets NRR above 110%.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74620" cy="40233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783080"/>
            <a:ext cx="2674620" cy="502920"/>
          </a:xfrm>
          <a:prstGeom prst="rect">
            <a:avLst/>
          </a:prstGeom>
          <a:solidFill>
            <a:srgbClr val="6E7B8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92808"/>
            <a:ext cx="2308860" cy="274320"/>
          </a:xfrm>
          <a:prstGeom prst="rect">
            <a:avLst/>
          </a:prstGeom>
          <a:solidFill>
            <a:srgbClr val="6B6880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Rescue pilot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$25–50K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 50–60%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308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Single-trial recruitment rescue for one sponsor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5029200"/>
            <a:ext cx="2400300" cy="1828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512064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to next: </a:t>
            </a:r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TTFP beats internal benchmark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4700" y="1783080"/>
            <a:ext cx="2674620" cy="40233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14700" y="1783080"/>
            <a:ext cx="2674620" cy="502920"/>
          </a:xfrm>
          <a:prstGeom prst="rect">
            <a:avLst/>
          </a:prstGeom>
          <a:solidFill>
            <a:srgbClr val="954CF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97580" y="1892808"/>
            <a:ext cx="2308860" cy="274320"/>
          </a:xfrm>
          <a:prstGeom prst="rect">
            <a:avLst/>
          </a:prstGeom>
          <a:solidFill>
            <a:srgbClr val="773A96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97580" y="242316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portfolio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97580" y="306324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$75–200K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97580" y="356616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 60–70%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97580" y="3886200"/>
            <a:ext cx="2308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2–4 trials in one therapeutic area with the same sponsor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51860" y="5029200"/>
            <a:ext cx="2400300" cy="1828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497580" y="512064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to next: </a:t>
            </a:r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CTMS or API integration signed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783080"/>
            <a:ext cx="2674620" cy="40233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72200" y="1783080"/>
            <a:ext cx="2674620" cy="502920"/>
          </a:xfrm>
          <a:prstGeom prst="rect">
            <a:avLst/>
          </a:prstGeom>
          <a:solidFill>
            <a:srgbClr val="954CF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55080" y="1892808"/>
            <a:ext cx="2308860" cy="274320"/>
          </a:xfrm>
          <a:prstGeom prst="rect">
            <a:avLst/>
          </a:prstGeom>
          <a:solidFill>
            <a:srgbClr val="954CF6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242316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Preferred-vendor MSA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5080" y="306324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$200–400K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55080" y="356616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 70–75%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3886200"/>
            <a:ext cx="2308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MSA across multiple therapeutic areas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5029200"/>
            <a:ext cx="2400300" cy="1828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355080" y="512064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to next: </a:t>
            </a:r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Affairs sign-off + SOC 2 Type II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29700" y="1783080"/>
            <a:ext cx="2674620" cy="40233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029700" y="1783080"/>
            <a:ext cx="2674620" cy="502920"/>
          </a:xfrm>
          <a:prstGeom prst="rect">
            <a:avLst/>
          </a:prstGeom>
          <a:solidFill>
            <a:srgbClr val="F9BAE0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212580" y="1892808"/>
            <a:ext cx="2308860" cy="274320"/>
          </a:xfrm>
          <a:prstGeom prst="rect">
            <a:avLst/>
          </a:prstGeom>
          <a:solidFill>
            <a:srgbClr val="c43c96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12580" y="242316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platform licence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212580" y="306324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$400–750K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212580" y="356616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 75–80%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212580" y="3886200"/>
            <a:ext cx="23088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subscription + consumption lead fees + Research Friends community layer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166860" y="5029200"/>
            <a:ext cx="2400300" cy="1828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212580" y="5120640"/>
            <a:ext cx="2308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to next: </a:t>
            </a:r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successful trials + NRR ≥110%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revenue is Stages 1–2. Series A funds the infrastructure, integrations and compliance that gate Stage 3. Target by end-2027: 3–5 top-20 pharma accounts at Stage 3.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Financials — path to profitability in 2027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 scales with lead volume; disciplined $5M round, not a burn-capital race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56616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783080"/>
            <a:ext cx="3566160" cy="73152"/>
          </a:xfrm>
          <a:prstGeom prst="rect">
            <a:avLst/>
          </a:prstGeom>
          <a:solidFill>
            <a:srgbClr val="6B688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~$1M ARR (implied)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1,500+ leads/month · 20 paid leads/day · 24-hour engagement SLA · revenue-generating partnerships live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6616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297680" y="1783080"/>
            <a:ext cx="3566160" cy="73152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2027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$4–6M ARR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0" y="3383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4,500–6,000 leads/month · 30–50 sponsor/CRO relationships · 3–4 named Research Friends communities · forecast profitable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566160" cy="310896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38160" y="1783080"/>
            <a:ext cx="3566160" cy="7315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1248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2030 (base)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$25–45M ARR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412480" y="33832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80–150 sponsor/CRO relationships · premium product lines at ~30% of revenue · 3–5 top-20 pharma accounts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166360"/>
            <a:ext cx="11247120" cy="1143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2578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profitability in 2027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economics: EBITDA scales with paid lead volume — every incremental paid lead adds margin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Capital-efficient: $5M Series A funds the 18-month commercial and platform build; no burn-capital required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expansion from premium add-ons and custom TrialFinders over the plan horizon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this wins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sit where demand already exists — no behavioural change required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509260" cy="2011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828800"/>
            <a:ext cx="73152" cy="201168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05740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are already searching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49606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~5% of eligible patients actively search for trials online today. We capture that search where it already happens.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5060" y="1828800"/>
            <a:ext cx="5509260" cy="2011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95060" y="1828800"/>
            <a:ext cx="73152" cy="201168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69380" y="205740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Sponsors, CROs and sites already need patients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69380" y="2606040"/>
            <a:ext cx="49606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demand is pre-existing and urgent — 80% of trials miss timelines. We are not creating demand; we are routing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5509260" cy="2011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4069080"/>
            <a:ext cx="73152" cy="201168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429768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Sponsors already pay for speed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49606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costs $600K–$8M per day on Phase III. Our 24-hour site-engagement SLA is priced-in willingness-to-pay.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5060" y="4069080"/>
            <a:ext cx="5509260" cy="2011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195060" y="4069080"/>
            <a:ext cx="73152" cy="201168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69380" y="429768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compounds, campaigns do not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69380" y="4846320"/>
            <a:ext cx="49606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sponsor we onboard, every community we anchor, every registry integration makes the next trial cheaper to recruit for.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 converts existing friction into velocity and revenue.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now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powerful tailwinds are colliding — and haphazard recruitment cannot keep 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509260" cy="210312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05740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drug discovery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4960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173+ AI-originated or AI-assisted molecules in clinical trials. Insilico, Recursion, Isomorphic Labs pushing more RCTs into the pipeline. More trials = more recruitment demand, with increasingly specific cohort criteria.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5060" y="1828800"/>
            <a:ext cx="5509260" cy="210312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69380" y="205740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9380" y="246888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 pressure on fewer sites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69380" y="2971800"/>
            <a:ext cx="4960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consolidation is real. Sponsors cannot enrol inside a shrinking site count without widening catchment — exactly what the infrastructure layer does.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5509260" cy="210312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438912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Escalating cost of delay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5303520"/>
            <a:ext cx="4960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$600K–$8M/day on Phase III trials. Every month of delay destroys NPV. Sponsors are increasingly prepared to pay for velocity over volume.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5060" y="4160520"/>
            <a:ext cx="5509260" cy="210312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69380" y="438912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69380" y="4800600"/>
            <a:ext cx="4960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searching online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69380" y="5303520"/>
            <a:ext cx="4960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and carers are already searching. LLM-based discovery is accelerating this further. The infrastructure layer must be where those searches land.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Haphazard recruitment cannot keep up. The category is ready for an infrastructure layer.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opportunity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Large, growing, and structurally under-served by campaign-based recruitment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834640" cy="1005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783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$84.5B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trial services market, 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 View Research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834640" cy="1005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1783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recruitment services, 2024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514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 View Research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834640" cy="1005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8.72%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recruitment CAGR to 2033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 View Research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2880360"/>
            <a:ext cx="2834640" cy="10058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6616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$22.85B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56616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recruitment services, 2033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3657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 View Research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Adjacencies and segment signals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38912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Decentralised clinical trials: $8.6B → ~$29B at 10–14% CAGR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Orphan drug market: $217B (2025) → $687B (2035) at ~12% CAGR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Rare-disease clinical trials: $13.4B → $30B by 2033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 and gene therapy (fastest CAGR in trials)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1737360"/>
            <a:ext cx="5303520" cy="448056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8368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 SHARE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194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Addressable market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83680" y="27432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 (recruitment-related spend, global): $12–14B today → $20–26B by 2030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 (infrastructure-layer posture): $3.5–5B today → $6–9B by 2030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 base case 2030: $25–45M ARR, 80–150 sponsor/CRO accounts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 aggressive case 2030: $60–100M ARR, 150–250 accounts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 becomes the default enrolment layer globally.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Category 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strategic postures. TrialScreen is the only player built purely as the patient-side infrastructure layer.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509260" cy="210312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737360"/>
            <a:ext cx="73152" cy="2103120"/>
          </a:xfrm>
          <a:prstGeom prst="rect">
            <a:avLst/>
          </a:prstGeom>
          <a:solidFill>
            <a:srgbClr val="6B688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96596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Data-first consolidators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49606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Tempus ($8B mcap, post-Deep 6) · TriNetX / Norstella (post-Clinerion) · IQVIA · Veeva · Medidata · Advarra (Blackstone $5B)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 scale; we sit downstream of them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1737360"/>
            <a:ext cx="5509260" cy="210312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195060" y="1737360"/>
            <a:ext cx="73152" cy="2103120"/>
          </a:xfrm>
          <a:prstGeom prst="rect">
            <a:avLst/>
          </a:prstGeom>
          <a:solidFill>
            <a:srgbClr val="6B688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69380" y="196596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networks / DCT operators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69380" y="2423160"/>
            <a:ext cx="49606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Velocity (GHO) · CenExel (BayPine) · Care Access / Reify ($4.8B) · Javara (GA) · Paradigm ($281M raised)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69380" y="3429000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partners, not direct competitors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509260" cy="210312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4069080"/>
            <a:ext cx="73152" cy="2103120"/>
          </a:xfrm>
          <a:prstGeom prst="rect">
            <a:avLst/>
          </a:prstGeom>
          <a:solidFill>
            <a:srgbClr val="6B688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429768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Recruitment agencies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754880"/>
            <a:ext cx="49606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Acurian (ICON) · WCG · AutoCruitment · Trialbee (VHP Jan 2026) · CTM · Imperial CRS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760720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Campaign-based; losing share to integrated platforms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5060" y="4069080"/>
            <a:ext cx="5509260" cy="210312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195060" y="4069080"/>
            <a:ext cx="73152" cy="2103120"/>
          </a:xfrm>
          <a:prstGeom prst="rect">
            <a:avLst/>
          </a:prstGeom>
          <a:solidFill>
            <a:srgbClr val="6B688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69380" y="429768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Patient-facing matchers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69380" y="4754880"/>
            <a:ext cx="49606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Antidote · Power · Leal Health · Clara Health (acquired) · Science 37 (cautionary: $1B to $38M)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69380" y="5760720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Mostly struggling on standalone monetisation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Plausible acquirers over 3–5 years: Tempus, TriNetX, IQVIA, Paradigm, Reify, Advarra, Parexel, VHP/Trialbee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4F6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Risks and mitigations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honest board 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82880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745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Capital-adequacy: $5M is deliberately tight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8745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Convertible bridge ahead of Series A; acquirer conversations in parallel with Series B prep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33172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377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response from Tempus / TriNetX on the patient-discovery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23774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Accelerate Research Friends community moat; protect the 24-hour SLA; be ready for strategic conversations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83464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28803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Lead-volume growth stalls before Series 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88036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Concentrate on commercial motion; SEO and GEO/LLM-search optimisation; 3–5 marquee sponsor wins drive the rest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33756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FDA DAP enforcement remains weak under current admin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338328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Diversity capability positioned as commercial product, not mandate-dependent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84048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8862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action on AI-assisted patient content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388620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Guardrail, human-in-the-loop, external regulatory counsel on all patient-facing AI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57200" y="434340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" y="4389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Team-scale gap on US commercial / Medical Affairs / 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43891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named hires closing inside 6 months of Series A close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484632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0080" y="4892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AI Act high-risk classification effective Aug 2027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48920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 programme started during Series A window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34924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57200" y="5349240"/>
            <a:ext cx="73152" cy="438912"/>
          </a:xfrm>
          <a:prstGeom prst="rect">
            <a:avLst/>
          </a:prstGeom>
          <a:solidFill>
            <a:srgbClr val="EA4F6A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5394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Cross-sponsor data leakage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60720" y="539496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Per-sponsor tenancy, external audit, red-team testing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 Gap register — closed before the roadshow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Series A lead will ask for in the first 48 hours. Named items. Owned. Dated.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783080"/>
            <a:ext cx="73152" cy="38404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18288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Traffic-source breakdown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828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1828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5532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221992"/>
            <a:ext cx="73152" cy="38404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2677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Study-level conversion: paid lead → screen → randomisation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22677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CGO + Sponsor lead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22677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60904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2660904"/>
            <a:ext cx="73152" cy="38404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27066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08760" y="27066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CAC per paid lead with source attribution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27066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 + Finance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27066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End-May 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099816"/>
            <a:ext cx="5532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3099816"/>
            <a:ext cx="73152" cy="38404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31455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08760" y="314553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Cohort-level NRR on oldest partner cohort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31455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CGO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3145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Mid-May 2026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538728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3538728"/>
            <a:ext cx="73152" cy="384048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0080" y="35844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08760" y="35844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Scleroderma advocacy-led conversion lift vs generic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3584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lead + CGO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0" y="35844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2026 cohort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977640"/>
            <a:ext cx="5532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57200" y="3977640"/>
            <a:ext cx="73152" cy="38404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0080" y="4023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08760" y="40233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Scleroderma Australia partner quote / case study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80560" y="4023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0" y="40233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1783080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172200" y="1783080"/>
            <a:ext cx="73152" cy="38404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355080" y="18288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23760" y="18288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partners + MoU stage for Research Friends #2, #3, #4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195560" y="1828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+ Community lead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01400" y="1828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72200" y="2221992"/>
            <a:ext cx="5532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172200" y="2221992"/>
            <a:ext cx="73152" cy="38404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355080" y="22677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23760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Exclusivity / preferred-access contract terms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195560" y="22677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 + counsel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01400" y="22677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72200" y="2660904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6172200" y="2660904"/>
            <a:ext cx="73152" cy="38404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355080" y="27066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#9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223760" y="27066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 payback period calculation (blended)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195560" y="27066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 + Finance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201400" y="27066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172200" y="3099816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6172200" y="3099816"/>
            <a:ext cx="73152" cy="384048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355080" y="31455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#10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223760" y="314553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top-20 pharma LOI / pilot commitment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0195560" y="31455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+ CGO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201400" y="3145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72200" y="3538728"/>
            <a:ext cx="5532120" cy="384048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6172200" y="3538728"/>
            <a:ext cx="73152" cy="38404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355080" y="35844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#11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223760" y="35844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Downside-case financial model (60% of plan)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0195560" y="3584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 + Finance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201400" y="35844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172200" y="3977640"/>
            <a:ext cx="5532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6172200" y="3977640"/>
            <a:ext cx="73152" cy="384048"/>
          </a:xfrm>
          <a:prstGeom prst="rect">
            <a:avLst/>
          </a:prstGeom>
          <a:solidFill>
            <a:srgbClr val="E6E0EE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355080" y="40233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#12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223760" y="40233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Advisory board confirmation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0195560" y="4023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1201400" y="40233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Pre-close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LEVERAGE  ·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 #5 (Scleroderma cohort lift) and EG #10 (named top-20 pharma LOI) anchor the $15M pre-money. Both achievable inside the current runway.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Series 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global recruitment infrastructure layer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2697480" cy="1143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primary raise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148840"/>
            <a:ext cx="2697480" cy="1143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4048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4048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Pre-money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2697480" cy="1143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7512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7512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Post-money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26880" y="2148840"/>
            <a:ext cx="2697480" cy="1143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50976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May 2026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50976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BA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close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0120" y="34564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Over-allotment: up to $7M at $17.5M pre if oversubscribed  ·  Convertible bridge: 20% discount, 8% interest accruing, same economics on conversion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3c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OF PROCEEDS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434840"/>
            <a:ext cx="10972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 commercial build (35–40%) — Head of Sponsor/CRO Partnerships, VP Medical Affairs, 3–4 AEs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and integrations (20–25%) — API, CTMS, lead delivery, invoicing, analytics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intelligence (15–20%) — pre-screening add-ons, Custom TrialFinders, premium modules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&amp; advocacy (10–12%) — Head of Community Programs; 3–4 Research Friends communities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&amp; compliance (5–8%) — SOC 2 Type I→II, HIPAA, GDPR, EU AI Act readiness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Reserves (5–10%) — hiring contingency; opportunistic partnerships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60120" y="61904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Valuation logic: 3–5× forward 2027 ARR inside Nelson Advisors 6–8× AI-healthtech band with data moat.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18-month plan — Series B readiness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milestones that unlock a $15–30M Series B from a position of strength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783080"/>
            <a:ext cx="73152" cy="43891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volume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1,500/month → 4,500–6,000/month, with 24-hour engagement SLA maintained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286000"/>
            <a:ext cx="73152" cy="43891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2331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~$1M → $4–6M, with premium product lines at ≥25% of revenue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788920"/>
            <a:ext cx="73152" cy="43891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85800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 / CRO relationships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8346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30–50 paying relationships, including 3–5 top-20 pharma accounts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291840"/>
            <a:ext cx="73152" cy="43891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" y="3337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Friends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33375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3–4 named condition-specific community programmes live, each with named advocacy partner and quantified outcomes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794760"/>
            <a:ext cx="73152" cy="43891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5800" y="3840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38404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Type I achieved, Type II in progress; HIPAA attested; GDPR ready; EU AI Act programme active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57200" y="4297680"/>
            <a:ext cx="73152" cy="43891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5800" y="4343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recognition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43434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SCOPE 2026: Gartner / Forrester / analyst category coverage; Stephenson, Cascade and Easy visible at ACRP, DPHARM, SCRS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11247120" cy="438912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4800600"/>
            <a:ext cx="73152" cy="43891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85800" y="4846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66160" y="48463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reached in 2027 under plan assumptions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303520"/>
            <a:ext cx="11247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57200" y="5303520"/>
            <a:ext cx="73152" cy="438912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85800" y="5349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B readiness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66160" y="53492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NRR ≥110%, CAC payback &lt;18 months, 3 quantified sponsor case studies — ready to approach $15–30M round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Early investor access — convertible note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investors participating ahead of the Series A close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828800"/>
            <a:ext cx="73152" cy="77724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conversion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into Series A preferred stock on round close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124712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743200"/>
            <a:ext cx="73152" cy="77724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discount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2834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Converts at a 20% discount to the Series A price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3657600"/>
            <a:ext cx="73152" cy="77724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749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 interest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3749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 accrues until conversion and is added to the principal at conversion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1247120" cy="77724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4572000"/>
            <a:ext cx="73152" cy="77724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663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73A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 terms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89120" y="4663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economic terms as Series A upon conversion — no two-tier structure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target: 30 May 2026  ·  Bridge available now for committed investors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category-defining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enrolment infrastructure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822960" y="5120640"/>
            <a:ext cx="10058400" cy="118872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52120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30 May 2026  ·  $5M on $15M pre ($20M post)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founders. Real traction. Industry recognition. Clear path to profitability.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73A9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Appendix — registries, surfaces, delivery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infrastructure layer is assembled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566160" cy="4297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783080"/>
            <a:ext cx="3566160" cy="365760"/>
          </a:xfrm>
          <a:prstGeom prst="rect">
            <a:avLst/>
          </a:prstGeom>
          <a:solidFill>
            <a:srgbClr val="773A9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 ingestion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ClinicalTrials.gov (US)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European Clinical Trials Register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ISRCTN Clinical Trials Register (UK)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ANZ Clinical Trials Register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Chinese Clinical Trials Register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566160" cy="4297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66160" cy="365760"/>
          </a:xfrm>
          <a:prstGeom prst="rect">
            <a:avLst/>
          </a:prstGeom>
          <a:solidFill>
            <a:srgbClr val="c43c9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805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surfaces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33172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TrialScreen.org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MedicalHeroes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Advocacy (Research Friends)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SubGroup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66160" cy="4297680"/>
          </a:xfrm>
          <a:prstGeom prst="rect">
            <a:avLst/>
          </a:prstGeom>
          <a:solidFill>
            <a:srgbClr val="FCF4FB"/>
          </a:solidFill>
          <a:ln w="12700">
            <a:solidFill>
              <a:srgbClr val="E6E0E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66160" cy="365760"/>
          </a:xfrm>
          <a:prstGeom prst="rect">
            <a:avLst/>
          </a:prstGeom>
          <a:solidFill>
            <a:srgbClr val="48B193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210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delivery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2331720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Email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TS.app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CTMS integration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(sponsor / CRO)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f32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invoicing + reporting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8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five discovery surfaces route through the same lead-management system, business-rules engine, and secure-delivery layer — this is the compounding infrastructure.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 ·  TrialScreen  ·  Board Edition, April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TrialScreen — Board Edition, April 2026</dc:title>
  <dc:subject>PptxGenJS Presentation</dc:subject>
  <dc:creator>TrialScreen</dc:creator>
  <cp:lastModifiedBy>TrialScreen</cp:lastModifiedBy>
  <cp:revision>1</cp:revision>
  <dcterms:created xsi:type="dcterms:W3CDTF">2026-04-23T21:08:31Z</dcterms:created>
  <dcterms:modified xsi:type="dcterms:W3CDTF">2026-04-23T21:08:31Z</dcterms:modified>
</cp:coreProperties>
</file>