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457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Strategy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State, Competitive Landscape, and Recommended Plan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Meeting  ·  April 2026  ·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65176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competitors are doing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9125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320040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evidence tells us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73989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74904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strategic shifts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28853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2976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channels, cadence, organisation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83717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846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8463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and Year 1 targets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38581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3949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539496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decisions for the board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593445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voice is differentiated and credible.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reach is not.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1,733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followers — well below category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38218" y="4572000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338218" y="54864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on our best single post (5–10× typical)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7797" y="4572000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$6,533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127797" y="54864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cost per enrolled patient — we can move this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audit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011680"/>
            <a:ext cx="2296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627" y="2011680"/>
            <a:ext cx="2296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90886" y="2011680"/>
            <a:ext cx="18393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49644" y="2011680"/>
            <a:ext cx="3783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WORKING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2316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(company)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74627" y="242316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1,733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90886" y="2423160"/>
            <a:ext cx="18393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/ week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49644" y="2423160"/>
            <a:ext cx="3783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Direct, declarative openings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92608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(Hugo)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74627" y="292608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90886" y="2926080"/>
            <a:ext cx="18393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/ month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9644" y="2926080"/>
            <a:ext cx="3783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bylines in Applied Clinical Trials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42900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74627" y="342900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90886" y="3429000"/>
            <a:ext cx="18393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/ week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49644" y="3429000"/>
            <a:ext cx="3783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“There's a trial for that” series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393192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trialscreen.org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174627" y="393192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60K+ monthly engagements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90886" y="3931920"/>
            <a:ext cx="18393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49644" y="3931920"/>
            <a:ext cx="3783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Patient-facing credibility asset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3484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43484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Friends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74627" y="4434840"/>
            <a:ext cx="22968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24K+ members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90886" y="4434840"/>
            <a:ext cx="18393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49644" y="4434840"/>
            <a:ext cx="3783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+ diversity infrastructure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defining characteristics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Credibility-rich but quiet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3515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signals exceed reach. Strong bylines, thin distribution.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38218" y="21945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38218" y="269748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 voice, under-leveraged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38218" y="3931920"/>
            <a:ext cx="3515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opening pattern used inconsistently across posts.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7797" y="21945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27797" y="269748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infrastructure thin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27797" y="3931920"/>
            <a:ext cx="3515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named case studies. No recurring series. No flagship franchises.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competitors are doing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analysed 10 competitors.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archetypes. Common weaknesses.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archetypes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011680"/>
            <a:ext cx="19794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857261" y="2011680"/>
            <a:ext cx="26790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755802" y="2011680"/>
            <a:ext cx="24791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54444" y="2011680"/>
            <a:ext cx="30788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23160"/>
            <a:ext cx="19794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Tech Voice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57261" y="2423160"/>
            <a:ext cx="26790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Bio (44.8K LinkedIn)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55802" y="2423160"/>
            <a:ext cx="24791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investor credibility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54444" y="2423160"/>
            <a:ext cx="30788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tone, patient channels thin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926080"/>
            <a:ext cx="19794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Specialist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57261" y="2926080"/>
            <a:ext cx="26790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Antidote, SubjectWell, Clara Health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55802" y="2926080"/>
            <a:ext cx="24791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credibility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54444" y="2926080"/>
            <a:ext cx="30788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reach, anonymised case studies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429000"/>
            <a:ext cx="19794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Challenger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57261" y="3429000"/>
            <a:ext cx="26790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/ withpower.com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55802" y="3429000"/>
            <a:ext cx="24791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founder narrative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54444" y="3429000"/>
            <a:ext cx="30788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 cadence, limited series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3931920"/>
            <a:ext cx="19794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Partner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57261" y="3931920"/>
            <a:ext cx="26790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StudyKIK, AutoCruitment, Science 37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55802" y="3931920"/>
            <a:ext cx="24791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trust on operations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54444" y="3931920"/>
            <a:ext cx="30788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public comms, commoditised positioning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category falls short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21031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almost always anonymised (“Top 10 Pharma”, “a leading biotech”) — erodes buyer trust.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99923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175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0175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channels are paid-only — little organic community building.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1363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31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39319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is thin across the category — even 40K+ followers sees only dozens of reactions.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2803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846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48463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claims are common; diversity data per campaign almost never shown.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shifts, each backed by the evidence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Proof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anonymous anecdote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38218" y="24688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38218" y="292608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Series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38218" y="42976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scattered posts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7797" y="24688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27797" y="292608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Voice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27797" y="42976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company voice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Proof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named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case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852160" y="2103120"/>
            <a:ext cx="57908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consistently anonymise (Power: “Top 10 Pharma”; Antidote: “leading biotech”).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discount anonymous case studies; named sponsors with quantified outcomes are the highest-trust proof.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impact: 2–3× engagement vs anonymised; shorter sales cycles.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$60–90K for 3 cases.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mitigation: approach 6–8 sponsors expecting 3 to commit.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Series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flagship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852160" y="2103120"/>
            <a:ext cx="57908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competitor that punches above its weight has a recurring franchise.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three: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◦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Discoverability Index (quarterly, no competitor has an equivalent)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◦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[Condition] Clinical Research (quarterly per vertical, Scleroderma first)</a:t>
            </a:r>
            <a:endParaRPr lang="en-US" sz="1300" dirty="0"/>
          </a:p>
          <a:p>
            <a:pPr lvl="1" marL="685800" indent="-342900">
              <a:spcAft>
                <a:spcPts val="1000"/>
              </a:spcAft>
              <a:buSzPct val="100000"/>
              <a:buChar char="◦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Voices (monthly consented interviews)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impact: 3–5× organic reach within 9 months; SEO compound effects.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$200–300K Year 1.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Voice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for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senior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0" y="2103120"/>
            <a:ext cx="57908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best-ever post: Melissa Easy IWD feature (135 reactions — 5–10× typical).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founder/leader voices consistently outperform company pages (Brandon Li / Power; Benjamine Liu / Formation Bio; Laurent Schockmel / Antidote).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Hugo: 2 long-form pieces/month + 1 LinkedIn post/week.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Elisa: 1 long-form/quarter + 1 LinkedIn post/week + 2 webinars/year.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Melissa: 1 long-form/quarter + 1 LinkedIn post/week + 1 external speaking slot/quarter.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— primary B2B channel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011680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75534" y="2011680"/>
            <a:ext cx="25312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26216" y="2011680"/>
            <a:ext cx="61071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TARGET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423160"/>
            <a:ext cx="1797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75534" y="2423160"/>
            <a:ext cx="25312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1,733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26216" y="2423160"/>
            <a:ext cx="61071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6,000+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926080"/>
            <a:ext cx="1797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75534" y="2926080"/>
            <a:ext cx="25312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posts/week (company)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26216" y="2926080"/>
            <a:ext cx="61071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company + 3 leader = 6–7/week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429000"/>
            <a:ext cx="1797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mix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75534" y="3429000"/>
            <a:ext cx="25312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26216" y="3429000"/>
            <a:ext cx="61071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leadership / 20% case studies / 20% series / 15% events / 10% culture / 10% product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+ Consumer — primary patient channel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011680"/>
            <a:ext cx="2989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67496" y="2011680"/>
            <a:ext cx="27146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01557" y="2011680"/>
            <a:ext cx="47317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TARGET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42316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followers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67496" y="2423160"/>
            <a:ext cx="2714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01557" y="2423160"/>
            <a:ext cx="47317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92608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“There's a trial for that” series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67496" y="2926080"/>
            <a:ext cx="2714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01557" y="2926080"/>
            <a:ext cx="47317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conditions/year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42900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Rare-disease sprints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67496" y="3429000"/>
            <a:ext cx="2714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01557" y="3429000"/>
            <a:ext cx="47317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verticals, 3-week sprints each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93192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Friends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67496" y="3931920"/>
            <a:ext cx="2714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24K members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1557" y="3931920"/>
            <a:ext cx="47317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75K members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calendar — first 90 days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2103120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“Patients Are Searching” long-form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2633472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named case study in 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16382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3163824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Discoverability Index v1 published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9417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28800" y="3694176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webinar (Mastering Patient Recruitment, co-hosted with Syneos Health)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15384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2452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28800" y="4224528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Scleroderma Clinical Research v1 published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74573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754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828800" y="4754880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Patient Voices published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276088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852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5285232"/>
            <a:ext cx="9814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named case study published; KPI dashboard live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011680"/>
            <a:ext cx="2989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67496" y="2011680"/>
            <a:ext cx="88081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67769" y="2011680"/>
            <a:ext cx="6565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FUNCTION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42316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Communications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67496" y="2423160"/>
            <a:ext cx="880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67769" y="2423160"/>
            <a:ext cx="6565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accountable owner, authority, budget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92608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Content Lead / Editor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67496" y="2926080"/>
            <a:ext cx="880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67769" y="2926080"/>
            <a:ext cx="6565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series + leadership ghostwriting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42900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Manager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67496" y="3429000"/>
            <a:ext cx="880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67769" y="3429000"/>
            <a:ext cx="6565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Cadence, scheduling, community, analytics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93192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(contracted)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67496" y="3931920"/>
            <a:ext cx="880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67769" y="3931920"/>
            <a:ext cx="6565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Templated visual system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43484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producer (contracted)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67496" y="4434840"/>
            <a:ext cx="880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67769" y="4434840"/>
            <a:ext cx="6565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Voices production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investment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$840K–$1.34M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4415" cy="36576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743200"/>
            <a:ext cx="7115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93519" y="2743200"/>
            <a:ext cx="353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RANGE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11094415" cy="41148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10896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93519" y="310896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$400–600K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352044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production (3 named)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93519" y="352044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$60–90K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1094415" cy="41148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3192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series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93519" y="393192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$200–300K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34340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production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993519" y="434340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$80–150K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754880"/>
            <a:ext cx="11094415" cy="41148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475488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templating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93519" y="475488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$40–80K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516636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amplification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993519" y="516636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$40–80K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5577840"/>
            <a:ext cx="7115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publication + conference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93519" y="5577840"/>
            <a:ext cx="35398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$20–40K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success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and reputation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35152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follower growth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publication placements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subscribers / downloads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38218" y="20116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8218" y="23317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38218" y="297180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38218" y="3383280"/>
            <a:ext cx="35152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rate per content type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quality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 attendance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Time-on-page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7797" y="20116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27797" y="23317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and business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27797" y="297180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27797" y="3383280"/>
            <a:ext cx="35152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inbound from content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 / SQL attributable to content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 (content-engaged vs not)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downloads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impact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411480"/>
          </a:xfrm>
          <a:prstGeom prst="rect">
            <a:avLst/>
          </a:prstGeom>
          <a:solidFill>
            <a:srgbClr val="28251D"/>
          </a:solidFill>
          <a:ln w="12700">
            <a:solidFill>
              <a:srgbClr val="282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28800"/>
            <a:ext cx="509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76352" y="1828800"/>
            <a:ext cx="234784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43655" y="1828800"/>
            <a:ext cx="2989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TARGET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4028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followers (company + leaders aggregated)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76352" y="224028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~1,733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43655" y="224028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6,000+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74320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followers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76352" y="274320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43655" y="274320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24612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24612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bylines / year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76352" y="324612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43655" y="324612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74904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series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76352" y="374904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43655" y="374904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running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25196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case studies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76352" y="425196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43655" y="425196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published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475488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76352" y="475488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43655" y="475488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F7F6F2"/>
          </a:solidFill>
          <a:ln w="12700">
            <a:solidFill>
              <a:srgbClr val="F7F6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525780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Friends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76352" y="525780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43655" y="525780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75K+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" y="5760720"/>
            <a:ext cx="509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inbound from content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976352" y="5760720"/>
            <a:ext cx="23478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43655" y="5760720"/>
            <a:ext cx="298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 decisions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73736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Communications hire — approve?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2402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24028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budget ($840K–$1.34M) — approve?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7432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3 named sponsor case studies — approve?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23697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24612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3 flagship series in 90 days — approve?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7490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74904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voice cadence (Hugo, Elisa, Melissa) — commit?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24281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519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25196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Rare-disease prioritisation (Scleroderma first) — approve?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74573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754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475488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investment (3–5 episode Patient Voices pilot) — approve?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24865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2578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5257800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amplification approach (LinkedIn only, $3–5K/month) — approve?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5751576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plan does not 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210312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rely on paid performance marketing as primary patient channel.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04495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6324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06324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try to match the follower scale of tech-voice competitors — competes on credibility per follower.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00507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02336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402336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depend on viral content.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11094415" cy="7315"/>
          </a:xfrm>
          <a:prstGeom prst="rect">
            <a:avLst/>
          </a:prstGeom>
          <a:solidFill>
            <a:srgbClr val="E6E4DE"/>
          </a:solidFill>
          <a:ln w="12700">
            <a:solidFill>
              <a:srgbClr val="E6E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98348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498348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require patient data beyond what already flows through trialscreen.org.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Board Meeting · April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11535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457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377440"/>
            <a:ext cx="1109441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36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voice is already differentiated.</a:t>
            </a:r>
            <a:endParaRPr lang="en-US" sz="3600" dirty="0"/>
          </a:p>
          <a:p>
            <a:pPr algn="l" indent="0" marL="0">
              <a:spcAft>
                <a:spcPts val="2400"/>
              </a:spcAft>
              <a:buNone/>
            </a:pPr>
            <a:r>
              <a:rPr lang="en-US" sz="2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shifts convert that into category-defining reach.</a:t>
            </a:r>
            <a:endParaRPr lang="en-US" sz="36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decisions.  90 days.  $840K–$1.34M.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Meeting  ·  April 2026  ·  CONFIDENTIAL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2026-04-22T11:28:02Z</dcterms:created>
  <dcterms:modified xsi:type="dcterms:W3CDTF">2026-04-22T11:28:02Z</dcterms:modified>
</cp:coreProperties>
</file>